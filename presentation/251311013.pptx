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7"/>
  </p:notesMasterIdLst>
  <p:handoutMasterIdLst>
    <p:handoutMasterId r:id="rId18"/>
  </p:handoutMasterIdLst>
  <p:sldIdLst>
    <p:sldId id="320" r:id="rId5"/>
    <p:sldId id="312" r:id="rId6"/>
    <p:sldId id="304" r:id="rId7"/>
    <p:sldId id="307" r:id="rId8"/>
    <p:sldId id="281" r:id="rId9"/>
    <p:sldId id="282" r:id="rId10"/>
    <p:sldId id="314" r:id="rId11"/>
    <p:sldId id="315" r:id="rId12"/>
    <p:sldId id="317" r:id="rId13"/>
    <p:sldId id="318" r:id="rId14"/>
    <p:sldId id="319" r:id="rId15"/>
    <p:sldId id="297" r:id="rId16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BF6"/>
    <a:srgbClr val="FCFBF6"/>
    <a:srgbClr val="FFEFEF"/>
    <a:srgbClr val="202C8F"/>
    <a:srgbClr val="AAC4E9"/>
    <a:srgbClr val="F5CDCE"/>
    <a:srgbClr val="DF8C8C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1" autoAdjust="0"/>
    <p:restoredTop sz="95388" autoAdjust="0"/>
  </p:normalViewPr>
  <p:slideViewPr>
    <p:cSldViewPr snapToGrid="0" snapToObjects="1">
      <p:cViewPr varScale="1">
        <p:scale>
          <a:sx n="93" d="100"/>
          <a:sy n="93" d="100"/>
        </p:scale>
        <p:origin x="120" y="8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733650-EFEF-B03F-85F4-93E1B55E738A}"/>
              </a:ext>
            </a:extLst>
          </p:cNvPr>
          <p:cNvSpPr txBox="1"/>
          <p:nvPr/>
        </p:nvSpPr>
        <p:spPr>
          <a:xfrm>
            <a:off x="1510301" y="2414426"/>
            <a:ext cx="33288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>
                <a:solidFill>
                  <a:schemeClr val="accent5">
                    <a:lumMod val="50000"/>
                  </a:schemeClr>
                </a:solidFill>
              </a:rPr>
              <a:t>ANIK SARKAR</a:t>
            </a:r>
          </a:p>
          <a:p>
            <a:r>
              <a:rPr lang="en-GB" sz="3600" dirty="0">
                <a:solidFill>
                  <a:schemeClr val="accent2">
                    <a:lumMod val="75000"/>
                  </a:schemeClr>
                </a:solidFill>
              </a:rPr>
              <a:t>ID: 251311013</a:t>
            </a:r>
            <a:endParaRPr lang="en-BB" sz="36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773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935" y="195209"/>
            <a:ext cx="12154327" cy="1900719"/>
          </a:xfrm>
        </p:spPr>
        <p:txBody>
          <a:bodyPr anchor="ctr"/>
          <a:lstStyle/>
          <a:p>
            <a:r>
              <a:rPr lang="en-US" sz="3200" cap="none" dirty="0" err="1">
                <a:latin typeface="+mn-lt"/>
              </a:rPr>
              <a:t>Converosin</a:t>
            </a:r>
            <a:r>
              <a:rPr lang="en-US" sz="3200" cap="none" dirty="0">
                <a:latin typeface="+mn-lt"/>
              </a:rPr>
              <a:t> </a:t>
            </a:r>
            <a:r>
              <a:rPr lang="en-US" sz="3200" dirty="0">
                <a:latin typeface="+mn-lt"/>
              </a:rPr>
              <a:t>b</a:t>
            </a:r>
            <a:r>
              <a:rPr lang="en-US" sz="3200" cap="none" dirty="0">
                <a:latin typeface="+mn-lt"/>
              </a:rPr>
              <a:t>etween </a:t>
            </a:r>
            <a:r>
              <a:rPr lang="en-US" sz="3200" dirty="0">
                <a:latin typeface="+mn-lt"/>
              </a:rPr>
              <a:t>E</a:t>
            </a:r>
            <a:r>
              <a:rPr lang="en-US" sz="3200" cap="none" dirty="0">
                <a:latin typeface="+mn-lt"/>
              </a:rPr>
              <a:t>nglish</a:t>
            </a:r>
            <a:r>
              <a:rPr lang="en-US" sz="3200" dirty="0">
                <a:latin typeface="+mn-lt"/>
              </a:rPr>
              <a:t> </a:t>
            </a:r>
            <a:r>
              <a:rPr lang="en-US" sz="3200" dirty="0" err="1">
                <a:latin typeface="+mn-lt"/>
              </a:rPr>
              <a:t>S</a:t>
            </a:r>
            <a:r>
              <a:rPr lang="en-US" sz="3200" cap="none" dirty="0" err="1">
                <a:latin typeface="+mn-lt"/>
              </a:rPr>
              <a:t>entense</a:t>
            </a:r>
            <a:r>
              <a:rPr lang="en-US" sz="3200" dirty="0">
                <a:latin typeface="+mn-lt"/>
              </a:rPr>
              <a:t> </a:t>
            </a:r>
            <a:r>
              <a:rPr lang="en-US" sz="3200" cap="none" dirty="0">
                <a:latin typeface="+mn-lt"/>
              </a:rPr>
              <a:t>and</a:t>
            </a:r>
            <a:r>
              <a:rPr lang="en-US" sz="3200" dirty="0">
                <a:latin typeface="+mn-lt"/>
              </a:rPr>
              <a:t> l</a:t>
            </a:r>
            <a:r>
              <a:rPr lang="en-US" sz="3200" cap="none" dirty="0">
                <a:latin typeface="+mn-lt"/>
              </a:rPr>
              <a:t>ogical</a:t>
            </a:r>
            <a:r>
              <a:rPr lang="en-US" sz="3200" dirty="0">
                <a:latin typeface="+mn-lt"/>
              </a:rPr>
              <a:t> </a:t>
            </a:r>
            <a:r>
              <a:rPr lang="en-US" sz="3200" cap="none" dirty="0">
                <a:latin typeface="+mn-lt"/>
              </a:rPr>
              <a:t>Expressions</a:t>
            </a:r>
            <a:endParaRPr lang="en-US" sz="3200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9B790-7CEC-A2E5-AF02-F769CF92F578}"/>
              </a:ext>
            </a:extLst>
          </p:cNvPr>
          <p:cNvSpPr txBox="1"/>
          <p:nvPr/>
        </p:nvSpPr>
        <p:spPr>
          <a:xfrm>
            <a:off x="3236360" y="1469204"/>
            <a:ext cx="5630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olidFill>
                  <a:schemeClr val="accent2">
                    <a:lumMod val="75000"/>
                  </a:schemeClr>
                </a:solidFill>
              </a:rPr>
              <a:t>Understanding Propositional Logic in Daily Life</a:t>
            </a:r>
            <a:endParaRPr lang="en-BB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 descr="Symbolic Logic Overview, List &amp; Examples Video">
            <a:extLst>
              <a:ext uri="{FF2B5EF4-FFF2-40B4-BE49-F238E27FC236}">
                <a16:creationId xmlns:a16="http://schemas.microsoft.com/office/drawing/2014/main" id="{A5B195B2-3BFD-D70B-3A97-49C72C606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12" y="2168489"/>
            <a:ext cx="6810375" cy="38290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91" y="672395"/>
            <a:ext cx="3113070" cy="985862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cap="none" dirty="0">
                <a:latin typeface="+mn-lt"/>
              </a:rPr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69F584-2795-9EB9-B748-1391F4AE9882}"/>
              </a:ext>
            </a:extLst>
          </p:cNvPr>
          <p:cNvSpPr txBox="1"/>
          <p:nvPr/>
        </p:nvSpPr>
        <p:spPr>
          <a:xfrm>
            <a:off x="261991" y="2140063"/>
            <a:ext cx="3703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accent5">
                    <a:lumMod val="50000"/>
                  </a:schemeClr>
                </a:solidFill>
              </a:rPr>
              <a:t>Logic helps us represent ideas precisely.</a:t>
            </a:r>
            <a:endParaRPr lang="en-BB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1CE1F4-7E6A-8B97-30CA-1479E9CBC29A}"/>
              </a:ext>
            </a:extLst>
          </p:cNvPr>
          <p:cNvSpPr txBox="1"/>
          <p:nvPr/>
        </p:nvSpPr>
        <p:spPr>
          <a:xfrm>
            <a:off x="261991" y="3429000"/>
            <a:ext cx="34804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accent5">
                    <a:lumMod val="50000"/>
                  </a:schemeClr>
                </a:solidFill>
              </a:rPr>
              <a:t>English sentences can often be </a:t>
            </a:r>
          </a:p>
          <a:p>
            <a:r>
              <a:rPr lang="en-GB" dirty="0">
                <a:solidFill>
                  <a:schemeClr val="accent5">
                    <a:lumMod val="50000"/>
                  </a:schemeClr>
                </a:solidFill>
              </a:rPr>
              <a:t>     unclear</a:t>
            </a:r>
            <a:endParaRPr lang="en-BB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19D54E-C250-97DE-CD3E-5F87398FD9EE}"/>
              </a:ext>
            </a:extLst>
          </p:cNvPr>
          <p:cNvSpPr txBox="1"/>
          <p:nvPr/>
        </p:nvSpPr>
        <p:spPr>
          <a:xfrm>
            <a:off x="261991" y="4808306"/>
            <a:ext cx="42329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accent5">
                    <a:lumMod val="50000"/>
                  </a:schemeClr>
                </a:solidFill>
              </a:rPr>
              <a:t>Logical expressions remove unclarity and help in reasoning.</a:t>
            </a:r>
            <a:endParaRPr lang="en-BB" dirty="0">
              <a:solidFill>
                <a:schemeClr val="accent5">
                  <a:lumMod val="5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5976CFB-DC31-813A-D053-E93CBBAF1AF0}"/>
              </a:ext>
            </a:extLst>
          </p:cNvPr>
          <p:cNvCxnSpPr/>
          <p:nvPr/>
        </p:nvCxnSpPr>
        <p:spPr>
          <a:xfrm>
            <a:off x="431515" y="157194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F59BBFB-D1C3-1C05-CEFD-6F579F778AD0}"/>
              </a:ext>
            </a:extLst>
          </p:cNvPr>
          <p:cNvCxnSpPr>
            <a:cxnSpLocks/>
          </p:cNvCxnSpPr>
          <p:nvPr/>
        </p:nvCxnSpPr>
        <p:spPr>
          <a:xfrm>
            <a:off x="357027" y="1595533"/>
            <a:ext cx="2694398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414" y="359597"/>
            <a:ext cx="2853671" cy="133564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cap="none" dirty="0">
                <a:latin typeface="+mn-lt"/>
              </a:rPr>
              <a:t>Propositions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1DE532-59D1-0642-594F-F60719C619FE}"/>
              </a:ext>
            </a:extLst>
          </p:cNvPr>
          <p:cNvCxnSpPr>
            <a:cxnSpLocks/>
          </p:cNvCxnSpPr>
          <p:nvPr/>
        </p:nvCxnSpPr>
        <p:spPr>
          <a:xfrm>
            <a:off x="464245" y="1340777"/>
            <a:ext cx="257690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20AFE08-9400-6DF9-FE82-04EA06C7AD9F}"/>
              </a:ext>
            </a:extLst>
          </p:cNvPr>
          <p:cNvSpPr/>
          <p:nvPr/>
        </p:nvSpPr>
        <p:spPr>
          <a:xfrm>
            <a:off x="606175" y="2216648"/>
            <a:ext cx="4869952" cy="12123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buFont typeface="Courier New" panose="02070309020205020404" pitchFamily="49" charset="0"/>
              <a:buChar char="o"/>
            </a:pPr>
            <a:r>
              <a:rPr lang="en-GB" sz="2400" dirty="0"/>
              <a:t>A proposition is a statement that is either true or false.</a:t>
            </a:r>
            <a:endParaRPr lang="en-BB" sz="24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5082BC0-D1CF-D3B7-B1BA-A91E81291227}"/>
              </a:ext>
            </a:extLst>
          </p:cNvPr>
          <p:cNvSpPr/>
          <p:nvPr/>
        </p:nvSpPr>
        <p:spPr>
          <a:xfrm>
            <a:off x="5768226" y="2957637"/>
            <a:ext cx="5714143" cy="1212352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dirty="0"/>
              <a:t>Example: </a:t>
            </a:r>
          </a:p>
          <a:p>
            <a:r>
              <a:rPr lang="en-GB" sz="2400" dirty="0"/>
              <a:t>                </a:t>
            </a:r>
            <a:r>
              <a:rPr lang="en-GB" sz="2000" dirty="0"/>
              <a:t>English : “It’s raining”      Logic: p</a:t>
            </a:r>
            <a:endParaRPr lang="en-BB" sz="20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63BA444-4E40-752D-6F82-27784892FCCF}"/>
              </a:ext>
            </a:extLst>
          </p:cNvPr>
          <p:cNvCxnSpPr>
            <a:cxnSpLocks/>
          </p:cNvCxnSpPr>
          <p:nvPr/>
        </p:nvCxnSpPr>
        <p:spPr>
          <a:xfrm>
            <a:off x="9475056" y="3792413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4BB676B-65D0-7BF0-7E54-BA14C630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191" y="716570"/>
            <a:ext cx="3113070" cy="106143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cap="none" dirty="0">
                <a:latin typeface="+mn-lt"/>
              </a:rPr>
              <a:t>Negation ( )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FEEB4B25-16D9-FE34-8814-3433536190D9}"/>
              </a:ext>
            </a:extLst>
          </p:cNvPr>
          <p:cNvCxnSpPr>
            <a:cxnSpLocks/>
          </p:cNvCxnSpPr>
          <p:nvPr/>
        </p:nvCxnSpPr>
        <p:spPr>
          <a:xfrm>
            <a:off x="2909891" y="1443516"/>
            <a:ext cx="187127" cy="133351"/>
          </a:xfrm>
          <a:prstGeom prst="bentConnector3">
            <a:avLst>
              <a:gd name="adj1" fmla="val 95812"/>
            </a:avLst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BF52AB5-4C4A-A7B8-D771-17A868D07AD1}"/>
              </a:ext>
            </a:extLst>
          </p:cNvPr>
          <p:cNvSpPr/>
          <p:nvPr/>
        </p:nvSpPr>
        <p:spPr>
          <a:xfrm>
            <a:off x="719191" y="2026148"/>
            <a:ext cx="5812624" cy="121235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/>
              <a:t>Negation expresses the opposite meaning.</a:t>
            </a:r>
            <a:endParaRPr lang="en-BB" sz="2400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119C670-AABA-CB1B-D6F8-3D6D87E805BB}"/>
              </a:ext>
            </a:extLst>
          </p:cNvPr>
          <p:cNvSpPr/>
          <p:nvPr/>
        </p:nvSpPr>
        <p:spPr>
          <a:xfrm>
            <a:off x="719189" y="3873500"/>
            <a:ext cx="7177035" cy="1212352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Example: </a:t>
            </a:r>
          </a:p>
          <a:p>
            <a:r>
              <a:rPr lang="en-GB" sz="2800" dirty="0"/>
              <a:t>                </a:t>
            </a:r>
            <a:r>
              <a:rPr lang="en-GB" sz="2400" dirty="0"/>
              <a:t>English : “It’s not raining”     Logic:   p</a:t>
            </a:r>
            <a:endParaRPr lang="en-BB" sz="2400" dirty="0"/>
          </a:p>
          <a:p>
            <a:endParaRPr lang="en-BB" sz="24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2FDB383-3497-77DC-2B73-813A17626906}"/>
              </a:ext>
            </a:extLst>
          </p:cNvPr>
          <p:cNvCxnSpPr>
            <a:cxnSpLocks/>
          </p:cNvCxnSpPr>
          <p:nvPr/>
        </p:nvCxnSpPr>
        <p:spPr>
          <a:xfrm>
            <a:off x="5576156" y="4567113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A72D30-E9CC-86AB-B1B8-663DED8C073D}"/>
              </a:ext>
            </a:extLst>
          </p:cNvPr>
          <p:cNvCxnSpPr>
            <a:cxnSpLocks/>
          </p:cNvCxnSpPr>
          <p:nvPr/>
        </p:nvCxnSpPr>
        <p:spPr>
          <a:xfrm>
            <a:off x="812800" y="1778000"/>
            <a:ext cx="228421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SALT 33">
            <a:extLst>
              <a:ext uri="{FF2B5EF4-FFF2-40B4-BE49-F238E27FC236}">
                <a16:creationId xmlns:a16="http://schemas.microsoft.com/office/drawing/2014/main" id="{BD09163A-1A01-A84D-9CB6-C3C54AAFFC6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99300" y="1285235"/>
            <a:ext cx="4962154" cy="227076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B8ADE86D-BA6A-39D4-C5E8-0720F1A04EF7}"/>
              </a:ext>
            </a:extLst>
          </p:cNvPr>
          <p:cNvCxnSpPr>
            <a:cxnSpLocks/>
          </p:cNvCxnSpPr>
          <p:nvPr/>
        </p:nvCxnSpPr>
        <p:spPr>
          <a:xfrm>
            <a:off x="6819570" y="4553304"/>
            <a:ext cx="187127" cy="133351"/>
          </a:xfrm>
          <a:prstGeom prst="bentConnector3">
            <a:avLst>
              <a:gd name="adj1" fmla="val 95812"/>
            </a:avLst>
          </a:prstGeom>
          <a:ln>
            <a:solidFill>
              <a:srgbClr val="FCFBF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383E801-F20A-3033-B5D5-88B60BD77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5790" y="824795"/>
            <a:ext cx="4132210" cy="969987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cap="none" dirty="0">
                <a:latin typeface="+mn-lt"/>
              </a:rPr>
              <a:t>Conjunction(  )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97342D-234E-A1C0-89CB-4E31C021ED20}"/>
              </a:ext>
            </a:extLst>
          </p:cNvPr>
          <p:cNvCxnSpPr>
            <a:cxnSpLocks/>
          </p:cNvCxnSpPr>
          <p:nvPr/>
        </p:nvCxnSpPr>
        <p:spPr>
          <a:xfrm flipV="1">
            <a:off x="5580856" y="1371599"/>
            <a:ext cx="127000" cy="28575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972D3C-215F-B294-E015-A2A7B2E79211}"/>
              </a:ext>
            </a:extLst>
          </p:cNvPr>
          <p:cNvCxnSpPr>
            <a:cxnSpLocks/>
          </p:cNvCxnSpPr>
          <p:nvPr/>
        </p:nvCxnSpPr>
        <p:spPr>
          <a:xfrm flipH="1" flipV="1">
            <a:off x="5700712" y="1371599"/>
            <a:ext cx="114300" cy="28575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C76BF34-C3CA-9EB6-6DA3-F730FC609610}"/>
              </a:ext>
            </a:extLst>
          </p:cNvPr>
          <p:cNvSpPr/>
          <p:nvPr/>
        </p:nvSpPr>
        <p:spPr>
          <a:xfrm>
            <a:off x="2908700" y="2163377"/>
            <a:ext cx="3882625" cy="83699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/>
              <a:t>Conjunction means AND.</a:t>
            </a:r>
            <a:endParaRPr lang="en-B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FF1022F-9498-7DD1-486B-2CCEAB69B9B9}"/>
              </a:ext>
            </a:extLst>
          </p:cNvPr>
          <p:cNvSpPr/>
          <p:nvPr/>
        </p:nvSpPr>
        <p:spPr>
          <a:xfrm>
            <a:off x="4386315" y="3387817"/>
            <a:ext cx="7434210" cy="1212352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Example: </a:t>
            </a:r>
          </a:p>
          <a:p>
            <a:r>
              <a:rPr lang="en-GB" sz="2800" dirty="0"/>
              <a:t>     </a:t>
            </a:r>
            <a:r>
              <a:rPr lang="en-GB" sz="2400" dirty="0"/>
              <a:t>English : “It’s raining and it’s cold”     Logic: p   q</a:t>
            </a:r>
            <a:endParaRPr lang="en-BB" sz="2400" dirty="0"/>
          </a:p>
          <a:p>
            <a:endParaRPr lang="en-BB" sz="2400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13D5DEA-7699-7F5B-4813-DD7869FE6666}"/>
              </a:ext>
            </a:extLst>
          </p:cNvPr>
          <p:cNvCxnSpPr>
            <a:cxnSpLocks/>
          </p:cNvCxnSpPr>
          <p:nvPr/>
        </p:nvCxnSpPr>
        <p:spPr>
          <a:xfrm flipH="1" flipV="1">
            <a:off x="10960100" y="4016375"/>
            <a:ext cx="57150" cy="206375"/>
          </a:xfrm>
          <a:prstGeom prst="line">
            <a:avLst/>
          </a:prstGeom>
          <a:ln>
            <a:solidFill>
              <a:srgbClr val="FDFBF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1AFE38-8FF3-B7A6-47F2-804C858AE733}"/>
              </a:ext>
            </a:extLst>
          </p:cNvPr>
          <p:cNvCxnSpPr>
            <a:cxnSpLocks/>
          </p:cNvCxnSpPr>
          <p:nvPr/>
        </p:nvCxnSpPr>
        <p:spPr>
          <a:xfrm flipV="1">
            <a:off x="10892231" y="4016375"/>
            <a:ext cx="67869" cy="206375"/>
          </a:xfrm>
          <a:prstGeom prst="line">
            <a:avLst/>
          </a:prstGeom>
          <a:ln>
            <a:solidFill>
              <a:srgbClr val="FFEFEF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AD2ED1C-886F-E122-6945-82A2F824FD04}"/>
              </a:ext>
            </a:extLst>
          </p:cNvPr>
          <p:cNvCxnSpPr>
            <a:cxnSpLocks/>
          </p:cNvCxnSpPr>
          <p:nvPr/>
        </p:nvCxnSpPr>
        <p:spPr>
          <a:xfrm>
            <a:off x="9378899" y="4040517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2C2D5C1-D1B3-D9AD-A4CB-3085FA8EB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1329" y="365259"/>
            <a:ext cx="3531928" cy="133564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cap="none" dirty="0">
                <a:latin typeface="+mn-lt"/>
              </a:rPr>
              <a:t>Disjunction( </a:t>
            </a:r>
            <a:r>
              <a:rPr lang="en-US" cap="none" dirty="0">
                <a:latin typeface="Bahnschrift Light" panose="020B0502040204020203" pitchFamily="34" charset="0"/>
              </a:rPr>
              <a:t>V</a:t>
            </a:r>
            <a:r>
              <a:rPr lang="en-US" cap="none" dirty="0">
                <a:latin typeface="+mn-lt"/>
              </a:rPr>
              <a:t> 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6158408-27F6-9EC3-2AF9-8AF8611D5CEE}"/>
              </a:ext>
            </a:extLst>
          </p:cNvPr>
          <p:cNvSpPr/>
          <p:nvPr/>
        </p:nvSpPr>
        <p:spPr>
          <a:xfrm>
            <a:off x="3933814" y="2464582"/>
            <a:ext cx="3346957" cy="83699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GB" sz="2400" dirty="0"/>
              <a:t>Disjunction means OR.</a:t>
            </a:r>
            <a:endParaRPr lang="en-BB" sz="24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24AF961-3A6D-1EB8-074E-608CB8B6A289}"/>
              </a:ext>
            </a:extLst>
          </p:cNvPr>
          <p:cNvSpPr/>
          <p:nvPr/>
        </p:nvSpPr>
        <p:spPr>
          <a:xfrm>
            <a:off x="4757790" y="3727534"/>
            <a:ext cx="7434210" cy="1212352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Example: </a:t>
            </a:r>
          </a:p>
          <a:p>
            <a:r>
              <a:rPr lang="en-GB" sz="2800" dirty="0"/>
              <a:t>     </a:t>
            </a:r>
            <a:r>
              <a:rPr lang="en-GB" sz="2400" dirty="0"/>
              <a:t>English : “It’s raining or it’s snowing”     Logic: p </a:t>
            </a:r>
            <a:r>
              <a:rPr lang="en-US" sz="2400" dirty="0">
                <a:latin typeface="Bahnschrift Light" panose="020B0502040204020203" pitchFamily="34" charset="0"/>
              </a:rPr>
              <a:t>V</a:t>
            </a:r>
            <a:r>
              <a:rPr lang="en-GB" sz="2400" dirty="0"/>
              <a:t> q</a:t>
            </a:r>
            <a:endParaRPr lang="en-BB" sz="2400" dirty="0"/>
          </a:p>
          <a:p>
            <a:endParaRPr lang="en-BB" sz="24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F0D6EDF-858F-1212-9194-1189C2C4F254}"/>
              </a:ext>
            </a:extLst>
          </p:cNvPr>
          <p:cNvCxnSpPr>
            <a:cxnSpLocks/>
          </p:cNvCxnSpPr>
          <p:nvPr/>
        </p:nvCxnSpPr>
        <p:spPr>
          <a:xfrm>
            <a:off x="10084587" y="4417083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C73E917-98D7-B2FA-43E7-0F9E0A26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015" y="391884"/>
            <a:ext cx="3531928" cy="1335640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cap="none" dirty="0">
                <a:latin typeface="+mn-lt"/>
              </a:rPr>
              <a:t>Implication(    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A27E251-996F-7409-A1A1-B81683390D56}"/>
              </a:ext>
            </a:extLst>
          </p:cNvPr>
          <p:cNvCxnSpPr>
            <a:cxnSpLocks/>
          </p:cNvCxnSpPr>
          <p:nvPr/>
        </p:nvCxnSpPr>
        <p:spPr>
          <a:xfrm>
            <a:off x="3091542" y="1451429"/>
            <a:ext cx="566057" cy="0"/>
          </a:xfrm>
          <a:prstGeom prst="straightConnector1">
            <a:avLst/>
          </a:prstGeom>
          <a:ln>
            <a:solidFill>
              <a:srgbClr val="FCFBF6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00DE3DB-3B00-46E7-0687-537E242FA1FC}"/>
              </a:ext>
            </a:extLst>
          </p:cNvPr>
          <p:cNvSpPr/>
          <p:nvPr/>
        </p:nvSpPr>
        <p:spPr>
          <a:xfrm>
            <a:off x="566500" y="2092476"/>
            <a:ext cx="5413386" cy="83699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/>
              <a:t>Implication represent IF… THEN…</a:t>
            </a:r>
            <a:endParaRPr lang="en-BB" sz="24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A09338D-6589-3E20-9E9C-7129E693AC7B}"/>
              </a:ext>
            </a:extLst>
          </p:cNvPr>
          <p:cNvSpPr/>
          <p:nvPr/>
        </p:nvSpPr>
        <p:spPr>
          <a:xfrm>
            <a:off x="1423133" y="3911375"/>
            <a:ext cx="8203467" cy="1212352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Example: </a:t>
            </a:r>
          </a:p>
          <a:p>
            <a:r>
              <a:rPr lang="en-GB" sz="2800" dirty="0"/>
              <a:t>     </a:t>
            </a:r>
            <a:r>
              <a:rPr lang="en-GB" sz="2400" dirty="0"/>
              <a:t>English : “If it rains, then the will be wet.”      Logic: p      </a:t>
            </a:r>
            <a:r>
              <a:rPr lang="en-GB" sz="3200" dirty="0"/>
              <a:t>s</a:t>
            </a:r>
            <a:endParaRPr lang="en-BB" sz="3200" dirty="0"/>
          </a:p>
          <a:p>
            <a:endParaRPr lang="en-BB" sz="24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45FA4A3-FC56-B3CA-82E3-4EFB78D31396}"/>
              </a:ext>
            </a:extLst>
          </p:cNvPr>
          <p:cNvCxnSpPr>
            <a:cxnSpLocks/>
          </p:cNvCxnSpPr>
          <p:nvPr/>
        </p:nvCxnSpPr>
        <p:spPr>
          <a:xfrm>
            <a:off x="7332385" y="4567113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3F4048-26FE-8381-16B7-0EA4BCBBA6C8}"/>
              </a:ext>
            </a:extLst>
          </p:cNvPr>
          <p:cNvCxnSpPr>
            <a:cxnSpLocks/>
          </p:cNvCxnSpPr>
          <p:nvPr/>
        </p:nvCxnSpPr>
        <p:spPr>
          <a:xfrm>
            <a:off x="8814656" y="4613026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6EDB896-66EB-478E-4882-E98A998198E5}"/>
              </a:ext>
            </a:extLst>
          </p:cNvPr>
          <p:cNvSpPr txBox="1">
            <a:spLocks/>
          </p:cNvSpPr>
          <p:nvPr/>
        </p:nvSpPr>
        <p:spPr>
          <a:xfrm>
            <a:off x="677214" y="546424"/>
            <a:ext cx="4085285" cy="133564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 dirty="0">
                <a:solidFill>
                  <a:srgbClr val="FDFBF6"/>
                </a:solidFill>
              </a:rPr>
              <a:t>Biconditional(     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F018517-B7AC-ACAD-3DE9-1B4E2149B40E}"/>
              </a:ext>
            </a:extLst>
          </p:cNvPr>
          <p:cNvCxnSpPr>
            <a:cxnSpLocks/>
          </p:cNvCxnSpPr>
          <p:nvPr/>
        </p:nvCxnSpPr>
        <p:spPr>
          <a:xfrm>
            <a:off x="3746500" y="1651000"/>
            <a:ext cx="596900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6D3541B-D457-B9A3-EA66-8B7E8B58C3F8}"/>
              </a:ext>
            </a:extLst>
          </p:cNvPr>
          <p:cNvSpPr/>
          <p:nvPr/>
        </p:nvSpPr>
        <p:spPr>
          <a:xfrm>
            <a:off x="495854" y="2337078"/>
            <a:ext cx="5413386" cy="836998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Biconditional</a:t>
            </a:r>
            <a:r>
              <a:rPr lang="en-US" sz="2400" dirty="0"/>
              <a:t> represent IF AND ONLY IF.</a:t>
            </a:r>
            <a:endParaRPr lang="en-BB" sz="24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C195297-9E01-0E4E-8C64-49A3CCEA0887}"/>
              </a:ext>
            </a:extLst>
          </p:cNvPr>
          <p:cNvSpPr/>
          <p:nvPr/>
        </p:nvSpPr>
        <p:spPr>
          <a:xfrm>
            <a:off x="1423133" y="3629090"/>
            <a:ext cx="8203467" cy="1462485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dirty="0"/>
              <a:t>Example: </a:t>
            </a:r>
          </a:p>
          <a:p>
            <a:r>
              <a:rPr lang="en-GB" sz="2800" dirty="0"/>
              <a:t>     </a:t>
            </a:r>
            <a:r>
              <a:rPr lang="en-GB" sz="2400" dirty="0"/>
              <a:t>English : “The light is on if and only if the switch is down.”      Logic: t     u</a:t>
            </a:r>
            <a:endParaRPr lang="en-BB" sz="3200" dirty="0"/>
          </a:p>
          <a:p>
            <a:endParaRPr lang="en-BB" sz="24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3A1CB6A-03E4-4C16-45EF-EB622F8062BA}"/>
              </a:ext>
            </a:extLst>
          </p:cNvPr>
          <p:cNvCxnSpPr>
            <a:cxnSpLocks/>
          </p:cNvCxnSpPr>
          <p:nvPr/>
        </p:nvCxnSpPr>
        <p:spPr>
          <a:xfrm>
            <a:off x="2477356" y="4646432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A6354D-EB2E-FA5C-DC00-16A6F5AF9E6B}"/>
              </a:ext>
            </a:extLst>
          </p:cNvPr>
          <p:cNvCxnSpPr>
            <a:cxnSpLocks/>
          </p:cNvCxnSpPr>
          <p:nvPr/>
        </p:nvCxnSpPr>
        <p:spPr>
          <a:xfrm>
            <a:off x="3868006" y="4646432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8" name="Picture 27" descr="How Does a Light Switch Work?">
            <a:extLst>
              <a:ext uri="{FF2B5EF4-FFF2-40B4-BE49-F238E27FC236}">
                <a16:creationId xmlns:a16="http://schemas.microsoft.com/office/drawing/2014/main" id="{9579EA92-17A8-3FD3-04F6-ED0091FBC6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367" t="8190" b="11175"/>
          <a:stretch>
            <a:fillRect/>
          </a:stretch>
        </p:blipFill>
        <p:spPr>
          <a:xfrm>
            <a:off x="7924246" y="457199"/>
            <a:ext cx="3771900" cy="300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B61DD66-37DE-B63B-FE20-2C6D1CA3AAD3}"/>
              </a:ext>
            </a:extLst>
          </p:cNvPr>
          <p:cNvSpPr txBox="1">
            <a:spLocks/>
          </p:cNvSpPr>
          <p:nvPr/>
        </p:nvSpPr>
        <p:spPr>
          <a:xfrm>
            <a:off x="334314" y="452000"/>
            <a:ext cx="4377386" cy="95337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 dirty="0">
                <a:solidFill>
                  <a:srgbClr val="FDFBF6"/>
                </a:solidFill>
              </a:rPr>
              <a:t>Conversion practice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D49211-3FFB-B78C-42C7-695AFEBE923F}"/>
              </a:ext>
            </a:extLst>
          </p:cNvPr>
          <p:cNvSpPr txBox="1"/>
          <p:nvPr/>
        </p:nvSpPr>
        <p:spPr>
          <a:xfrm>
            <a:off x="584200" y="1962090"/>
            <a:ext cx="3365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accent5">
                    <a:lumMod val="50000"/>
                  </a:schemeClr>
                </a:solidFill>
              </a:rPr>
              <a:t>Convert to Logic:</a:t>
            </a:r>
            <a:endParaRPr lang="en-BB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4B0FAF-54CB-FCF7-9B80-5043EC64920F}"/>
              </a:ext>
            </a:extLst>
          </p:cNvPr>
          <p:cNvSpPr txBox="1"/>
          <p:nvPr/>
        </p:nvSpPr>
        <p:spPr>
          <a:xfrm>
            <a:off x="419100" y="2534796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English : “If you study, you will pass the exam.”         Logic: x        y</a:t>
            </a:r>
            <a:endParaRPr lang="en-B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32DDA5-BC46-663D-A0DF-DDD513E7DC97}"/>
              </a:ext>
            </a:extLst>
          </p:cNvPr>
          <p:cNvCxnSpPr>
            <a:cxnSpLocks/>
          </p:cNvCxnSpPr>
          <p:nvPr/>
        </p:nvCxnSpPr>
        <p:spPr>
          <a:xfrm>
            <a:off x="5067300" y="2730394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CD0C80-EA97-C6F6-0CA6-ACB3B5B792F8}"/>
              </a:ext>
            </a:extLst>
          </p:cNvPr>
          <p:cNvCxnSpPr>
            <a:cxnSpLocks/>
          </p:cNvCxnSpPr>
          <p:nvPr/>
        </p:nvCxnSpPr>
        <p:spPr>
          <a:xfrm>
            <a:off x="6272944" y="2754026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57F1656-64A3-7E50-A94B-1A6BB53711A9}"/>
              </a:ext>
            </a:extLst>
          </p:cNvPr>
          <p:cNvSpPr txBox="1"/>
          <p:nvPr/>
        </p:nvSpPr>
        <p:spPr>
          <a:xfrm>
            <a:off x="584200" y="3753818"/>
            <a:ext cx="3365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sz="2000" dirty="0">
                <a:solidFill>
                  <a:schemeClr val="accent5">
                    <a:lumMod val="50000"/>
                  </a:schemeClr>
                </a:solidFill>
              </a:rPr>
              <a:t>Convert to English:</a:t>
            </a:r>
            <a:endParaRPr lang="en-BB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D0725B-D792-F54B-9D0E-59B4B417ED43}"/>
              </a:ext>
            </a:extLst>
          </p:cNvPr>
          <p:cNvSpPr txBox="1"/>
          <p:nvPr/>
        </p:nvSpPr>
        <p:spPr>
          <a:xfrm>
            <a:off x="419100" y="4541396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Logic: m </a:t>
            </a:r>
            <a:r>
              <a:rPr lang="en-GB" dirty="0">
                <a:latin typeface="Aptos Narrow" panose="020B0004020202020204" pitchFamily="34" charset="0"/>
              </a:rPr>
              <a:t>V</a:t>
            </a:r>
            <a:r>
              <a:rPr lang="en-GB" dirty="0"/>
              <a:t> n       English : “If is morning or it is night.”</a:t>
            </a:r>
            <a:endParaRPr lang="en-B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BD84AB1-70B2-1509-D292-DF665246462B}"/>
              </a:ext>
            </a:extLst>
          </p:cNvPr>
          <p:cNvCxnSpPr>
            <a:cxnSpLocks/>
          </p:cNvCxnSpPr>
          <p:nvPr/>
        </p:nvCxnSpPr>
        <p:spPr>
          <a:xfrm>
            <a:off x="1737360" y="4726062"/>
            <a:ext cx="3538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8FA33950-D8AA-0E38-D51C-1CE4992CC38D}"/>
              </a:ext>
            </a:extLst>
          </p:cNvPr>
          <p:cNvSpPr txBox="1">
            <a:spLocks/>
          </p:cNvSpPr>
          <p:nvPr/>
        </p:nvSpPr>
        <p:spPr>
          <a:xfrm>
            <a:off x="1536390" y="457199"/>
            <a:ext cx="2624644" cy="95337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0" rIns="91440" bIns="0" rtlCol="0" anchor="b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600" b="1" kern="1200" cap="all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cap="none" dirty="0">
                <a:solidFill>
                  <a:srgbClr val="FDFBF6"/>
                </a:solidFill>
              </a:rPr>
              <a:t>Conclusion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F1B2D-FA29-09A5-F75D-A7F76915B749}"/>
              </a:ext>
            </a:extLst>
          </p:cNvPr>
          <p:cNvSpPr txBox="1"/>
          <p:nvPr/>
        </p:nvSpPr>
        <p:spPr>
          <a:xfrm>
            <a:off x="1299786" y="1665354"/>
            <a:ext cx="28612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01.</a:t>
            </a:r>
          </a:p>
          <a:p>
            <a:r>
              <a:rPr lang="en-GB" dirty="0"/>
              <a:t>Logical expression help us</a:t>
            </a:r>
          </a:p>
          <a:p>
            <a:r>
              <a:rPr lang="en-GB" dirty="0"/>
              <a:t>think clearly.</a:t>
            </a:r>
            <a:endParaRPr lang="en-B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D3265C-0C49-EAD6-1D63-0DBC6A18BDCC}"/>
              </a:ext>
            </a:extLst>
          </p:cNvPr>
          <p:cNvSpPr txBox="1"/>
          <p:nvPr/>
        </p:nvSpPr>
        <p:spPr>
          <a:xfrm>
            <a:off x="4665376" y="1665354"/>
            <a:ext cx="2861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02.</a:t>
            </a:r>
          </a:p>
          <a:p>
            <a:r>
              <a:rPr lang="en-GB" dirty="0"/>
              <a:t>Conversion between English and Logic makes Logic easy.</a:t>
            </a:r>
            <a:endParaRPr lang="en-B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7BE59F-6EE2-5561-E294-33B403FCDDBF}"/>
              </a:ext>
            </a:extLst>
          </p:cNvPr>
          <p:cNvSpPr txBox="1"/>
          <p:nvPr/>
        </p:nvSpPr>
        <p:spPr>
          <a:xfrm>
            <a:off x="7709148" y="1665354"/>
            <a:ext cx="2861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03.</a:t>
            </a:r>
          </a:p>
          <a:p>
            <a:r>
              <a:rPr lang="en-GB" dirty="0"/>
              <a:t>Useful in mathematics, </a:t>
            </a:r>
            <a:r>
              <a:rPr lang="en-GB" dirty="0" err="1"/>
              <a:t>computerscience</a:t>
            </a:r>
            <a:r>
              <a:rPr lang="en-GB" dirty="0"/>
              <a:t>, and philosophy.</a:t>
            </a:r>
            <a:endParaRPr lang="en-BB" dirty="0"/>
          </a:p>
        </p:txBody>
      </p:sp>
      <p:pic>
        <p:nvPicPr>
          <p:cNvPr id="16" name="Picture 15" descr="What is Brain Science? - Regional Neurological Associates">
            <a:extLst>
              <a:ext uri="{FF2B5EF4-FFF2-40B4-BE49-F238E27FC236}">
                <a16:creationId xmlns:a16="http://schemas.microsoft.com/office/drawing/2014/main" id="{5F9D84FC-0413-47B5-7214-2372BCD73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7577" y="3081670"/>
            <a:ext cx="6222715" cy="325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{7F57C056-51C6-4334-AD7E-9988BDEBF493}TF8a9b5915-b8c7-461e-8cdd-693d48b5e32371f7b7e2_win32-4bf0b9a2ea37</Template>
  <TotalTime>104</TotalTime>
  <Words>284</Words>
  <Application>Microsoft Office PowerPoint</Application>
  <PresentationFormat>Widescreen</PresentationFormat>
  <Paragraphs>54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 Narrow</vt:lpstr>
      <vt:lpstr>Arial</vt:lpstr>
      <vt:lpstr>Arial Black</vt:lpstr>
      <vt:lpstr>Bahnschrift Light</vt:lpstr>
      <vt:lpstr>Calibri</vt:lpstr>
      <vt:lpstr>Courier New</vt:lpstr>
      <vt:lpstr>Sabon Next LT</vt:lpstr>
      <vt:lpstr>Custom</vt:lpstr>
      <vt:lpstr>PowerPoint Presentation</vt:lpstr>
      <vt:lpstr>Converosin between English Sentense and logical Expressions</vt:lpstr>
      <vt:lpstr>Introduction</vt:lpstr>
      <vt:lpstr>Propositions</vt:lpstr>
      <vt:lpstr>Negation ( )</vt:lpstr>
      <vt:lpstr>Conjunction(  ) </vt:lpstr>
      <vt:lpstr>Disjunction( V )</vt:lpstr>
      <vt:lpstr>Implication(    )</vt:lpstr>
      <vt:lpstr>PowerPoint Presentation</vt:lpstr>
      <vt:lpstr>PowerPoint Presentation</vt:lpstr>
      <vt:lpstr>PowerPoint Presentation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ANIK SARKAR</dc:creator>
  <cp:lastModifiedBy>ANIK SARKAR</cp:lastModifiedBy>
  <cp:revision>2</cp:revision>
  <dcterms:created xsi:type="dcterms:W3CDTF">2025-11-21T05:20:36Z</dcterms:created>
  <dcterms:modified xsi:type="dcterms:W3CDTF">2025-11-21T07:04:53Z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