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5" r:id="rId8"/>
    <p:sldId id="266" r:id="rId9"/>
  </p:sldIdLst>
  <p:sldSz cx="18288000" cy="10287000"/>
  <p:notesSz cx="6858000" cy="9144000"/>
  <p:embeddedFontLst>
    <p:embeddedFont>
      <p:font typeface="Norwester" panose="020B0604020202020204" charset="0"/>
      <p:regular r:id="rId10"/>
    </p:embeddedFont>
    <p:embeddedFont>
      <p:font typeface="Nine by Five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lacial Indifference" panose="020B0604020202020204" charset="0"/>
      <p:regular r:id="rId16"/>
    </p:embeddedFont>
    <p:embeddedFont>
      <p:font typeface="Glacial Indifference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476500"/>
            <a:ext cx="14859000" cy="2286000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b="1" dirty="0" smtClean="0"/>
              <a:t>Presentation Topic:</a:t>
            </a:r>
            <a:br>
              <a:rPr lang="en-US" b="1" dirty="0" smtClean="0"/>
            </a:br>
            <a:r>
              <a:rPr lang="en-US" b="1" dirty="0" smtClean="0"/>
              <a:t>Propositional Equivalence Identity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Prove Tautology Using Equivalence Identity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0" y="5219700"/>
            <a:ext cx="7010400" cy="426720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NAME : S. A. A. SAFI AHMED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ID : 251311003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SEMESTER : 2</a:t>
            </a:r>
            <a:r>
              <a:rPr lang="en-US" b="1" baseline="30000" dirty="0" smtClean="0">
                <a:solidFill>
                  <a:schemeClr val="accent6">
                    <a:lumMod val="50000"/>
                  </a:schemeClr>
                </a:solidFill>
              </a:rPr>
              <a:t>nd</a:t>
            </a:r>
            <a:endParaRPr lang="en-US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SECTION : A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BATCH : 36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DEPARTMENT OF CSE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            VARENDRA UNIVERSITY.</a:t>
            </a:r>
          </a:p>
          <a:p>
            <a:pPr marL="0" indent="0">
              <a:buNone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5000" y="5219700"/>
            <a:ext cx="7239000" cy="4267200"/>
          </a:xfrm>
          <a:solidFill>
            <a:srgbClr val="00B050"/>
          </a:solidFill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 smtClean="0"/>
              <a:t>COURSE TITLE : DISCRETE MATHEMATICS</a:t>
            </a:r>
          </a:p>
          <a:p>
            <a:pPr marL="114300" indent="0">
              <a:buNone/>
            </a:pPr>
            <a:r>
              <a:rPr lang="en-US" b="1" dirty="0" smtClean="0"/>
              <a:t>COURSE CODE : CSE 1203 </a:t>
            </a:r>
          </a:p>
          <a:p>
            <a:pPr marL="114300" indent="0">
              <a:buNone/>
            </a:pPr>
            <a:r>
              <a:rPr lang="en-US" b="1" dirty="0" smtClean="0"/>
              <a:t>COURSE TEACHER : SANJOY KUMAR  CHAKRAVARTY </a:t>
            </a:r>
          </a:p>
          <a:p>
            <a:pPr marL="114300" indent="0">
              <a:buNone/>
            </a:pPr>
            <a:r>
              <a:rPr lang="en-US" b="1" dirty="0" smtClean="0"/>
              <a:t>ASSOCIATE PROFESSOR </a:t>
            </a:r>
          </a:p>
          <a:p>
            <a:pPr marL="114300" indent="0">
              <a:buNone/>
            </a:pPr>
            <a:r>
              <a:rPr lang="en-US" b="1" dirty="0" smtClean="0"/>
              <a:t>DEPARTMENT OF CSE </a:t>
            </a:r>
          </a:p>
          <a:p>
            <a:pPr marL="114300" indent="0">
              <a:buNone/>
            </a:pPr>
            <a:r>
              <a:rPr lang="en-US" b="1" dirty="0" smtClean="0"/>
              <a:t>RAJSHAHI UNIVERSITY</a:t>
            </a:r>
          </a:p>
          <a:p>
            <a:pPr marL="114300" indent="0">
              <a:buNone/>
            </a:pPr>
            <a:r>
              <a:rPr lang="en-US" b="1" dirty="0" smtClean="0"/>
              <a:t>DATE : 19/08/2025</a:t>
            </a:r>
          </a:p>
          <a:p>
            <a:pPr marL="114300" indent="0">
              <a:buNone/>
            </a:pP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019800" y="504662"/>
            <a:ext cx="6629400" cy="1538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          </a:t>
            </a:r>
            <a:r>
              <a:rPr lang="en-US" sz="6600" dirty="0" smtClean="0"/>
              <a:t>WELCOME</a:t>
            </a:r>
            <a:r>
              <a:rPr lang="en-US" sz="6000" dirty="0" smtClean="0"/>
              <a:t> </a:t>
            </a:r>
          </a:p>
          <a:p>
            <a:r>
              <a:rPr lang="en-US" dirty="0" smtClean="0"/>
              <a:t>                                    </a:t>
            </a:r>
            <a:r>
              <a:rPr lang="en-US" sz="2800" dirty="0" smtClean="0"/>
              <a:t>TO MY PRESENTATION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2574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8375">
            <a:off x="13912460" y="746695"/>
            <a:ext cx="4612311" cy="1232745"/>
          </a:xfrm>
          <a:custGeom>
            <a:avLst/>
            <a:gdLst/>
            <a:ahLst/>
            <a:cxnLst/>
            <a:rect l="l" t="t" r="r" b="b"/>
            <a:pathLst>
              <a:path w="4612311" h="1232745">
                <a:moveTo>
                  <a:pt x="0" y="0"/>
                </a:moveTo>
                <a:lnTo>
                  <a:pt x="4612311" y="0"/>
                </a:lnTo>
                <a:lnTo>
                  <a:pt x="4612311" y="1232745"/>
                </a:lnTo>
                <a:lnTo>
                  <a:pt x="0" y="12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786">
            <a:off x="15470324" y="4050942"/>
            <a:ext cx="2765850" cy="774438"/>
          </a:xfrm>
          <a:custGeom>
            <a:avLst/>
            <a:gdLst/>
            <a:ahLst/>
            <a:cxnLst/>
            <a:rect l="l" t="t" r="r" b="b"/>
            <a:pathLst>
              <a:path w="2765850" h="774438">
                <a:moveTo>
                  <a:pt x="0" y="0"/>
                </a:moveTo>
                <a:lnTo>
                  <a:pt x="2765850" y="0"/>
                </a:lnTo>
                <a:lnTo>
                  <a:pt x="2765850" y="774438"/>
                </a:lnTo>
                <a:lnTo>
                  <a:pt x="0" y="77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9167">
            <a:off x="15398494" y="6337808"/>
            <a:ext cx="2417976" cy="3418732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8923">
            <a:off x="9166964" y="9493919"/>
            <a:ext cx="3657600" cy="591866"/>
          </a:xfrm>
          <a:custGeom>
            <a:avLst/>
            <a:gdLst/>
            <a:ahLst/>
            <a:cxnLst/>
            <a:rect l="l" t="t" r="r" b="b"/>
            <a:pathLst>
              <a:path w="3657600" h="591866">
                <a:moveTo>
                  <a:pt x="0" y="0"/>
                </a:moveTo>
                <a:lnTo>
                  <a:pt x="3657600" y="0"/>
                </a:lnTo>
                <a:lnTo>
                  <a:pt x="3657600" y="591866"/>
                </a:lnTo>
                <a:lnTo>
                  <a:pt x="0" y="591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52242">
            <a:off x="4147272" y="9233188"/>
            <a:ext cx="2202626" cy="1113327"/>
          </a:xfrm>
          <a:custGeom>
            <a:avLst/>
            <a:gdLst/>
            <a:ahLst/>
            <a:cxnLst/>
            <a:rect l="l" t="t" r="r" b="b"/>
            <a:pathLst>
              <a:path w="2202626" h="1113327">
                <a:moveTo>
                  <a:pt x="0" y="0"/>
                </a:moveTo>
                <a:lnTo>
                  <a:pt x="2202627" y="0"/>
                </a:lnTo>
                <a:lnTo>
                  <a:pt x="2202627" y="1113328"/>
                </a:lnTo>
                <a:lnTo>
                  <a:pt x="0" y="1113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726" y="7850316"/>
            <a:ext cx="2907107" cy="2436684"/>
          </a:xfrm>
          <a:custGeom>
            <a:avLst/>
            <a:gdLst/>
            <a:ahLst/>
            <a:cxnLst/>
            <a:rect l="l" t="t" r="r" b="b"/>
            <a:pathLst>
              <a:path w="2907107" h="2436684">
                <a:moveTo>
                  <a:pt x="0" y="0"/>
                </a:moveTo>
                <a:lnTo>
                  <a:pt x="2907106" y="0"/>
                </a:lnTo>
                <a:lnTo>
                  <a:pt x="2907106" y="2436684"/>
                </a:lnTo>
                <a:lnTo>
                  <a:pt x="0" y="2436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469522">
            <a:off x="72422" y="483703"/>
            <a:ext cx="3237745" cy="2713819"/>
          </a:xfrm>
          <a:custGeom>
            <a:avLst/>
            <a:gdLst/>
            <a:ahLst/>
            <a:cxnLst/>
            <a:rect l="l" t="t" r="r" b="b"/>
            <a:pathLst>
              <a:path w="3237745" h="2713819">
                <a:moveTo>
                  <a:pt x="0" y="0"/>
                </a:moveTo>
                <a:lnTo>
                  <a:pt x="3237745" y="0"/>
                </a:lnTo>
                <a:lnTo>
                  <a:pt x="3237745" y="2713819"/>
                </a:lnTo>
                <a:lnTo>
                  <a:pt x="0" y="27138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82594">
            <a:off x="105688" y="4837146"/>
            <a:ext cx="2721455" cy="1484430"/>
          </a:xfrm>
          <a:custGeom>
            <a:avLst/>
            <a:gdLst/>
            <a:ahLst/>
            <a:cxnLst/>
            <a:rect l="l" t="t" r="r" b="b"/>
            <a:pathLst>
              <a:path w="2721455" h="1484430">
                <a:moveTo>
                  <a:pt x="0" y="0"/>
                </a:moveTo>
                <a:lnTo>
                  <a:pt x="2721456" y="0"/>
                </a:lnTo>
                <a:lnTo>
                  <a:pt x="2721456" y="1484430"/>
                </a:lnTo>
                <a:lnTo>
                  <a:pt x="0" y="1484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30262">
            <a:off x="4728194" y="-1028700"/>
            <a:ext cx="2486967" cy="2057400"/>
          </a:xfrm>
          <a:custGeom>
            <a:avLst/>
            <a:gdLst/>
            <a:ahLst/>
            <a:cxnLst/>
            <a:rect l="l" t="t" r="r" b="b"/>
            <a:pathLst>
              <a:path w="2486967" h="2057400">
                <a:moveTo>
                  <a:pt x="0" y="0"/>
                </a:moveTo>
                <a:lnTo>
                  <a:pt x="2486967" y="0"/>
                </a:lnTo>
                <a:lnTo>
                  <a:pt x="248696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206619">
            <a:off x="9784552" y="-834551"/>
            <a:ext cx="1628124" cy="2681043"/>
          </a:xfrm>
          <a:custGeom>
            <a:avLst/>
            <a:gdLst/>
            <a:ahLst/>
            <a:cxnLst/>
            <a:rect l="l" t="t" r="r" b="b"/>
            <a:pathLst>
              <a:path w="1628124" h="2681043">
                <a:moveTo>
                  <a:pt x="0" y="0"/>
                </a:moveTo>
                <a:lnTo>
                  <a:pt x="1628124" y="0"/>
                </a:lnTo>
                <a:lnTo>
                  <a:pt x="1628124" y="2681043"/>
                </a:lnTo>
                <a:lnTo>
                  <a:pt x="0" y="268104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426273" y="1804802"/>
            <a:ext cx="13435453" cy="6649927"/>
            <a:chOff x="0" y="0"/>
            <a:chExt cx="3538556" cy="17514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38556" cy="1751421"/>
            </a:xfrm>
            <a:custGeom>
              <a:avLst/>
              <a:gdLst/>
              <a:ahLst/>
              <a:cxnLst/>
              <a:rect l="l" t="t" r="r" b="b"/>
              <a:pathLst>
                <a:path w="3538556" h="1751421">
                  <a:moveTo>
                    <a:pt x="29388" y="0"/>
                  </a:moveTo>
                  <a:lnTo>
                    <a:pt x="3509168" y="0"/>
                  </a:lnTo>
                  <a:cubicBezTo>
                    <a:pt x="3525398" y="0"/>
                    <a:pt x="3538556" y="13157"/>
                    <a:pt x="3538556" y="29388"/>
                  </a:cubicBezTo>
                  <a:lnTo>
                    <a:pt x="3538556" y="1722033"/>
                  </a:lnTo>
                  <a:cubicBezTo>
                    <a:pt x="3538556" y="1738264"/>
                    <a:pt x="3525398" y="1751421"/>
                    <a:pt x="3509168" y="1751421"/>
                  </a:cubicBezTo>
                  <a:lnTo>
                    <a:pt x="29388" y="1751421"/>
                  </a:lnTo>
                  <a:cubicBezTo>
                    <a:pt x="13157" y="1751421"/>
                    <a:pt x="0" y="1738264"/>
                    <a:pt x="0" y="1722033"/>
                  </a:cubicBezTo>
                  <a:lnTo>
                    <a:pt x="0" y="29388"/>
                  </a:lnTo>
                  <a:cubicBezTo>
                    <a:pt x="0" y="13157"/>
                    <a:pt x="13157" y="0"/>
                    <a:pt x="29388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38556" cy="178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758694" y="4772968"/>
            <a:ext cx="11111034" cy="145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6"/>
              </a:lnSpc>
              <a:spcBef>
                <a:spcPct val="0"/>
              </a:spcBef>
            </a:pPr>
            <a:r>
              <a:rPr lang="en-US" sz="850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Discrete Mathematics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14094" y="3301301"/>
            <a:ext cx="11658638" cy="1469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06"/>
              </a:lnSpc>
              <a:spcBef>
                <a:spcPct val="0"/>
              </a:spcBef>
            </a:pPr>
            <a:r>
              <a:rPr lang="en-US" sz="8504" spc="1887">
                <a:solidFill>
                  <a:srgbClr val="000000"/>
                </a:solidFill>
                <a:latin typeface="Nine by Five"/>
                <a:ea typeface="Nine by Five"/>
                <a:cs typeface="Nine by Five"/>
                <a:sym typeface="Nine by Five"/>
              </a:rPr>
              <a:t>Equivalence Identity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8375">
            <a:off x="13912460" y="746695"/>
            <a:ext cx="4612311" cy="1232745"/>
          </a:xfrm>
          <a:custGeom>
            <a:avLst/>
            <a:gdLst/>
            <a:ahLst/>
            <a:cxnLst/>
            <a:rect l="l" t="t" r="r" b="b"/>
            <a:pathLst>
              <a:path w="4612311" h="1232745">
                <a:moveTo>
                  <a:pt x="0" y="0"/>
                </a:moveTo>
                <a:lnTo>
                  <a:pt x="4612311" y="0"/>
                </a:lnTo>
                <a:lnTo>
                  <a:pt x="4612311" y="1232745"/>
                </a:lnTo>
                <a:lnTo>
                  <a:pt x="0" y="12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786">
            <a:off x="15470324" y="4050942"/>
            <a:ext cx="2765850" cy="774438"/>
          </a:xfrm>
          <a:custGeom>
            <a:avLst/>
            <a:gdLst/>
            <a:ahLst/>
            <a:cxnLst/>
            <a:rect l="l" t="t" r="r" b="b"/>
            <a:pathLst>
              <a:path w="2765850" h="774438">
                <a:moveTo>
                  <a:pt x="0" y="0"/>
                </a:moveTo>
                <a:lnTo>
                  <a:pt x="2765850" y="0"/>
                </a:lnTo>
                <a:lnTo>
                  <a:pt x="2765850" y="774438"/>
                </a:lnTo>
                <a:lnTo>
                  <a:pt x="0" y="77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9167">
            <a:off x="15398494" y="6337808"/>
            <a:ext cx="2417976" cy="3418732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1067764" y="-1390546"/>
            <a:ext cx="16230971" cy="13068092"/>
            <a:chOff x="0" y="0"/>
            <a:chExt cx="4274824" cy="3441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824" cy="3441802"/>
            </a:xfrm>
            <a:custGeom>
              <a:avLst/>
              <a:gdLst/>
              <a:ahLst/>
              <a:cxnLst/>
              <a:rect l="l" t="t" r="r" b="b"/>
              <a:pathLst>
                <a:path w="4274824" h="3441802">
                  <a:moveTo>
                    <a:pt x="24326" y="0"/>
                  </a:moveTo>
                  <a:lnTo>
                    <a:pt x="4250498" y="0"/>
                  </a:lnTo>
                  <a:cubicBezTo>
                    <a:pt x="4263932" y="0"/>
                    <a:pt x="4274824" y="10891"/>
                    <a:pt x="4274824" y="24326"/>
                  </a:cubicBezTo>
                  <a:lnTo>
                    <a:pt x="4274824" y="3417476"/>
                  </a:lnTo>
                  <a:cubicBezTo>
                    <a:pt x="4274824" y="3430911"/>
                    <a:pt x="4263932" y="3441802"/>
                    <a:pt x="4250498" y="3441802"/>
                  </a:cubicBezTo>
                  <a:lnTo>
                    <a:pt x="24326" y="3441802"/>
                  </a:lnTo>
                  <a:cubicBezTo>
                    <a:pt x="17874" y="3441802"/>
                    <a:pt x="11687" y="3439239"/>
                    <a:pt x="7125" y="3434677"/>
                  </a:cubicBezTo>
                  <a:cubicBezTo>
                    <a:pt x="2563" y="3430115"/>
                    <a:pt x="0" y="3423927"/>
                    <a:pt x="0" y="3417476"/>
                  </a:cubicBezTo>
                  <a:lnTo>
                    <a:pt x="0" y="24326"/>
                  </a:lnTo>
                  <a:cubicBezTo>
                    <a:pt x="0" y="17874"/>
                    <a:pt x="2563" y="11687"/>
                    <a:pt x="7125" y="7125"/>
                  </a:cubicBezTo>
                  <a:cubicBezTo>
                    <a:pt x="11687" y="2563"/>
                    <a:pt x="17874" y="0"/>
                    <a:pt x="24326" y="0"/>
                  </a:cubicBezTo>
                  <a:close/>
                </a:path>
              </a:pathLst>
            </a:custGeom>
            <a:solidFill>
              <a:srgbClr val="FFFFFF"/>
            </a:solidFill>
            <a:ln w="2286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824" cy="3479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576894"/>
            <a:ext cx="7265733" cy="703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4"/>
              </a:lnSpc>
              <a:spcBef>
                <a:spcPct val="0"/>
              </a:spcBef>
            </a:pPr>
            <a:r>
              <a:rPr lang="en-US" sz="40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Concept of Equivalence Identity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3164" y="2830784"/>
            <a:ext cx="11951871" cy="550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5279" lvl="1" indent="-482639" algn="l">
              <a:lnSpc>
                <a:spcPts val="6259"/>
              </a:lnSpc>
              <a:buFont typeface="Arial"/>
              <a:buChar char="•"/>
            </a:pPr>
            <a:r>
              <a:rPr lang="en-US" sz="44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Two propositions are equivalent if they always have the same truth value.</a:t>
            </a:r>
          </a:p>
          <a:p>
            <a:pPr algn="l">
              <a:lnSpc>
                <a:spcPts val="6259"/>
              </a:lnSpc>
            </a:pPr>
            <a:endParaRPr lang="en-US" sz="447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965279" lvl="1" indent="-482639" algn="l">
              <a:lnSpc>
                <a:spcPts val="6259"/>
              </a:lnSpc>
              <a:buFont typeface="Arial"/>
              <a:buChar char="•"/>
            </a:pPr>
            <a:r>
              <a:rPr lang="en-US" sz="44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Denoted as: P≡Q</a:t>
            </a:r>
          </a:p>
          <a:p>
            <a:pPr algn="l">
              <a:lnSpc>
                <a:spcPts val="6259"/>
              </a:lnSpc>
            </a:pPr>
            <a:endParaRPr lang="en-US" sz="447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965272" lvl="1" indent="-482636" algn="l">
              <a:lnSpc>
                <a:spcPts val="6259"/>
              </a:lnSpc>
              <a:buFont typeface="Arial"/>
              <a:buChar char="•"/>
            </a:pPr>
            <a:r>
              <a:rPr lang="en-US" sz="44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Example: ¬(P∧Q)≡¬P∨¬Q (De Morgan’s Law).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9120" y="2403949"/>
            <a:ext cx="7265313" cy="0"/>
          </a:xfrm>
          <a:prstGeom prst="line">
            <a:avLst/>
          </a:prstGeom>
          <a:ln w="123825" cap="flat">
            <a:solidFill>
              <a:srgbClr val="082A4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8375">
            <a:off x="13912460" y="746695"/>
            <a:ext cx="4612311" cy="1232745"/>
          </a:xfrm>
          <a:custGeom>
            <a:avLst/>
            <a:gdLst/>
            <a:ahLst/>
            <a:cxnLst/>
            <a:rect l="l" t="t" r="r" b="b"/>
            <a:pathLst>
              <a:path w="4612311" h="1232745">
                <a:moveTo>
                  <a:pt x="0" y="0"/>
                </a:moveTo>
                <a:lnTo>
                  <a:pt x="4612311" y="0"/>
                </a:lnTo>
                <a:lnTo>
                  <a:pt x="4612311" y="1232745"/>
                </a:lnTo>
                <a:lnTo>
                  <a:pt x="0" y="12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786">
            <a:off x="15470324" y="4050942"/>
            <a:ext cx="2765850" cy="774438"/>
          </a:xfrm>
          <a:custGeom>
            <a:avLst/>
            <a:gdLst/>
            <a:ahLst/>
            <a:cxnLst/>
            <a:rect l="l" t="t" r="r" b="b"/>
            <a:pathLst>
              <a:path w="2765850" h="774438">
                <a:moveTo>
                  <a:pt x="0" y="0"/>
                </a:moveTo>
                <a:lnTo>
                  <a:pt x="2765850" y="0"/>
                </a:lnTo>
                <a:lnTo>
                  <a:pt x="2765850" y="774438"/>
                </a:lnTo>
                <a:lnTo>
                  <a:pt x="0" y="77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456930" y="3647644"/>
            <a:ext cx="7173181" cy="2670659"/>
            <a:chOff x="0" y="0"/>
            <a:chExt cx="2238027" cy="8332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38027" cy="833244"/>
            </a:xfrm>
            <a:custGeom>
              <a:avLst/>
              <a:gdLst/>
              <a:ahLst/>
              <a:cxnLst/>
              <a:rect l="l" t="t" r="r" b="b"/>
              <a:pathLst>
                <a:path w="2238027" h="833244">
                  <a:moveTo>
                    <a:pt x="55044" y="0"/>
                  </a:moveTo>
                  <a:lnTo>
                    <a:pt x="2182984" y="0"/>
                  </a:lnTo>
                  <a:cubicBezTo>
                    <a:pt x="2213383" y="0"/>
                    <a:pt x="2238027" y="24644"/>
                    <a:pt x="2238027" y="55044"/>
                  </a:cubicBezTo>
                  <a:lnTo>
                    <a:pt x="2238027" y="778200"/>
                  </a:lnTo>
                  <a:cubicBezTo>
                    <a:pt x="2238027" y="808600"/>
                    <a:pt x="2213383" y="833244"/>
                    <a:pt x="2182984" y="833244"/>
                  </a:cubicBezTo>
                  <a:lnTo>
                    <a:pt x="55044" y="833244"/>
                  </a:lnTo>
                  <a:cubicBezTo>
                    <a:pt x="24644" y="833244"/>
                    <a:pt x="0" y="808600"/>
                    <a:pt x="0" y="778200"/>
                  </a:cubicBezTo>
                  <a:lnTo>
                    <a:pt x="0" y="55044"/>
                  </a:lnTo>
                  <a:cubicBezTo>
                    <a:pt x="0" y="24644"/>
                    <a:pt x="24644" y="0"/>
                    <a:pt x="55044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38027" cy="8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479167">
            <a:off x="15398494" y="6337808"/>
            <a:ext cx="2417976" cy="3418732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48923">
            <a:off x="9166964" y="9493919"/>
            <a:ext cx="3657600" cy="591866"/>
          </a:xfrm>
          <a:custGeom>
            <a:avLst/>
            <a:gdLst/>
            <a:ahLst/>
            <a:cxnLst/>
            <a:rect l="l" t="t" r="r" b="b"/>
            <a:pathLst>
              <a:path w="3657600" h="591866">
                <a:moveTo>
                  <a:pt x="0" y="0"/>
                </a:moveTo>
                <a:lnTo>
                  <a:pt x="3657600" y="0"/>
                </a:lnTo>
                <a:lnTo>
                  <a:pt x="3657600" y="591866"/>
                </a:lnTo>
                <a:lnTo>
                  <a:pt x="0" y="591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52242">
            <a:off x="4147272" y="9233188"/>
            <a:ext cx="2202626" cy="1113327"/>
          </a:xfrm>
          <a:custGeom>
            <a:avLst/>
            <a:gdLst/>
            <a:ahLst/>
            <a:cxnLst/>
            <a:rect l="l" t="t" r="r" b="b"/>
            <a:pathLst>
              <a:path w="2202626" h="1113327">
                <a:moveTo>
                  <a:pt x="0" y="0"/>
                </a:moveTo>
                <a:lnTo>
                  <a:pt x="2202627" y="0"/>
                </a:lnTo>
                <a:lnTo>
                  <a:pt x="2202627" y="1113328"/>
                </a:lnTo>
                <a:lnTo>
                  <a:pt x="0" y="1113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5726" y="7850316"/>
            <a:ext cx="2907107" cy="2436684"/>
          </a:xfrm>
          <a:custGeom>
            <a:avLst/>
            <a:gdLst/>
            <a:ahLst/>
            <a:cxnLst/>
            <a:rect l="l" t="t" r="r" b="b"/>
            <a:pathLst>
              <a:path w="2907107" h="2436684">
                <a:moveTo>
                  <a:pt x="0" y="0"/>
                </a:moveTo>
                <a:lnTo>
                  <a:pt x="2907106" y="0"/>
                </a:lnTo>
                <a:lnTo>
                  <a:pt x="2907106" y="2436684"/>
                </a:lnTo>
                <a:lnTo>
                  <a:pt x="0" y="2436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469522">
            <a:off x="72422" y="483703"/>
            <a:ext cx="3237745" cy="2713819"/>
          </a:xfrm>
          <a:custGeom>
            <a:avLst/>
            <a:gdLst/>
            <a:ahLst/>
            <a:cxnLst/>
            <a:rect l="l" t="t" r="r" b="b"/>
            <a:pathLst>
              <a:path w="3237745" h="2713819">
                <a:moveTo>
                  <a:pt x="0" y="0"/>
                </a:moveTo>
                <a:lnTo>
                  <a:pt x="3237745" y="0"/>
                </a:lnTo>
                <a:lnTo>
                  <a:pt x="3237745" y="2713819"/>
                </a:lnTo>
                <a:lnTo>
                  <a:pt x="0" y="27138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82594">
            <a:off x="105688" y="4837146"/>
            <a:ext cx="2721455" cy="1484430"/>
          </a:xfrm>
          <a:custGeom>
            <a:avLst/>
            <a:gdLst/>
            <a:ahLst/>
            <a:cxnLst/>
            <a:rect l="l" t="t" r="r" b="b"/>
            <a:pathLst>
              <a:path w="2721455" h="1484430">
                <a:moveTo>
                  <a:pt x="0" y="0"/>
                </a:moveTo>
                <a:lnTo>
                  <a:pt x="2721456" y="0"/>
                </a:lnTo>
                <a:lnTo>
                  <a:pt x="2721456" y="1484430"/>
                </a:lnTo>
                <a:lnTo>
                  <a:pt x="0" y="1484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630262">
            <a:off x="4728194" y="-1028700"/>
            <a:ext cx="2486967" cy="2057400"/>
          </a:xfrm>
          <a:custGeom>
            <a:avLst/>
            <a:gdLst/>
            <a:ahLst/>
            <a:cxnLst/>
            <a:rect l="l" t="t" r="r" b="b"/>
            <a:pathLst>
              <a:path w="2486967" h="2057400">
                <a:moveTo>
                  <a:pt x="0" y="0"/>
                </a:moveTo>
                <a:lnTo>
                  <a:pt x="2486967" y="0"/>
                </a:lnTo>
                <a:lnTo>
                  <a:pt x="248696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206619">
            <a:off x="9784552" y="-834551"/>
            <a:ext cx="1628124" cy="2681043"/>
          </a:xfrm>
          <a:custGeom>
            <a:avLst/>
            <a:gdLst/>
            <a:ahLst/>
            <a:cxnLst/>
            <a:rect l="l" t="t" r="r" b="b"/>
            <a:pathLst>
              <a:path w="1628124" h="2681043">
                <a:moveTo>
                  <a:pt x="0" y="0"/>
                </a:moveTo>
                <a:lnTo>
                  <a:pt x="1628124" y="0"/>
                </a:lnTo>
                <a:lnTo>
                  <a:pt x="1628124" y="2681043"/>
                </a:lnTo>
                <a:lnTo>
                  <a:pt x="0" y="268104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28700" y="422061"/>
            <a:ext cx="16243860" cy="2837103"/>
            <a:chOff x="0" y="0"/>
            <a:chExt cx="3538556" cy="6180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538556" cy="618033"/>
            </a:xfrm>
            <a:custGeom>
              <a:avLst/>
              <a:gdLst/>
              <a:ahLst/>
              <a:cxnLst/>
              <a:rect l="l" t="t" r="r" b="b"/>
              <a:pathLst>
                <a:path w="3538556" h="618033">
                  <a:moveTo>
                    <a:pt x="24307" y="0"/>
                  </a:moveTo>
                  <a:lnTo>
                    <a:pt x="3514249" y="0"/>
                  </a:lnTo>
                  <a:cubicBezTo>
                    <a:pt x="3520696" y="0"/>
                    <a:pt x="3526878" y="2561"/>
                    <a:pt x="3531436" y="7119"/>
                  </a:cubicBezTo>
                  <a:cubicBezTo>
                    <a:pt x="3535995" y="11678"/>
                    <a:pt x="3538556" y="17860"/>
                    <a:pt x="3538556" y="24307"/>
                  </a:cubicBezTo>
                  <a:lnTo>
                    <a:pt x="3538556" y="593727"/>
                  </a:lnTo>
                  <a:cubicBezTo>
                    <a:pt x="3538556" y="607151"/>
                    <a:pt x="3527673" y="618033"/>
                    <a:pt x="3514249" y="618033"/>
                  </a:cubicBezTo>
                  <a:lnTo>
                    <a:pt x="24307" y="618033"/>
                  </a:lnTo>
                  <a:cubicBezTo>
                    <a:pt x="10883" y="618033"/>
                    <a:pt x="0" y="607151"/>
                    <a:pt x="0" y="593727"/>
                  </a:cubicBezTo>
                  <a:lnTo>
                    <a:pt x="0" y="24307"/>
                  </a:lnTo>
                  <a:cubicBezTo>
                    <a:pt x="0" y="10883"/>
                    <a:pt x="10883" y="0"/>
                    <a:pt x="24307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538556" cy="656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71148" y="1053948"/>
            <a:ext cx="14958964" cy="146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75"/>
              </a:lnSpc>
              <a:spcBef>
                <a:spcPct val="0"/>
              </a:spcBef>
            </a:pPr>
            <a:r>
              <a:rPr lang="en-US" sz="8482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Proving a Tautology (Example):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3746557"/>
            <a:ext cx="7173181" cy="2670659"/>
            <a:chOff x="0" y="0"/>
            <a:chExt cx="2238027" cy="8332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38027" cy="833244"/>
            </a:xfrm>
            <a:custGeom>
              <a:avLst/>
              <a:gdLst/>
              <a:ahLst/>
              <a:cxnLst/>
              <a:rect l="l" t="t" r="r" b="b"/>
              <a:pathLst>
                <a:path w="2238027" h="833244">
                  <a:moveTo>
                    <a:pt x="55044" y="0"/>
                  </a:moveTo>
                  <a:lnTo>
                    <a:pt x="2182984" y="0"/>
                  </a:lnTo>
                  <a:cubicBezTo>
                    <a:pt x="2213383" y="0"/>
                    <a:pt x="2238027" y="24644"/>
                    <a:pt x="2238027" y="55044"/>
                  </a:cubicBezTo>
                  <a:lnTo>
                    <a:pt x="2238027" y="778200"/>
                  </a:lnTo>
                  <a:cubicBezTo>
                    <a:pt x="2238027" y="808600"/>
                    <a:pt x="2213383" y="833244"/>
                    <a:pt x="2182984" y="833244"/>
                  </a:cubicBezTo>
                  <a:lnTo>
                    <a:pt x="55044" y="833244"/>
                  </a:lnTo>
                  <a:cubicBezTo>
                    <a:pt x="24644" y="833244"/>
                    <a:pt x="0" y="808600"/>
                    <a:pt x="0" y="778200"/>
                  </a:cubicBezTo>
                  <a:lnTo>
                    <a:pt x="0" y="55044"/>
                  </a:lnTo>
                  <a:cubicBezTo>
                    <a:pt x="0" y="24644"/>
                    <a:pt x="24644" y="0"/>
                    <a:pt x="55044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238027" cy="8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342330" y="4117136"/>
            <a:ext cx="2545920" cy="56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1"/>
              </a:lnSpc>
              <a:spcBef>
                <a:spcPct val="0"/>
              </a:spcBef>
            </a:pPr>
            <a:r>
              <a:rPr lang="en-US" sz="332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1: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80545" y="4897248"/>
            <a:ext cx="6092773" cy="125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7"/>
              </a:lnSpc>
              <a:spcBef>
                <a:spcPct val="0"/>
              </a:spcBef>
            </a:pPr>
            <a:r>
              <a:rPr lang="en-US" sz="3576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Apply Law of Excluded Middle → Always true.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74568" y="4120224"/>
            <a:ext cx="2545920" cy="56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1"/>
              </a:lnSpc>
              <a:spcBef>
                <a:spcPct val="0"/>
              </a:spcBef>
            </a:pPr>
            <a:r>
              <a:rPr lang="en-US" sz="332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2: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04279" y="4897248"/>
            <a:ext cx="6014337" cy="125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7"/>
              </a:lnSpc>
              <a:spcBef>
                <a:spcPct val="0"/>
              </a:spcBef>
            </a:pPr>
            <a:r>
              <a:rPr lang="en-US" sz="35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Construct Truth Table → All rows show “T”.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971677" y="6759157"/>
            <a:ext cx="5834242" cy="2576034"/>
            <a:chOff x="0" y="0"/>
            <a:chExt cx="1820279" cy="80372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20279" cy="803721"/>
            </a:xfrm>
            <a:custGeom>
              <a:avLst/>
              <a:gdLst/>
              <a:ahLst/>
              <a:cxnLst/>
              <a:rect l="l" t="t" r="r" b="b"/>
              <a:pathLst>
                <a:path w="1820279" h="803721">
                  <a:moveTo>
                    <a:pt x="67676" y="0"/>
                  </a:moveTo>
                  <a:lnTo>
                    <a:pt x="1752603" y="0"/>
                  </a:lnTo>
                  <a:cubicBezTo>
                    <a:pt x="1770552" y="0"/>
                    <a:pt x="1787765" y="7130"/>
                    <a:pt x="1800457" y="19822"/>
                  </a:cubicBezTo>
                  <a:cubicBezTo>
                    <a:pt x="1813149" y="32514"/>
                    <a:pt x="1820279" y="49727"/>
                    <a:pt x="1820279" y="67676"/>
                  </a:cubicBezTo>
                  <a:lnTo>
                    <a:pt x="1820279" y="736045"/>
                  </a:lnTo>
                  <a:cubicBezTo>
                    <a:pt x="1820279" y="773421"/>
                    <a:pt x="1789980" y="803721"/>
                    <a:pt x="1752603" y="803721"/>
                  </a:cubicBezTo>
                  <a:lnTo>
                    <a:pt x="67676" y="803721"/>
                  </a:lnTo>
                  <a:cubicBezTo>
                    <a:pt x="30300" y="803721"/>
                    <a:pt x="0" y="773421"/>
                    <a:pt x="0" y="736045"/>
                  </a:cubicBezTo>
                  <a:lnTo>
                    <a:pt x="0" y="67676"/>
                  </a:lnTo>
                  <a:cubicBezTo>
                    <a:pt x="0" y="30300"/>
                    <a:pt x="30300" y="0"/>
                    <a:pt x="67676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820279" cy="841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573317" y="7132825"/>
            <a:ext cx="2630961" cy="56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1"/>
              </a:lnSpc>
              <a:spcBef>
                <a:spcPct val="0"/>
              </a:spcBef>
            </a:pPr>
            <a:r>
              <a:rPr lang="en-US" sz="332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3: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44476" y="7799372"/>
            <a:ext cx="5130092" cy="2522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35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Conclude → It’s a Tautology.</a:t>
            </a:r>
          </a:p>
          <a:p>
            <a:pPr algn="ctr">
              <a:lnSpc>
                <a:spcPts val="5007"/>
              </a:lnSpc>
            </a:pPr>
            <a:endParaRPr lang="en-US" sz="3576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5007"/>
              </a:lnSpc>
              <a:spcBef>
                <a:spcPct val="0"/>
              </a:spcBef>
            </a:pPr>
            <a:endParaRPr lang="en-US" sz="3576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8375">
            <a:off x="13912460" y="746695"/>
            <a:ext cx="4612311" cy="1232745"/>
          </a:xfrm>
          <a:custGeom>
            <a:avLst/>
            <a:gdLst/>
            <a:ahLst/>
            <a:cxnLst/>
            <a:rect l="l" t="t" r="r" b="b"/>
            <a:pathLst>
              <a:path w="4612311" h="1232745">
                <a:moveTo>
                  <a:pt x="0" y="0"/>
                </a:moveTo>
                <a:lnTo>
                  <a:pt x="4612311" y="0"/>
                </a:lnTo>
                <a:lnTo>
                  <a:pt x="4612311" y="1232745"/>
                </a:lnTo>
                <a:lnTo>
                  <a:pt x="0" y="12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786">
            <a:off x="15470324" y="4050942"/>
            <a:ext cx="2765850" cy="774438"/>
          </a:xfrm>
          <a:custGeom>
            <a:avLst/>
            <a:gdLst/>
            <a:ahLst/>
            <a:cxnLst/>
            <a:rect l="l" t="t" r="r" b="b"/>
            <a:pathLst>
              <a:path w="2765850" h="774438">
                <a:moveTo>
                  <a:pt x="0" y="0"/>
                </a:moveTo>
                <a:lnTo>
                  <a:pt x="2765850" y="0"/>
                </a:lnTo>
                <a:lnTo>
                  <a:pt x="2765850" y="774438"/>
                </a:lnTo>
                <a:lnTo>
                  <a:pt x="0" y="77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9167">
            <a:off x="15398494" y="6337808"/>
            <a:ext cx="2417976" cy="3418732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1083132" y="-1404281"/>
            <a:ext cx="16230971" cy="13068092"/>
            <a:chOff x="0" y="0"/>
            <a:chExt cx="4274824" cy="34418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824" cy="3441802"/>
            </a:xfrm>
            <a:custGeom>
              <a:avLst/>
              <a:gdLst/>
              <a:ahLst/>
              <a:cxnLst/>
              <a:rect l="l" t="t" r="r" b="b"/>
              <a:pathLst>
                <a:path w="4274824" h="3441802">
                  <a:moveTo>
                    <a:pt x="24326" y="0"/>
                  </a:moveTo>
                  <a:lnTo>
                    <a:pt x="4250498" y="0"/>
                  </a:lnTo>
                  <a:cubicBezTo>
                    <a:pt x="4263932" y="0"/>
                    <a:pt x="4274824" y="10891"/>
                    <a:pt x="4274824" y="24326"/>
                  </a:cubicBezTo>
                  <a:lnTo>
                    <a:pt x="4274824" y="3417476"/>
                  </a:lnTo>
                  <a:cubicBezTo>
                    <a:pt x="4274824" y="3430911"/>
                    <a:pt x="4263932" y="3441802"/>
                    <a:pt x="4250498" y="3441802"/>
                  </a:cubicBezTo>
                  <a:lnTo>
                    <a:pt x="24326" y="3441802"/>
                  </a:lnTo>
                  <a:cubicBezTo>
                    <a:pt x="17874" y="3441802"/>
                    <a:pt x="11687" y="3439239"/>
                    <a:pt x="7125" y="3434677"/>
                  </a:cubicBezTo>
                  <a:cubicBezTo>
                    <a:pt x="2563" y="3430115"/>
                    <a:pt x="0" y="3423927"/>
                    <a:pt x="0" y="3417476"/>
                  </a:cubicBezTo>
                  <a:lnTo>
                    <a:pt x="0" y="24326"/>
                  </a:lnTo>
                  <a:cubicBezTo>
                    <a:pt x="0" y="17874"/>
                    <a:pt x="2563" y="11687"/>
                    <a:pt x="7125" y="7125"/>
                  </a:cubicBezTo>
                  <a:cubicBezTo>
                    <a:pt x="11687" y="2563"/>
                    <a:pt x="17874" y="0"/>
                    <a:pt x="24326" y="0"/>
                  </a:cubicBezTo>
                  <a:close/>
                </a:path>
              </a:pathLst>
            </a:custGeom>
            <a:solidFill>
              <a:srgbClr val="D5F8F8"/>
            </a:solidFill>
            <a:ln w="2286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824" cy="3479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713889"/>
            <a:ext cx="12372703" cy="295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6"/>
              </a:lnSpc>
              <a:spcBef>
                <a:spcPct val="0"/>
              </a:spcBef>
            </a:pPr>
            <a:r>
              <a:rPr lang="en-US" sz="850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Proving a Tautology Using Equivalent Identity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3808469"/>
            <a:ext cx="12007308" cy="0"/>
          </a:xfrm>
          <a:prstGeom prst="line">
            <a:avLst/>
          </a:prstGeom>
          <a:ln w="1238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9"/>
          <p:cNvSpPr txBox="1"/>
          <p:nvPr/>
        </p:nvSpPr>
        <p:spPr>
          <a:xfrm>
            <a:off x="457200" y="4438161"/>
            <a:ext cx="13394782" cy="496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600" dirty="0"/>
              <a:t>Show that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  <a:r>
              <a:rPr lang="en-US" sz="3600" dirty="0"/>
              <a:t> q)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sz="3600" dirty="0"/>
              <a:t>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q) is a Tautology. (Proof)</a:t>
            </a:r>
          </a:p>
          <a:p>
            <a:endParaRPr lang="en-US" sz="36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dirty="0"/>
              <a:t>	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  <a:r>
              <a:rPr lang="en-US" sz="3600" dirty="0"/>
              <a:t> q)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</a:t>
            </a:r>
            <a:r>
              <a:rPr lang="en-US" sz="3600" dirty="0"/>
              <a:t>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q)</a:t>
            </a:r>
          </a:p>
          <a:p>
            <a:r>
              <a:rPr lang="en-US" sz="3600" dirty="0">
                <a:latin typeface="Times New Roman" panose="02020603050405020304" charset="0"/>
              </a:rPr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</a:t>
            </a:r>
            <a:r>
              <a:rPr lang="en-US" sz="3600" dirty="0"/>
              <a:t>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</a:t>
            </a:r>
            <a:r>
              <a:rPr lang="en-US" sz="3600" dirty="0"/>
              <a:t> q)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q) 	</a:t>
            </a:r>
            <a:r>
              <a:rPr lang="en-US" sz="3600" dirty="0" smtClean="0"/>
              <a:t>     Implication</a:t>
            </a:r>
            <a:endParaRPr lang="en-US" sz="3600" dirty="0"/>
          </a:p>
          <a:p>
            <a:r>
              <a:rPr lang="en-US" sz="3600" dirty="0">
                <a:latin typeface="Times New Roman" panose="02020603050405020304" charset="0"/>
              </a:rPr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</a:t>
            </a:r>
            <a:r>
              <a:rPr lang="en-US" sz="3600" dirty="0"/>
              <a:t> (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sz="3600" dirty="0"/>
              <a:t> 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sz="3600" dirty="0"/>
              <a:t> q)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(p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</a:t>
            </a:r>
            <a:r>
              <a:rPr lang="en-US" sz="3600" dirty="0" smtClean="0"/>
              <a:t>q)       De </a:t>
            </a:r>
            <a:r>
              <a:rPr lang="en-US" sz="3600" dirty="0"/>
              <a:t>Morgan</a:t>
            </a:r>
          </a:p>
          <a:p>
            <a:r>
              <a:rPr lang="en-US" sz="3600" dirty="0">
                <a:latin typeface="Times New Roman" panose="02020603050405020304" charset="0"/>
              </a:rPr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</a:t>
            </a:r>
            <a:r>
              <a:rPr lang="en-US" sz="3600" dirty="0"/>
              <a:t> (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sz="3600" dirty="0"/>
              <a:t> p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p)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(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</a:t>
            </a:r>
            <a:r>
              <a:rPr lang="en-US" sz="3600" dirty="0"/>
              <a:t> q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</a:t>
            </a:r>
            <a:r>
              <a:rPr lang="en-US" sz="3600" dirty="0" smtClean="0"/>
              <a:t>q)       Commutative</a:t>
            </a:r>
            <a:r>
              <a:rPr lang="en-US" sz="3600" dirty="0"/>
              <a:t>, Associative</a:t>
            </a:r>
          </a:p>
          <a:p>
            <a:r>
              <a:rPr lang="en-US" sz="3600" dirty="0">
                <a:latin typeface="Times New Roman" panose="02020603050405020304" charset="0"/>
              </a:rPr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</a:t>
            </a:r>
            <a:r>
              <a:rPr lang="en-US" sz="3600" dirty="0"/>
              <a:t> T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</a:t>
            </a:r>
            <a:r>
              <a:rPr lang="en-US" sz="3600" dirty="0"/>
              <a:t> T			</a:t>
            </a:r>
            <a:r>
              <a:rPr lang="en-US" sz="3600" dirty="0" smtClean="0"/>
              <a:t>             Negation</a:t>
            </a:r>
            <a:endParaRPr lang="en-US" sz="3600" dirty="0"/>
          </a:p>
          <a:p>
            <a:r>
              <a:rPr lang="en-US" sz="3600" dirty="0">
                <a:latin typeface="Times New Roman" panose="02020603050405020304" charset="0"/>
              </a:rPr>
              <a:t> </a:t>
            </a:r>
            <a:r>
              <a:rPr lang="en-US" sz="3600" dirty="0">
                <a:latin typeface="Symbol" panose="05050102010706020507" pitchFamily="18" charset="2"/>
                <a:sym typeface="Symbol" panose="05050102010706020507" pitchFamily="18" charset="2"/>
              </a:rPr>
              <a:t></a:t>
            </a:r>
            <a:r>
              <a:rPr lang="en-US" sz="3600" dirty="0"/>
              <a:t> T			</a:t>
            </a:r>
            <a:r>
              <a:rPr lang="en-US" sz="3600" dirty="0" smtClean="0"/>
              <a:t>                      Identity</a:t>
            </a:r>
            <a:endParaRPr lang="en-US" sz="3600" dirty="0"/>
          </a:p>
          <a:p>
            <a:pPr>
              <a:lnSpc>
                <a:spcPct val="90000"/>
              </a:lnSpc>
            </a:pP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348375">
            <a:off x="13912460" y="746695"/>
            <a:ext cx="4612311" cy="1232745"/>
          </a:xfrm>
          <a:custGeom>
            <a:avLst/>
            <a:gdLst/>
            <a:ahLst/>
            <a:cxnLst/>
            <a:rect l="l" t="t" r="r" b="b"/>
            <a:pathLst>
              <a:path w="4612311" h="1232745">
                <a:moveTo>
                  <a:pt x="0" y="0"/>
                </a:moveTo>
                <a:lnTo>
                  <a:pt x="4612311" y="0"/>
                </a:lnTo>
                <a:lnTo>
                  <a:pt x="4612311" y="1232745"/>
                </a:lnTo>
                <a:lnTo>
                  <a:pt x="0" y="12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88786">
            <a:off x="15470324" y="4050942"/>
            <a:ext cx="2765850" cy="774438"/>
          </a:xfrm>
          <a:custGeom>
            <a:avLst/>
            <a:gdLst/>
            <a:ahLst/>
            <a:cxnLst/>
            <a:rect l="l" t="t" r="r" b="b"/>
            <a:pathLst>
              <a:path w="2765850" h="774438">
                <a:moveTo>
                  <a:pt x="0" y="0"/>
                </a:moveTo>
                <a:lnTo>
                  <a:pt x="2765850" y="0"/>
                </a:lnTo>
                <a:lnTo>
                  <a:pt x="2765850" y="774438"/>
                </a:lnTo>
                <a:lnTo>
                  <a:pt x="0" y="77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79167">
            <a:off x="15398494" y="6337808"/>
            <a:ext cx="2417976" cy="3418732"/>
          </a:xfrm>
          <a:custGeom>
            <a:avLst/>
            <a:gdLst/>
            <a:ahLst/>
            <a:cxnLst/>
            <a:rect l="l" t="t" r="r" b="b"/>
            <a:pathLst>
              <a:path w="2417976" h="3418732">
                <a:moveTo>
                  <a:pt x="0" y="0"/>
                </a:moveTo>
                <a:lnTo>
                  <a:pt x="2417976" y="0"/>
                </a:lnTo>
                <a:lnTo>
                  <a:pt x="2417976" y="3418732"/>
                </a:lnTo>
                <a:lnTo>
                  <a:pt x="0" y="34187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448923">
            <a:off x="9166964" y="9493919"/>
            <a:ext cx="3657600" cy="591866"/>
          </a:xfrm>
          <a:custGeom>
            <a:avLst/>
            <a:gdLst/>
            <a:ahLst/>
            <a:cxnLst/>
            <a:rect l="l" t="t" r="r" b="b"/>
            <a:pathLst>
              <a:path w="3657600" h="591866">
                <a:moveTo>
                  <a:pt x="0" y="0"/>
                </a:moveTo>
                <a:lnTo>
                  <a:pt x="3657600" y="0"/>
                </a:lnTo>
                <a:lnTo>
                  <a:pt x="3657600" y="591866"/>
                </a:lnTo>
                <a:lnTo>
                  <a:pt x="0" y="591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52242">
            <a:off x="4147272" y="9233188"/>
            <a:ext cx="2202626" cy="1113327"/>
          </a:xfrm>
          <a:custGeom>
            <a:avLst/>
            <a:gdLst/>
            <a:ahLst/>
            <a:cxnLst/>
            <a:rect l="l" t="t" r="r" b="b"/>
            <a:pathLst>
              <a:path w="2202626" h="1113327">
                <a:moveTo>
                  <a:pt x="0" y="0"/>
                </a:moveTo>
                <a:lnTo>
                  <a:pt x="2202627" y="0"/>
                </a:lnTo>
                <a:lnTo>
                  <a:pt x="2202627" y="1113328"/>
                </a:lnTo>
                <a:lnTo>
                  <a:pt x="0" y="1113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726" y="7850316"/>
            <a:ext cx="2907107" cy="2436684"/>
          </a:xfrm>
          <a:custGeom>
            <a:avLst/>
            <a:gdLst/>
            <a:ahLst/>
            <a:cxnLst/>
            <a:rect l="l" t="t" r="r" b="b"/>
            <a:pathLst>
              <a:path w="2907107" h="2436684">
                <a:moveTo>
                  <a:pt x="0" y="0"/>
                </a:moveTo>
                <a:lnTo>
                  <a:pt x="2907106" y="0"/>
                </a:lnTo>
                <a:lnTo>
                  <a:pt x="2907106" y="2436684"/>
                </a:lnTo>
                <a:lnTo>
                  <a:pt x="0" y="2436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469522">
            <a:off x="72422" y="483703"/>
            <a:ext cx="3237745" cy="2713819"/>
          </a:xfrm>
          <a:custGeom>
            <a:avLst/>
            <a:gdLst/>
            <a:ahLst/>
            <a:cxnLst/>
            <a:rect l="l" t="t" r="r" b="b"/>
            <a:pathLst>
              <a:path w="3237745" h="2713819">
                <a:moveTo>
                  <a:pt x="0" y="0"/>
                </a:moveTo>
                <a:lnTo>
                  <a:pt x="3237745" y="0"/>
                </a:lnTo>
                <a:lnTo>
                  <a:pt x="3237745" y="2713819"/>
                </a:lnTo>
                <a:lnTo>
                  <a:pt x="0" y="27138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82594">
            <a:off x="105688" y="4837146"/>
            <a:ext cx="2721455" cy="1484430"/>
          </a:xfrm>
          <a:custGeom>
            <a:avLst/>
            <a:gdLst/>
            <a:ahLst/>
            <a:cxnLst/>
            <a:rect l="l" t="t" r="r" b="b"/>
            <a:pathLst>
              <a:path w="2721455" h="1484430">
                <a:moveTo>
                  <a:pt x="0" y="0"/>
                </a:moveTo>
                <a:lnTo>
                  <a:pt x="2721456" y="0"/>
                </a:lnTo>
                <a:lnTo>
                  <a:pt x="2721456" y="1484430"/>
                </a:lnTo>
                <a:lnTo>
                  <a:pt x="0" y="14844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630262">
            <a:off x="4728194" y="-1028700"/>
            <a:ext cx="2486967" cy="2057400"/>
          </a:xfrm>
          <a:custGeom>
            <a:avLst/>
            <a:gdLst/>
            <a:ahLst/>
            <a:cxnLst/>
            <a:rect l="l" t="t" r="r" b="b"/>
            <a:pathLst>
              <a:path w="2486967" h="2057400">
                <a:moveTo>
                  <a:pt x="0" y="0"/>
                </a:moveTo>
                <a:lnTo>
                  <a:pt x="2486967" y="0"/>
                </a:lnTo>
                <a:lnTo>
                  <a:pt x="248696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206619">
            <a:off x="9784552" y="-834551"/>
            <a:ext cx="1628124" cy="2681043"/>
          </a:xfrm>
          <a:custGeom>
            <a:avLst/>
            <a:gdLst/>
            <a:ahLst/>
            <a:cxnLst/>
            <a:rect l="l" t="t" r="r" b="b"/>
            <a:pathLst>
              <a:path w="1628124" h="2681043">
                <a:moveTo>
                  <a:pt x="0" y="0"/>
                </a:moveTo>
                <a:lnTo>
                  <a:pt x="1628124" y="0"/>
                </a:lnTo>
                <a:lnTo>
                  <a:pt x="1628124" y="2681043"/>
                </a:lnTo>
                <a:lnTo>
                  <a:pt x="0" y="268104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28700" y="1028700"/>
            <a:ext cx="16243860" cy="8039958"/>
            <a:chOff x="0" y="0"/>
            <a:chExt cx="3538556" cy="17514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38556" cy="1751421"/>
            </a:xfrm>
            <a:custGeom>
              <a:avLst/>
              <a:gdLst/>
              <a:ahLst/>
              <a:cxnLst/>
              <a:rect l="l" t="t" r="r" b="b"/>
              <a:pathLst>
                <a:path w="3538556" h="1751421">
                  <a:moveTo>
                    <a:pt x="24307" y="0"/>
                  </a:moveTo>
                  <a:lnTo>
                    <a:pt x="3514249" y="0"/>
                  </a:lnTo>
                  <a:cubicBezTo>
                    <a:pt x="3520696" y="0"/>
                    <a:pt x="3526878" y="2561"/>
                    <a:pt x="3531436" y="7119"/>
                  </a:cubicBezTo>
                  <a:cubicBezTo>
                    <a:pt x="3535995" y="11678"/>
                    <a:pt x="3538556" y="17860"/>
                    <a:pt x="3538556" y="24307"/>
                  </a:cubicBezTo>
                  <a:lnTo>
                    <a:pt x="3538556" y="1727114"/>
                  </a:lnTo>
                  <a:cubicBezTo>
                    <a:pt x="3538556" y="1740539"/>
                    <a:pt x="3527673" y="1751421"/>
                    <a:pt x="3514249" y="1751421"/>
                  </a:cubicBezTo>
                  <a:lnTo>
                    <a:pt x="24307" y="1751421"/>
                  </a:lnTo>
                  <a:cubicBezTo>
                    <a:pt x="10883" y="1751421"/>
                    <a:pt x="0" y="1740539"/>
                    <a:pt x="0" y="1727114"/>
                  </a:cubicBezTo>
                  <a:lnTo>
                    <a:pt x="0" y="24307"/>
                  </a:lnTo>
                  <a:cubicBezTo>
                    <a:pt x="0" y="10883"/>
                    <a:pt x="10883" y="0"/>
                    <a:pt x="24307" y="0"/>
                  </a:cubicBezTo>
                  <a:close/>
                </a:path>
              </a:pathLst>
            </a:custGeom>
            <a:solidFill>
              <a:srgbClr val="FFFFFF"/>
            </a:solidFill>
            <a:ln w="190500" cap="rnd">
              <a:solidFill>
                <a:srgbClr val="082A44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38556" cy="1789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1148" y="2145769"/>
            <a:ext cx="14958964" cy="175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4"/>
              </a:lnSpc>
              <a:spcBef>
                <a:spcPct val="0"/>
              </a:spcBef>
            </a:pPr>
            <a:r>
              <a:rPr lang="en-US" sz="10282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Key Equivalence Laws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1294" y="4594625"/>
            <a:ext cx="3792152" cy="81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2"/>
              </a:lnSpc>
              <a:spcBef>
                <a:spcPct val="0"/>
              </a:spcBef>
            </a:pPr>
            <a:r>
              <a:rPr lang="en-US" sz="475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Identity Law: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73138" y="4594625"/>
            <a:ext cx="4868737" cy="81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2"/>
              </a:lnSpc>
              <a:spcBef>
                <a:spcPct val="0"/>
              </a:spcBef>
            </a:pPr>
            <a:r>
              <a:rPr lang="en-US" sz="475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Domination Law: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31567" y="4594625"/>
            <a:ext cx="4835550" cy="81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2"/>
              </a:lnSpc>
              <a:spcBef>
                <a:spcPct val="0"/>
              </a:spcBef>
            </a:pPr>
            <a:r>
              <a:rPr lang="en-US" sz="475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Idempotent Law: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1294" y="5732445"/>
            <a:ext cx="3792152" cy="1399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190" lvl="1" indent="-437095" algn="l">
              <a:lnSpc>
                <a:spcPts val="5668"/>
              </a:lnSpc>
              <a:buFont typeface="Arial"/>
              <a:buChar char="•"/>
            </a:pPr>
            <a:r>
              <a:rPr lang="en-US" sz="4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P∨F≡P</a:t>
            </a:r>
          </a:p>
          <a:p>
            <a:pPr marL="874190" lvl="1" indent="-437095" algn="l">
              <a:lnSpc>
                <a:spcPts val="5668"/>
              </a:lnSpc>
              <a:buFont typeface="Arial"/>
              <a:buChar char="•"/>
            </a:pPr>
            <a:r>
              <a:rPr lang="en-US" sz="4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P∧T≡P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31567" y="6088194"/>
            <a:ext cx="4835550" cy="68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191" lvl="1" indent="-437095" algn="l">
              <a:lnSpc>
                <a:spcPts val="5668"/>
              </a:lnSpc>
              <a:spcBef>
                <a:spcPct val="0"/>
              </a:spcBef>
              <a:buFont typeface="Arial"/>
              <a:buChar char="•"/>
            </a:pPr>
            <a:r>
              <a:rPr lang="en-US" sz="4049" u="none" strike="noStrike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P∨P≡P, P∧P≡P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73138" y="5732445"/>
            <a:ext cx="4868737" cy="1399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190" lvl="1" indent="-437095" algn="l">
              <a:lnSpc>
                <a:spcPts val="5668"/>
              </a:lnSpc>
              <a:buFont typeface="Arial"/>
              <a:buChar char="•"/>
            </a:pPr>
            <a:r>
              <a:rPr lang="en-US" sz="4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P∨T≡T</a:t>
            </a:r>
          </a:p>
          <a:p>
            <a:pPr marL="874190" lvl="1" indent="-437095" algn="l">
              <a:lnSpc>
                <a:spcPts val="5668"/>
              </a:lnSpc>
              <a:buFont typeface="Arial"/>
              <a:buChar char="•"/>
            </a:pPr>
            <a:r>
              <a:rPr lang="en-US" sz="404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P∧F≡F</a:t>
            </a:r>
          </a:p>
        </p:txBody>
      </p:sp>
      <p:sp>
        <p:nvSpPr>
          <p:cNvPr id="22" name="AutoShape 22"/>
          <p:cNvSpPr/>
          <p:nvPr/>
        </p:nvSpPr>
        <p:spPr>
          <a:xfrm>
            <a:off x="2849568" y="3903903"/>
            <a:ext cx="12568931" cy="0"/>
          </a:xfrm>
          <a:prstGeom prst="line">
            <a:avLst/>
          </a:prstGeom>
          <a:ln w="1238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8288000" cy="10287000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9600" b="1" dirty="0" smtClean="0"/>
              <a:t>THANK YOU</a:t>
            </a:r>
            <a:r>
              <a:rPr lang="en-US" b="1" dirty="0" smtClean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4059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" r="455"/>
          <a:stretch>
            <a:fillRect/>
          </a:stretch>
        </p:blipFill>
        <p:spPr>
          <a:xfrm>
            <a:off x="-27709" y="0"/>
            <a:ext cx="18232582" cy="1028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299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318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Norwester</vt:lpstr>
      <vt:lpstr>Symbol</vt:lpstr>
      <vt:lpstr>Arial</vt:lpstr>
      <vt:lpstr>Wingdings</vt:lpstr>
      <vt:lpstr>Nine by Five</vt:lpstr>
      <vt:lpstr>Calibri</vt:lpstr>
      <vt:lpstr>Glacial Indifference</vt:lpstr>
      <vt:lpstr>Glacial Indifference Bold</vt:lpstr>
      <vt:lpstr>Times New Roman</vt:lpstr>
      <vt:lpstr>Office Theme</vt:lpstr>
      <vt:lpstr>Presentation Topic: Propositional Equivalence Identity Prove Tautology Using Equivalence Identity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Equivalence</dc:title>
  <cp:lastModifiedBy>Safi</cp:lastModifiedBy>
  <cp:revision>10</cp:revision>
  <dcterms:created xsi:type="dcterms:W3CDTF">2006-08-16T00:00:00Z</dcterms:created>
  <dcterms:modified xsi:type="dcterms:W3CDTF">2025-08-21T06:19:21Z</dcterms:modified>
  <dc:identifier>DAGwbD1Ao9k</dc:identifier>
</cp:coreProperties>
</file>