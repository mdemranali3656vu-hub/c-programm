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1"/>
  </p:sldMasterIdLst>
  <p:sldIdLst>
    <p:sldId id="257" r:id="rId2"/>
    <p:sldId id="261" r:id="rId3"/>
    <p:sldId id="258" r:id="rId4"/>
    <p:sldId id="260" r:id="rId5"/>
    <p:sldId id="259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3EBB-9A2F-4BA9-9D6A-ED6C4FCF0156}" type="datetimeFigureOut">
              <a:rPr lang="en-GB" smtClean="0"/>
              <a:t>09/09/2025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225D-F766-4A22-9D93-B7ED8EFFA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111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3EBB-9A2F-4BA9-9D6A-ED6C4FCF0156}" type="datetimeFigureOut">
              <a:rPr lang="en-GB" smtClean="0"/>
              <a:t>09/09/2025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225D-F766-4A22-9D93-B7ED8EFFA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8609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3EBB-9A2F-4BA9-9D6A-ED6C4FCF0156}" type="datetimeFigureOut">
              <a:rPr lang="en-GB" smtClean="0"/>
              <a:t>09/09/2025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225D-F766-4A22-9D93-B7ED8EFFA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214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3EBB-9A2F-4BA9-9D6A-ED6C4FCF0156}" type="datetimeFigureOut">
              <a:rPr lang="en-GB" smtClean="0"/>
              <a:t>09/09/2025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225D-F766-4A22-9D93-B7ED8EFFA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549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3EBB-9A2F-4BA9-9D6A-ED6C4FCF0156}" type="datetimeFigureOut">
              <a:rPr lang="en-GB" smtClean="0"/>
              <a:t>09/09/2025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225D-F766-4A22-9D93-B7ED8EFFA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179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3EBB-9A2F-4BA9-9D6A-ED6C4FCF0156}" type="datetimeFigureOut">
              <a:rPr lang="en-GB" smtClean="0"/>
              <a:t>09/09/2025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225D-F766-4A22-9D93-B7ED8EFFA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50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3EBB-9A2F-4BA9-9D6A-ED6C4FCF0156}" type="datetimeFigureOut">
              <a:rPr lang="en-GB" smtClean="0"/>
              <a:t>09/09/2025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225D-F766-4A22-9D93-B7ED8EFFA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0967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3EBB-9A2F-4BA9-9D6A-ED6C4FCF0156}" type="datetimeFigureOut">
              <a:rPr lang="en-GB" smtClean="0"/>
              <a:t>09/09/2025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225D-F766-4A22-9D93-B7ED8EFFA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7785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3EBB-9A2F-4BA9-9D6A-ED6C4FCF0156}" type="datetimeFigureOut">
              <a:rPr lang="en-GB" smtClean="0"/>
              <a:t>09/09/2025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225D-F766-4A22-9D93-B7ED8EFFA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731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3EBB-9A2F-4BA9-9D6A-ED6C4FCF0156}" type="datetimeFigureOut">
              <a:rPr lang="en-GB" smtClean="0"/>
              <a:t>09/09/2025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225D-F766-4A22-9D93-B7ED8EFFA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751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3EBB-9A2F-4BA9-9D6A-ED6C4FCF0156}" type="datetimeFigureOut">
              <a:rPr lang="en-GB" smtClean="0"/>
              <a:t>09/09/2025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225D-F766-4A22-9D93-B7ED8EFFA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639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3EBB-9A2F-4BA9-9D6A-ED6C4FCF0156}" type="datetimeFigureOut">
              <a:rPr lang="en-GB" smtClean="0"/>
              <a:t>09/09/2025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225D-F766-4A22-9D93-B7ED8EFFA730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1121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3EBB-9A2F-4BA9-9D6A-ED6C4FCF0156}" type="datetimeFigureOut">
              <a:rPr lang="en-GB" smtClean="0"/>
              <a:t>09/09/2025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225D-F766-4A22-9D93-B7ED8EFFA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8197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3EBB-9A2F-4BA9-9D6A-ED6C4FCF0156}" type="datetimeFigureOut">
              <a:rPr lang="en-GB" smtClean="0"/>
              <a:t>09/09/2025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225D-F766-4A22-9D93-B7ED8EFFA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991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3EBB-9A2F-4BA9-9D6A-ED6C4FCF0156}" type="datetimeFigureOut">
              <a:rPr lang="en-GB" smtClean="0"/>
              <a:t>09/09/2025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225D-F766-4A22-9D93-B7ED8EFFA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51305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3EBB-9A2F-4BA9-9D6A-ED6C4FCF0156}" type="datetimeFigureOut">
              <a:rPr lang="en-GB" smtClean="0"/>
              <a:t>09/09/2025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225D-F766-4A22-9D93-B7ED8EFFA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43217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3EBB-9A2F-4BA9-9D6A-ED6C4FCF0156}" type="datetimeFigureOut">
              <a:rPr lang="en-GB" smtClean="0"/>
              <a:t>09/09/2025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225D-F766-4A22-9D93-B7ED8EFFA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33725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3EBB-9A2F-4BA9-9D6A-ED6C4FCF0156}" type="datetimeFigureOut">
              <a:rPr lang="en-GB" smtClean="0"/>
              <a:t>09/09/2025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225D-F766-4A22-9D93-B7ED8EFFA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762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CA03EBB-9A2F-4BA9-9D6A-ED6C4FCF0156}" type="datetimeFigureOut">
              <a:rPr lang="en-GB" smtClean="0"/>
              <a:t>09/09/2025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A15225D-F766-4A22-9D93-B7ED8EFFA7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847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4" r:id="rId1"/>
    <p:sldLayoutId id="2147484115" r:id="rId2"/>
    <p:sldLayoutId id="2147484116" r:id="rId3"/>
    <p:sldLayoutId id="2147484117" r:id="rId4"/>
    <p:sldLayoutId id="2147484118" r:id="rId5"/>
    <p:sldLayoutId id="2147484119" r:id="rId6"/>
    <p:sldLayoutId id="2147484120" r:id="rId7"/>
    <p:sldLayoutId id="2147484121" r:id="rId8"/>
    <p:sldLayoutId id="2147484122" r:id="rId9"/>
    <p:sldLayoutId id="2147484123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393BC-992C-5DB0-4304-9D79A1971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3406" y="713987"/>
            <a:ext cx="10757061" cy="1641490"/>
          </a:xfrm>
        </p:spPr>
        <p:txBody>
          <a:bodyPr>
            <a:normAutofit fontScale="90000"/>
          </a:bodyPr>
          <a:lstStyle/>
          <a:p>
            <a:r>
              <a:rPr lang="en-GB" sz="4000" b="1" i="1" dirty="0">
                <a:solidFill>
                  <a:schemeClr val="accent1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Example of conversation sentence into logical expression and vice versa using predicate and quantifiers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F03FE-4D25-7F26-6E05-0C63D9243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0" y="2600625"/>
            <a:ext cx="11201399" cy="3289898"/>
          </a:xfrm>
        </p:spPr>
        <p:txBody>
          <a:bodyPr/>
          <a:lstStyle/>
          <a:p>
            <a: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 : DISCRETE MATHEMATHCS</a:t>
            </a:r>
            <a:b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 :CSE 1203</a:t>
            </a:r>
            <a:endParaRPr lang="en-GB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0368BB4-20C1-BB2D-F144-89E5FD345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157559"/>
              </p:ext>
            </p:extLst>
          </p:nvPr>
        </p:nvGraphicFramePr>
        <p:xfrm>
          <a:off x="1013409" y="3453189"/>
          <a:ext cx="10757058" cy="25330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8323">
                  <a:extLst>
                    <a:ext uri="{9D8B030D-6E8A-4147-A177-3AD203B41FA5}">
                      <a16:colId xmlns:a16="http://schemas.microsoft.com/office/drawing/2014/main" val="3259252872"/>
                    </a:ext>
                  </a:extLst>
                </a:gridCol>
                <a:gridCol w="3244144">
                  <a:extLst>
                    <a:ext uri="{9D8B030D-6E8A-4147-A177-3AD203B41FA5}">
                      <a16:colId xmlns:a16="http://schemas.microsoft.com/office/drawing/2014/main" val="3081173320"/>
                    </a:ext>
                  </a:extLst>
                </a:gridCol>
                <a:gridCol w="2291099">
                  <a:extLst>
                    <a:ext uri="{9D8B030D-6E8A-4147-A177-3AD203B41FA5}">
                      <a16:colId xmlns:a16="http://schemas.microsoft.com/office/drawing/2014/main" val="1393686040"/>
                    </a:ext>
                  </a:extLst>
                </a:gridCol>
                <a:gridCol w="3803492">
                  <a:extLst>
                    <a:ext uri="{9D8B030D-6E8A-4147-A177-3AD203B41FA5}">
                      <a16:colId xmlns:a16="http://schemas.microsoft.com/office/drawing/2014/main" val="3732615910"/>
                    </a:ext>
                  </a:extLst>
                </a:gridCol>
              </a:tblGrid>
              <a:tr h="67354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</a:t>
                      </a:r>
                      <a:endParaRPr lang="en-GB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b="1" i="0" dirty="0" err="1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Sarnaly</a:t>
                      </a:r>
                      <a:r>
                        <a:rPr lang="en-US" b="1" i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Roy</a:t>
                      </a:r>
                      <a:endParaRPr lang="en-GB" b="1" i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 TEACHER</a:t>
                      </a:r>
                      <a:endParaRPr lang="en-GB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SANJOY KUMAR CHAKRAVARTY</a:t>
                      </a:r>
                      <a:endParaRPr lang="en-GB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586851"/>
                  </a:ext>
                </a:extLst>
              </a:tr>
              <a:tr h="40648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GB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251311036</a:t>
                      </a:r>
                      <a:endParaRPr lang="en-GB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DEGINATION</a:t>
                      </a:r>
                      <a:endParaRPr lang="en-GB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ASSOCIATE PROFESOR</a:t>
                      </a:r>
                      <a:endParaRPr lang="en-GB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62792"/>
                  </a:ext>
                </a:extLst>
              </a:tr>
              <a:tr h="40648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SEMESTER</a:t>
                      </a:r>
                      <a:endParaRPr lang="en-GB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2ND</a:t>
                      </a:r>
                      <a:endParaRPr lang="en-GB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</a:t>
                      </a:r>
                      <a:endParaRPr lang="en-GB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CSE</a:t>
                      </a:r>
                      <a:endParaRPr lang="en-GB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039445"/>
                  </a:ext>
                </a:extLst>
              </a:tr>
              <a:tr h="40648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GB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</a:t>
                      </a:r>
                      <a:endParaRPr lang="en-GB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UNIVERSITY OF RAJSHAHI</a:t>
                      </a:r>
                      <a:endParaRPr lang="en-GB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833493"/>
                  </a:ext>
                </a:extLst>
              </a:tr>
              <a:tr h="40648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BATCH</a:t>
                      </a:r>
                      <a:endParaRPr lang="en-GB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: 36TH</a:t>
                      </a:r>
                      <a:endParaRPr lang="en-GB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30310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ED581F6-A4D7-987A-72E1-A33193874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240216"/>
              </p:ext>
            </p:extLst>
          </p:nvPr>
        </p:nvGraphicFramePr>
        <p:xfrm>
          <a:off x="1013407" y="5986271"/>
          <a:ext cx="977207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86036">
                  <a:extLst>
                    <a:ext uri="{9D8B030D-6E8A-4147-A177-3AD203B41FA5}">
                      <a16:colId xmlns:a16="http://schemas.microsoft.com/office/drawing/2014/main" val="1489139796"/>
                    </a:ext>
                  </a:extLst>
                </a:gridCol>
                <a:gridCol w="4886036">
                  <a:extLst>
                    <a:ext uri="{9D8B030D-6E8A-4147-A177-3AD203B41FA5}">
                      <a16:colId xmlns:a16="http://schemas.microsoft.com/office/drawing/2014/main" val="3838406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VARENDEA UNIVERSITY</a:t>
                      </a:r>
                      <a:endParaRPr lang="en-GB" sz="1600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724129"/>
                  </a:ext>
                </a:extLst>
              </a:tr>
            </a:tbl>
          </a:graphicData>
        </a:graphic>
      </p:graphicFrame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E801AAC-440C-EAAD-756C-E5B92AB2D869}"/>
              </a:ext>
            </a:extLst>
          </p:cNvPr>
          <p:cNvSpPr txBox="1">
            <a:spLocks/>
          </p:cNvSpPr>
          <p:nvPr/>
        </p:nvSpPr>
        <p:spPr>
          <a:xfrm>
            <a:off x="1013409" y="2405169"/>
            <a:ext cx="10363826" cy="342410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-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407389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B650D-255D-C338-79AA-2AD1AB7AA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513" y="466957"/>
            <a:ext cx="8534400" cy="595225"/>
          </a:xfrm>
        </p:spPr>
        <p:txBody>
          <a:bodyPr>
            <a:normAutofit fontScale="90000"/>
          </a:bodyPr>
          <a:lstStyle/>
          <a:p>
            <a:r>
              <a:rPr lang="en-GB" sz="36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FEF13-D7AA-BBE7-8C2E-E87B5FC2A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8081" y="563418"/>
            <a:ext cx="11935838" cy="59389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9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Predicate:</a:t>
            </a:r>
            <a:endParaRPr lang="en-GB" sz="39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2400" b="1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predicate is a statement with variables that becomes either true or false when specific values are substituted for those variables</a:t>
            </a:r>
            <a:r>
              <a:rPr lang="en-GB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GB" sz="36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Quantifiers:</a:t>
            </a:r>
            <a:endParaRPr lang="en-GB" sz="3600" dirty="0"/>
          </a:p>
          <a:p>
            <a:pPr marL="0" indent="0">
              <a:buNone/>
            </a:pPr>
            <a:r>
              <a:rPr lang="en-GB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GB" sz="2400" b="1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uantifiers are symbol that tell us how many elements satisfy a predicate.</a:t>
            </a:r>
          </a:p>
          <a:p>
            <a:pPr marL="0" indent="0">
              <a:buNone/>
            </a:pPr>
            <a:r>
              <a:rPr lang="en-GB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400" b="1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short , predicates assign properties to variables, and quantifiers specify whether a predicate applies to all or some variables in a domain.</a:t>
            </a:r>
          </a:p>
          <a:p>
            <a:pPr marL="0" indent="0">
              <a:buNone/>
            </a:pP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0708193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F14A9-D180-E22A-0C3D-239FB7EEA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Rockwell" panose="02060603020205020403" pitchFamily="18" charset="0"/>
              </a:rPr>
              <a:t>Quantifiers Type:</a:t>
            </a:r>
            <a:endParaRPr lang="en-GB" sz="4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312C2-0905-5E35-85AB-DAEEB11BB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2324890"/>
            <a:ext cx="10364452" cy="3424107"/>
          </a:xfrm>
        </p:spPr>
        <p:txBody>
          <a:bodyPr>
            <a:normAutofit/>
          </a:bodyPr>
          <a:lstStyle/>
          <a:p>
            <a:pPr marL="457200" lvl="1" indent="-4572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quantifiers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-4572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universal quantifier</a:t>
            </a:r>
          </a:p>
          <a:p>
            <a:pPr marL="457200" lvl="1" indent="-4572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existential quantifier </a:t>
            </a:r>
          </a:p>
          <a:p>
            <a:pPr marL="457200" lvl="1" indent="-4572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7174878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26B49-1167-A542-F048-41CA4B1C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393895"/>
            <a:ext cx="10364450" cy="990805"/>
          </a:xfrm>
        </p:spPr>
        <p:txBody>
          <a:bodyPr/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73E4E-AEF1-8DC9-F454-638FAAFEF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3" y="1384700"/>
            <a:ext cx="10364452" cy="503623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4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100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universal quantifier:</a:t>
            </a:r>
          </a:p>
          <a:p>
            <a:pPr marL="0" indent="0">
              <a:buNone/>
            </a:pPr>
            <a:r>
              <a:rPr lang="en-US" sz="3600" dirty="0"/>
              <a:t>T</a:t>
            </a:r>
            <a:r>
              <a:rPr lang="en-US" sz="3600" cap="none" dirty="0"/>
              <a:t>he universal quantification of p(x) is the </a:t>
            </a:r>
            <a:r>
              <a:rPr lang="en-US" sz="3600" cap="none" dirty="0" err="1"/>
              <a:t>statement"p</a:t>
            </a:r>
            <a:r>
              <a:rPr lang="en-US" sz="3600" cap="none" dirty="0"/>
              <a:t>(x) for all values of x in the </a:t>
            </a:r>
            <a:r>
              <a:rPr lang="en-US" sz="3600" cap="none" dirty="0" err="1"/>
              <a:t>domain."the</a:t>
            </a:r>
            <a:r>
              <a:rPr lang="en-US" sz="3600" cap="none" dirty="0"/>
              <a:t> notation </a:t>
            </a:r>
            <a:r>
              <a:rPr lang="en-US" sz="3600" cap="none" dirty="0" err="1"/>
              <a:t>vx</a:t>
            </a:r>
            <a:r>
              <a:rPr lang="en-US" sz="3600" cap="none" dirty="0"/>
              <a:t> p(x) denotes the universal quantification of p(x). here v is called the universal quantifier.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100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existential quantifier:</a:t>
            </a:r>
          </a:p>
          <a:p>
            <a:pPr marL="0" indent="0">
              <a:buNone/>
            </a:pPr>
            <a:r>
              <a:rPr lang="en-US" sz="4000" dirty="0"/>
              <a:t>T</a:t>
            </a:r>
            <a:r>
              <a:rPr lang="en-US" sz="4000" cap="none" dirty="0"/>
              <a:t>he existential quantification of p(x) is the </a:t>
            </a:r>
            <a:r>
              <a:rPr lang="en-US" sz="4000" cap="none" dirty="0" err="1"/>
              <a:t>proposition"there</a:t>
            </a:r>
            <a:r>
              <a:rPr lang="en-US" sz="4000" cap="none" dirty="0"/>
              <a:t> exists an element x in the domain such that p(x)."we use the notation x p(x) for the existential quantification of p(x). here is called the existential quantifier.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6393728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3C600-4170-ED3A-27A8-9744C6386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Conversion sentence to Logical Expression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B16BC-131E-7C7F-74BC-26BD32B2F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 All humans are mortal.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837FDF-FC41-4E1F-B293-5BDCD8087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4228" y="3429000"/>
            <a:ext cx="757290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Predicate: S(x): x is a student, I(x): x is intelligent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Expression: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∃x (S(x) ∧ I(x))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1499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84A06-4C6F-F7A6-1295-CF9EC00A3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GB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35482-C681-42F3-1E29-C8847C8F8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Predicate Logic bridges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reasoning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 proofs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(AI, databases, programming)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Philosophy &amp; linguistics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Practice: Convert everyday statements into logic expressions</a:t>
            </a:r>
          </a:p>
        </p:txBody>
      </p:sp>
    </p:spTree>
    <p:extLst>
      <p:ext uri="{BB962C8B-B14F-4D97-AF65-F5344CB8AC3E}">
        <p14:creationId xmlns:p14="http://schemas.microsoft.com/office/powerpoint/2010/main" val="23634502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6D583-44E3-FE02-B768-94D584601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4526" y="3777214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Algerian" panose="04020705040A02060702" pitchFamily="82" charset="0"/>
              </a:rPr>
              <a:t>                          the end</a:t>
            </a:r>
            <a:endParaRPr lang="en-GB" sz="4000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9BC76-9D24-19EF-9AC1-60CF68BD7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4526" y="656617"/>
            <a:ext cx="8534400" cy="361526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sz="8800" dirty="0">
                <a:latin typeface="Algerian" panose="04020705040A02060702" pitchFamily="82" charset="0"/>
              </a:rPr>
              <a:t>Thank you</a:t>
            </a:r>
            <a:endParaRPr lang="en-GB" sz="88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824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89</TotalTime>
  <Words>337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Algerian</vt:lpstr>
      <vt:lpstr>Arial</vt:lpstr>
      <vt:lpstr>Rockwell</vt:lpstr>
      <vt:lpstr>Times New Roman</vt:lpstr>
      <vt:lpstr>Tw Cen MT</vt:lpstr>
      <vt:lpstr>Wingdings</vt:lpstr>
      <vt:lpstr>Droplet</vt:lpstr>
      <vt:lpstr>Example of conversation sentence into logical expression and vice versa using predicate and quantifiers</vt:lpstr>
      <vt:lpstr>                      </vt:lpstr>
      <vt:lpstr>Quantifiers Type:</vt:lpstr>
      <vt:lpstr>Definition</vt:lpstr>
      <vt:lpstr>Conversion sentence to Logical Expression</vt:lpstr>
      <vt:lpstr>Conclusion</vt:lpstr>
      <vt:lpstr>                          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of conversation sentence into logical expression and vice versa using predicate and quantifiers</dc:title>
  <dc:creator>Mehedi Hasan Sajib</dc:creator>
  <cp:lastModifiedBy>DIP</cp:lastModifiedBy>
  <cp:revision>10</cp:revision>
  <dcterms:created xsi:type="dcterms:W3CDTF">2025-09-08T19:28:15Z</dcterms:created>
  <dcterms:modified xsi:type="dcterms:W3CDTF">2025-09-08T21:49:35Z</dcterms:modified>
</cp:coreProperties>
</file>