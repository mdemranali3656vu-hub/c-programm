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re Bandi" charset="1" panose="01060506000000020004"/>
      <p:regular r:id="rId16"/>
    </p:embeddedFont>
    <p:embeddedFont>
      <p:font typeface="Core Bandi Face" charset="1" panose="01060506000000020004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59720">
            <a:off x="1578254" y="5809598"/>
            <a:ext cx="688294" cy="4114800"/>
          </a:xfrm>
          <a:custGeom>
            <a:avLst/>
            <a:gdLst/>
            <a:ahLst/>
            <a:cxnLst/>
            <a:rect r="r" b="b" t="t" l="l"/>
            <a:pathLst>
              <a:path h="4114800" w="688294">
                <a:moveTo>
                  <a:pt x="0" y="0"/>
                </a:moveTo>
                <a:lnTo>
                  <a:pt x="688294" y="0"/>
                </a:lnTo>
                <a:lnTo>
                  <a:pt x="688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0" t="0" r="-51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39636">
            <a:off x="15089758" y="582870"/>
            <a:ext cx="3221967" cy="3233726"/>
          </a:xfrm>
          <a:custGeom>
            <a:avLst/>
            <a:gdLst/>
            <a:ahLst/>
            <a:cxnLst/>
            <a:rect r="r" b="b" t="t" l="l"/>
            <a:pathLst>
              <a:path h="3233726" w="3221967">
                <a:moveTo>
                  <a:pt x="0" y="0"/>
                </a:moveTo>
                <a:lnTo>
                  <a:pt x="3221967" y="0"/>
                </a:lnTo>
                <a:lnTo>
                  <a:pt x="3221967" y="3233726"/>
                </a:lnTo>
                <a:lnTo>
                  <a:pt x="0" y="3233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2" t="0" r="-1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0588" y="2548673"/>
            <a:ext cx="18589176" cy="5189654"/>
          </a:xfrm>
          <a:custGeom>
            <a:avLst/>
            <a:gdLst/>
            <a:ahLst/>
            <a:cxnLst/>
            <a:rect r="r" b="b" t="t" l="l"/>
            <a:pathLst>
              <a:path h="5189654" w="18589176">
                <a:moveTo>
                  <a:pt x="0" y="0"/>
                </a:moveTo>
                <a:lnTo>
                  <a:pt x="18589176" y="0"/>
                </a:lnTo>
                <a:lnTo>
                  <a:pt x="18589176" y="5189654"/>
                </a:lnTo>
                <a:lnTo>
                  <a:pt x="0" y="518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042049">
            <a:off x="14527407" y="6395509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7" y="0"/>
                </a:lnTo>
                <a:lnTo>
                  <a:pt x="4137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3" r="0" b="-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3832" y="7200900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24854">
            <a:off x="754573" y="288335"/>
            <a:ext cx="5540149" cy="1480731"/>
          </a:xfrm>
          <a:custGeom>
            <a:avLst/>
            <a:gdLst/>
            <a:ahLst/>
            <a:cxnLst/>
            <a:rect r="r" b="b" t="t" l="l"/>
            <a:pathLst>
              <a:path h="1480731" w="5540149">
                <a:moveTo>
                  <a:pt x="0" y="0"/>
                </a:moveTo>
                <a:lnTo>
                  <a:pt x="5540149" y="0"/>
                </a:lnTo>
                <a:lnTo>
                  <a:pt x="5540149" y="1480731"/>
                </a:lnTo>
                <a:lnTo>
                  <a:pt x="0" y="14807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465" r="0" b="-46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707169">
            <a:off x="7795285" y="-1334188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785" t="0" r="-178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617616"/>
            <a:ext cx="2709839" cy="1640684"/>
          </a:xfrm>
          <a:custGeom>
            <a:avLst/>
            <a:gdLst/>
            <a:ahLst/>
            <a:cxnLst/>
            <a:rect r="r" b="b" t="t" l="l"/>
            <a:pathLst>
              <a:path h="1640684" w="2709839">
                <a:moveTo>
                  <a:pt x="0" y="0"/>
                </a:moveTo>
                <a:lnTo>
                  <a:pt x="2709839" y="0"/>
                </a:lnTo>
                <a:lnTo>
                  <a:pt x="2709839" y="1640684"/>
                </a:lnTo>
                <a:lnTo>
                  <a:pt x="0" y="16406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29" r="0" b="-12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260053">
            <a:off x="10896615" y="383632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18" t="0" r="-11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2443151"/>
            <a:ext cx="18288000" cy="347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33"/>
              </a:lnSpc>
            </a:pPr>
            <a:r>
              <a:rPr lang="en-US" sz="9310" spc="-381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PROPOSITION, CONDITIONAL &amp; BICONDITIONAL PROPOSITIONS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07310" y="5951734"/>
            <a:ext cx="5361298" cy="89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4573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Name: Mohidul Hasan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7310" y="6493816"/>
            <a:ext cx="4752412" cy="89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4573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Id: 251311029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9391" y="5951734"/>
            <a:ext cx="5361298" cy="89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4573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Section: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19391" y="6490360"/>
            <a:ext cx="5361298" cy="89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4573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Batch: 36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15620" y="6545973"/>
            <a:ext cx="380193" cy="50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6"/>
              </a:lnSpc>
            </a:pPr>
            <a:r>
              <a:rPr lang="en-US" sz="2461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49987" y="4339450"/>
            <a:ext cx="14798491" cy="104775"/>
            <a:chOff x="0" y="0"/>
            <a:chExt cx="19731321" cy="139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9850" y="0"/>
              <a:ext cx="19591655" cy="139700"/>
            </a:xfrm>
            <a:custGeom>
              <a:avLst/>
              <a:gdLst/>
              <a:ahLst/>
              <a:cxnLst/>
              <a:rect r="r" b="b" t="t" l="l"/>
              <a:pathLst>
                <a:path h="139700" w="19591655">
                  <a:moveTo>
                    <a:pt x="0" y="0"/>
                  </a:moveTo>
                  <a:lnTo>
                    <a:pt x="19591655" y="0"/>
                  </a:lnTo>
                  <a:lnTo>
                    <a:pt x="19591655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599" y="1176327"/>
            <a:ext cx="15338801" cy="7789686"/>
          </a:xfrm>
          <a:custGeom>
            <a:avLst/>
            <a:gdLst/>
            <a:ahLst/>
            <a:cxnLst/>
            <a:rect r="r" b="b" t="t" l="l"/>
            <a:pathLst>
              <a:path h="7789686" w="15338801">
                <a:moveTo>
                  <a:pt x="0" y="0"/>
                </a:moveTo>
                <a:lnTo>
                  <a:pt x="15338801" y="0"/>
                </a:lnTo>
                <a:lnTo>
                  <a:pt x="15338801" y="7789686"/>
                </a:lnTo>
                <a:lnTo>
                  <a:pt x="0" y="778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38482" y="7200900"/>
            <a:ext cx="6149837" cy="4114800"/>
          </a:xfrm>
          <a:custGeom>
            <a:avLst/>
            <a:gdLst/>
            <a:ahLst/>
            <a:cxnLst/>
            <a:rect r="r" b="b" t="t" l="l"/>
            <a:pathLst>
              <a:path h="4114800" w="6149837">
                <a:moveTo>
                  <a:pt x="0" y="0"/>
                </a:moveTo>
                <a:lnTo>
                  <a:pt x="6149837" y="0"/>
                </a:lnTo>
                <a:lnTo>
                  <a:pt x="614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4" t="0" r="-10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0315" y="2793812"/>
            <a:ext cx="3900631" cy="4886895"/>
          </a:xfrm>
          <a:custGeom>
            <a:avLst/>
            <a:gdLst/>
            <a:ahLst/>
            <a:cxnLst/>
            <a:rect r="r" b="b" t="t" l="l"/>
            <a:pathLst>
              <a:path h="4886895" w="3900631">
                <a:moveTo>
                  <a:pt x="0" y="0"/>
                </a:moveTo>
                <a:lnTo>
                  <a:pt x="3900631" y="0"/>
                </a:lnTo>
                <a:lnTo>
                  <a:pt x="3900631" y="4886895"/>
                </a:lnTo>
                <a:lnTo>
                  <a:pt x="0" y="4886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" r="0" b="-3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325096">
            <a:off x="15714380" y="736412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46952">
            <a:off x="684553" y="-189894"/>
            <a:ext cx="688294" cy="4114800"/>
          </a:xfrm>
          <a:custGeom>
            <a:avLst/>
            <a:gdLst/>
            <a:ahLst/>
            <a:cxnLst/>
            <a:rect r="r" b="b" t="t" l="l"/>
            <a:pathLst>
              <a:path h="4114800" w="688294">
                <a:moveTo>
                  <a:pt x="0" y="0"/>
                </a:moveTo>
                <a:lnTo>
                  <a:pt x="688294" y="0"/>
                </a:lnTo>
                <a:lnTo>
                  <a:pt x="688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10" t="0" r="-51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818898">
            <a:off x="3120474" y="7200900"/>
            <a:ext cx="1885327" cy="4114800"/>
          </a:xfrm>
          <a:custGeom>
            <a:avLst/>
            <a:gdLst/>
            <a:ahLst/>
            <a:cxnLst/>
            <a:rect r="r" b="b" t="t" l="l"/>
            <a:pathLst>
              <a:path h="4114800" w="1885327">
                <a:moveTo>
                  <a:pt x="0" y="0"/>
                </a:moveTo>
                <a:lnTo>
                  <a:pt x="1885327" y="0"/>
                </a:lnTo>
                <a:lnTo>
                  <a:pt x="18853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53" t="0" r="-15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3794" y="1762043"/>
            <a:ext cx="15160411" cy="16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5"/>
              </a:lnSpc>
            </a:pPr>
            <a:r>
              <a:rPr lang="en-US" sz="8482" spc="-346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INTRODUCTION TO PROPOSITIONS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3794" y="3613195"/>
            <a:ext cx="15160411" cy="426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 proposition is a declarative statement that is either true or false, but not both.</a:t>
            </a:r>
          </a:p>
          <a:p>
            <a:pPr algn="l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Examples:</a:t>
            </a:r>
          </a:p>
          <a:p>
            <a:pPr algn="l" marL="1612587" indent="-403147" lvl="3">
              <a:lnSpc>
                <a:spcPts val="5525"/>
              </a:lnSpc>
              <a:buFont typeface="Arial"/>
              <a:buChar char="￭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“The sky is blue.” ✅ (Proposition)</a:t>
            </a:r>
          </a:p>
          <a:p>
            <a:pPr algn="l" marL="1612587" indent="-403147" lvl="3">
              <a:lnSpc>
                <a:spcPts val="5525"/>
              </a:lnSpc>
              <a:buFont typeface="Arial"/>
              <a:buChar char="￭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“Close the door.” ❌ (Not a proposition)</a:t>
            </a:r>
          </a:p>
          <a:p>
            <a:pPr algn="l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Used in logic, computer science, and mathematics to build reasoning systems.</a:t>
            </a:r>
          </a:p>
          <a:p>
            <a:pPr algn="l" marL="902349" indent="-300783" lvl="2">
              <a:lnSpc>
                <a:spcPts val="552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599" y="1176327"/>
            <a:ext cx="15338801" cy="7789686"/>
          </a:xfrm>
          <a:custGeom>
            <a:avLst/>
            <a:gdLst/>
            <a:ahLst/>
            <a:cxnLst/>
            <a:rect r="r" b="b" t="t" l="l"/>
            <a:pathLst>
              <a:path h="7789686" w="15338801">
                <a:moveTo>
                  <a:pt x="0" y="0"/>
                </a:moveTo>
                <a:lnTo>
                  <a:pt x="15338801" y="0"/>
                </a:lnTo>
                <a:lnTo>
                  <a:pt x="15338801" y="7789686"/>
                </a:lnTo>
                <a:lnTo>
                  <a:pt x="0" y="778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3794" y="2029869"/>
            <a:ext cx="15160411" cy="162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5"/>
              </a:lnSpc>
            </a:pPr>
            <a:r>
              <a:rPr lang="en-US" sz="8482" spc="-346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TYPES OF PROPOSITIONS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3794" y="4210989"/>
            <a:ext cx="15160411" cy="35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2349" indent="-300783" lvl="2">
              <a:lnSpc>
                <a:spcPts val="5525"/>
              </a:lnSpc>
              <a:buAutoNum type="arabicPeriod" startAt="1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Atomic Proposition → Cannot be broken down.</a:t>
            </a:r>
          </a:p>
          <a:p>
            <a:pPr algn="l" marL="1612587" indent="-403147" lvl="3">
              <a:lnSpc>
                <a:spcPts val="5525"/>
              </a:lnSpc>
              <a:buFont typeface="Arial"/>
              <a:buChar char="￭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Example: “It is raining.”</a:t>
            </a:r>
          </a:p>
          <a:p>
            <a:pPr algn="l" marL="902349" indent="-300783" lvl="2">
              <a:lnSpc>
                <a:spcPts val="5525"/>
              </a:lnSpc>
              <a:buAutoNum type="arabicPeriod" startAt="1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Compound Proposition → Formed using logical connectives.</a:t>
            </a:r>
          </a:p>
          <a:p>
            <a:pPr algn="l" marL="1612587" indent="-403147" lvl="3">
              <a:lnSpc>
                <a:spcPts val="5525"/>
              </a:lnSpc>
              <a:buFont typeface="Arial"/>
              <a:buChar char="￭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Example: “It is raining and it is cold.”</a:t>
            </a:r>
          </a:p>
          <a:p>
            <a:pPr algn="l" marL="1612587" indent="-403147" lvl="3">
              <a:lnSpc>
                <a:spcPts val="552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1836680">
            <a:off x="-677250" y="1409862"/>
            <a:ext cx="2759436" cy="4787666"/>
          </a:xfrm>
          <a:custGeom>
            <a:avLst/>
            <a:gdLst/>
            <a:ahLst/>
            <a:cxnLst/>
            <a:rect r="r" b="b" t="t" l="l"/>
            <a:pathLst>
              <a:path h="4787666" w="2759436">
                <a:moveTo>
                  <a:pt x="0" y="0"/>
                </a:moveTo>
                <a:lnTo>
                  <a:pt x="2759436" y="0"/>
                </a:lnTo>
                <a:lnTo>
                  <a:pt x="2759436" y="4787666"/>
                </a:lnTo>
                <a:lnTo>
                  <a:pt x="0" y="478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7" t="0" r="-1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53160" y="4763584"/>
            <a:ext cx="2269680" cy="5944400"/>
          </a:xfrm>
          <a:custGeom>
            <a:avLst/>
            <a:gdLst/>
            <a:ahLst/>
            <a:cxnLst/>
            <a:rect r="r" b="b" t="t" l="l"/>
            <a:pathLst>
              <a:path h="5944400" w="2269680">
                <a:moveTo>
                  <a:pt x="0" y="0"/>
                </a:moveTo>
                <a:lnTo>
                  <a:pt x="2269680" y="0"/>
                </a:lnTo>
                <a:lnTo>
                  <a:pt x="2269680" y="5944400"/>
                </a:lnTo>
                <a:lnTo>
                  <a:pt x="0" y="594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5" t="0" r="-28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82825">
            <a:off x="14908324" y="1734892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637449">
            <a:off x="2815451" y="-2145218"/>
            <a:ext cx="2027288" cy="4424636"/>
          </a:xfrm>
          <a:custGeom>
            <a:avLst/>
            <a:gdLst/>
            <a:ahLst/>
            <a:cxnLst/>
            <a:rect r="r" b="b" t="t" l="l"/>
            <a:pathLst>
              <a:path h="4424636" w="2027288">
                <a:moveTo>
                  <a:pt x="0" y="0"/>
                </a:moveTo>
                <a:lnTo>
                  <a:pt x="2027288" y="0"/>
                </a:lnTo>
                <a:lnTo>
                  <a:pt x="2027288" y="4424636"/>
                </a:lnTo>
                <a:lnTo>
                  <a:pt x="0" y="4424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1" t="0" r="-2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40427">
            <a:off x="13442722" y="-1446690"/>
            <a:ext cx="688294" cy="4114800"/>
          </a:xfrm>
          <a:custGeom>
            <a:avLst/>
            <a:gdLst/>
            <a:ahLst/>
            <a:cxnLst/>
            <a:rect r="r" b="b" t="t" l="l"/>
            <a:pathLst>
              <a:path h="4114800" w="688294">
                <a:moveTo>
                  <a:pt x="0" y="0"/>
                </a:moveTo>
                <a:lnTo>
                  <a:pt x="688294" y="0"/>
                </a:lnTo>
                <a:lnTo>
                  <a:pt x="688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94" t="0" r="-39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50" t="0" r="-35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605859">
            <a:off x="15502478" y="8082547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4599" y="1176327"/>
            <a:ext cx="15338801" cy="7789686"/>
          </a:xfrm>
          <a:custGeom>
            <a:avLst/>
            <a:gdLst/>
            <a:ahLst/>
            <a:cxnLst/>
            <a:rect r="r" b="b" t="t" l="l"/>
            <a:pathLst>
              <a:path h="7789686" w="15338801">
                <a:moveTo>
                  <a:pt x="0" y="0"/>
                </a:moveTo>
                <a:lnTo>
                  <a:pt x="15338801" y="0"/>
                </a:lnTo>
                <a:lnTo>
                  <a:pt x="15338801" y="7789686"/>
                </a:lnTo>
                <a:lnTo>
                  <a:pt x="0" y="7789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3794" y="2048919"/>
            <a:ext cx="15160411" cy="134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9"/>
              </a:lnSpc>
            </a:pPr>
            <a:r>
              <a:rPr lang="en-US" sz="6784" spc="-278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LOGICAL CONNECTIVES RECAP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3269" y="3832725"/>
            <a:ext cx="6101463" cy="356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¬ (NOT p) → Negation</a:t>
            </a:r>
          </a:p>
          <a:p>
            <a:pPr algn="just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∧ (p AND q) → Conjunction</a:t>
            </a:r>
          </a:p>
          <a:p>
            <a:pPr algn="just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∨ (p OR q) → Disjunction</a:t>
            </a:r>
          </a:p>
          <a:p>
            <a:pPr algn="just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→ (p → q) → Conditional</a:t>
            </a:r>
          </a:p>
          <a:p>
            <a:pPr algn="just" marL="902349" indent="-300783" lvl="2">
              <a:lnSpc>
                <a:spcPts val="5525"/>
              </a:lnSpc>
              <a:buFont typeface="Arial"/>
              <a:buChar char="⚬"/>
            </a:pPr>
            <a:r>
              <a:rPr lang="en-US" sz="3947" spc="-3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↔ (p ↔ q) → Biconditional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" t="0" r="-35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10310" y="1965825"/>
            <a:ext cx="4437529" cy="4114800"/>
          </a:xfrm>
          <a:custGeom>
            <a:avLst/>
            <a:gdLst/>
            <a:ahLst/>
            <a:cxnLst/>
            <a:rect r="r" b="b" t="t" l="l"/>
            <a:pathLst>
              <a:path h="4114800" w="4437529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19" t="0" r="-11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34989">
            <a:off x="15389107" y="979051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770955">
            <a:off x="14794373" y="-1283977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785" t="0" r="-178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31974">
            <a:off x="2752364" y="208358"/>
            <a:ext cx="2709839" cy="1640684"/>
          </a:xfrm>
          <a:custGeom>
            <a:avLst/>
            <a:gdLst/>
            <a:ahLst/>
            <a:cxnLst/>
            <a:rect r="r" b="b" t="t" l="l"/>
            <a:pathLst>
              <a:path h="1640684" w="2709839">
                <a:moveTo>
                  <a:pt x="0" y="0"/>
                </a:moveTo>
                <a:lnTo>
                  <a:pt x="2709839" y="0"/>
                </a:lnTo>
                <a:lnTo>
                  <a:pt x="2709839" y="1640684"/>
                </a:lnTo>
                <a:lnTo>
                  <a:pt x="0" y="16406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29" r="0" b="-1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599" y="1176327"/>
            <a:ext cx="15338801" cy="8485011"/>
          </a:xfrm>
          <a:custGeom>
            <a:avLst/>
            <a:gdLst/>
            <a:ahLst/>
            <a:cxnLst/>
            <a:rect r="r" b="b" t="t" l="l"/>
            <a:pathLst>
              <a:path h="8485011" w="15338801">
                <a:moveTo>
                  <a:pt x="0" y="0"/>
                </a:moveTo>
                <a:lnTo>
                  <a:pt x="15338801" y="0"/>
                </a:lnTo>
                <a:lnTo>
                  <a:pt x="15338801" y="8485011"/>
                </a:lnTo>
                <a:lnTo>
                  <a:pt x="0" y="848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3794" y="1982244"/>
            <a:ext cx="15160411" cy="16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5"/>
              </a:lnSpc>
            </a:pPr>
            <a:r>
              <a:rPr lang="en-US" sz="8482" spc="-346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CONDITIONAL PROPOSITIONS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43725" y="3780817"/>
            <a:ext cx="9243144" cy="491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 conditional proposition has the form: If p, then q (p → q)</a:t>
            </a:r>
          </a:p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p = hypothesis (antecedent)</a:t>
            </a:r>
          </a:p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q = conclusion (consequent)</a:t>
            </a:r>
          </a:p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Example: If it rains, then the ground will be wet.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836680">
            <a:off x="-351018" y="1596534"/>
            <a:ext cx="2759436" cy="4787666"/>
          </a:xfrm>
          <a:custGeom>
            <a:avLst/>
            <a:gdLst/>
            <a:ahLst/>
            <a:cxnLst/>
            <a:rect r="r" b="b" t="t" l="l"/>
            <a:pathLst>
              <a:path h="4787666" w="2759436">
                <a:moveTo>
                  <a:pt x="0" y="0"/>
                </a:moveTo>
                <a:lnTo>
                  <a:pt x="2759436" y="0"/>
                </a:lnTo>
                <a:lnTo>
                  <a:pt x="2759436" y="4787666"/>
                </a:lnTo>
                <a:lnTo>
                  <a:pt x="0" y="478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7" t="0" r="-1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53160" y="4763584"/>
            <a:ext cx="2269680" cy="5944400"/>
          </a:xfrm>
          <a:custGeom>
            <a:avLst/>
            <a:gdLst/>
            <a:ahLst/>
            <a:cxnLst/>
            <a:rect r="r" b="b" t="t" l="l"/>
            <a:pathLst>
              <a:path h="5944400" w="2269680">
                <a:moveTo>
                  <a:pt x="0" y="0"/>
                </a:moveTo>
                <a:lnTo>
                  <a:pt x="2269680" y="0"/>
                </a:lnTo>
                <a:lnTo>
                  <a:pt x="2269680" y="5944400"/>
                </a:lnTo>
                <a:lnTo>
                  <a:pt x="0" y="594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5" t="0" r="-28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82825">
            <a:off x="14908324" y="1734892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637449">
            <a:off x="2863471" y="-1890396"/>
            <a:ext cx="2027288" cy="4424636"/>
          </a:xfrm>
          <a:custGeom>
            <a:avLst/>
            <a:gdLst/>
            <a:ahLst/>
            <a:cxnLst/>
            <a:rect r="r" b="b" t="t" l="l"/>
            <a:pathLst>
              <a:path h="4424636" w="2027288">
                <a:moveTo>
                  <a:pt x="0" y="0"/>
                </a:moveTo>
                <a:lnTo>
                  <a:pt x="2027288" y="0"/>
                </a:lnTo>
                <a:lnTo>
                  <a:pt x="2027288" y="4424636"/>
                </a:lnTo>
                <a:lnTo>
                  <a:pt x="0" y="4424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1" t="0" r="-2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40427">
            <a:off x="13442722" y="-1446690"/>
            <a:ext cx="688294" cy="4114800"/>
          </a:xfrm>
          <a:custGeom>
            <a:avLst/>
            <a:gdLst/>
            <a:ahLst/>
            <a:cxnLst/>
            <a:rect r="r" b="b" t="t" l="l"/>
            <a:pathLst>
              <a:path h="4114800" w="688294">
                <a:moveTo>
                  <a:pt x="0" y="0"/>
                </a:moveTo>
                <a:lnTo>
                  <a:pt x="688294" y="0"/>
                </a:lnTo>
                <a:lnTo>
                  <a:pt x="688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94" t="0" r="-39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50" t="0" r="-35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605859">
            <a:off x="15502478" y="8082547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84039"/>
            <a:ext cx="16230600" cy="8791341"/>
          </a:xfrm>
          <a:custGeom>
            <a:avLst/>
            <a:gdLst/>
            <a:ahLst/>
            <a:cxnLst/>
            <a:rect r="r" b="b" t="t" l="l"/>
            <a:pathLst>
              <a:path h="8791341" w="16230600">
                <a:moveTo>
                  <a:pt x="0" y="0"/>
                </a:moveTo>
                <a:lnTo>
                  <a:pt x="16230600" y="0"/>
                </a:lnTo>
                <a:lnTo>
                  <a:pt x="16230600" y="8791341"/>
                </a:lnTo>
                <a:lnTo>
                  <a:pt x="0" y="879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48388" y="1611629"/>
            <a:ext cx="14191225" cy="140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3"/>
              </a:lnSpc>
            </a:pPr>
            <a:r>
              <a:rPr lang="en-US" sz="7096" spc="-290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TRUTH TABLE OF CONDITIONAL (P → Q)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" t="0" r="-35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10310" y="1965825"/>
            <a:ext cx="4437529" cy="4114800"/>
          </a:xfrm>
          <a:custGeom>
            <a:avLst/>
            <a:gdLst/>
            <a:ahLst/>
            <a:cxnLst/>
            <a:rect r="r" b="b" t="t" l="l"/>
            <a:pathLst>
              <a:path h="4114800" w="4437529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19" t="0" r="-11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34989">
            <a:off x="15714380" y="1022169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770955">
            <a:off x="14900326" y="-1779669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785" t="0" r="-178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31974">
            <a:off x="2752364" y="-46919"/>
            <a:ext cx="2709839" cy="1640684"/>
          </a:xfrm>
          <a:custGeom>
            <a:avLst/>
            <a:gdLst/>
            <a:ahLst/>
            <a:cxnLst/>
            <a:rect r="r" b="b" t="t" l="l"/>
            <a:pathLst>
              <a:path h="1640684" w="2709839">
                <a:moveTo>
                  <a:pt x="0" y="0"/>
                </a:moveTo>
                <a:lnTo>
                  <a:pt x="2709839" y="0"/>
                </a:lnTo>
                <a:lnTo>
                  <a:pt x="2709839" y="1640684"/>
                </a:lnTo>
                <a:lnTo>
                  <a:pt x="0" y="16406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29" r="0" b="-129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022857" y="3385573"/>
          <a:ext cx="8216900" cy="5143500"/>
        </p:xfrm>
        <a:graphic>
          <a:graphicData uri="http://schemas.openxmlformats.org/drawingml/2006/table">
            <a:tbl>
              <a:tblPr/>
              <a:tblGrid>
                <a:gridCol w="2721758"/>
                <a:gridCol w="2437812"/>
                <a:gridCol w="305733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→ 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4513957" y="8385510"/>
            <a:ext cx="9260086" cy="103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3"/>
              </a:lnSpc>
            </a:pPr>
            <a:r>
              <a:rPr lang="en-US" sz="5196" spc="-4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Only false when p is true and q is false.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599" y="1176327"/>
            <a:ext cx="15338801" cy="8485011"/>
          </a:xfrm>
          <a:custGeom>
            <a:avLst/>
            <a:gdLst/>
            <a:ahLst/>
            <a:cxnLst/>
            <a:rect r="r" b="b" t="t" l="l"/>
            <a:pathLst>
              <a:path h="8485011" w="15338801">
                <a:moveTo>
                  <a:pt x="0" y="0"/>
                </a:moveTo>
                <a:lnTo>
                  <a:pt x="15338801" y="0"/>
                </a:lnTo>
                <a:lnTo>
                  <a:pt x="15338801" y="8485011"/>
                </a:lnTo>
                <a:lnTo>
                  <a:pt x="0" y="848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3794" y="1982244"/>
            <a:ext cx="15160411" cy="16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5"/>
              </a:lnSpc>
            </a:pPr>
            <a:r>
              <a:rPr lang="en-US" sz="8482" spc="-346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CONDITIONAL PROPOSITIONS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43725" y="3780817"/>
            <a:ext cx="9243144" cy="491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 biconditional proposition has the form: p if and only if q (p ↔ q)</a:t>
            </a:r>
          </a:p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Means both must be true together or false together.</a:t>
            </a:r>
          </a:p>
          <a:p>
            <a:pPr algn="l" marL="1043593" indent="-347864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Example:You can drive a car if and only if you have a valid license.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836680">
            <a:off x="-351018" y="1596534"/>
            <a:ext cx="2759436" cy="4787666"/>
          </a:xfrm>
          <a:custGeom>
            <a:avLst/>
            <a:gdLst/>
            <a:ahLst/>
            <a:cxnLst/>
            <a:rect r="r" b="b" t="t" l="l"/>
            <a:pathLst>
              <a:path h="4787666" w="2759436">
                <a:moveTo>
                  <a:pt x="0" y="0"/>
                </a:moveTo>
                <a:lnTo>
                  <a:pt x="2759436" y="0"/>
                </a:lnTo>
                <a:lnTo>
                  <a:pt x="2759436" y="4787666"/>
                </a:lnTo>
                <a:lnTo>
                  <a:pt x="0" y="478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7" t="0" r="-1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53160" y="4763584"/>
            <a:ext cx="2269680" cy="5944400"/>
          </a:xfrm>
          <a:custGeom>
            <a:avLst/>
            <a:gdLst/>
            <a:ahLst/>
            <a:cxnLst/>
            <a:rect r="r" b="b" t="t" l="l"/>
            <a:pathLst>
              <a:path h="5944400" w="2269680">
                <a:moveTo>
                  <a:pt x="0" y="0"/>
                </a:moveTo>
                <a:lnTo>
                  <a:pt x="2269680" y="0"/>
                </a:lnTo>
                <a:lnTo>
                  <a:pt x="2269680" y="5944400"/>
                </a:lnTo>
                <a:lnTo>
                  <a:pt x="0" y="594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5" t="0" r="-28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82825">
            <a:off x="14908324" y="1734892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637449">
            <a:off x="2863471" y="-1890396"/>
            <a:ext cx="2027288" cy="4424636"/>
          </a:xfrm>
          <a:custGeom>
            <a:avLst/>
            <a:gdLst/>
            <a:ahLst/>
            <a:cxnLst/>
            <a:rect r="r" b="b" t="t" l="l"/>
            <a:pathLst>
              <a:path h="4424636" w="2027288">
                <a:moveTo>
                  <a:pt x="0" y="0"/>
                </a:moveTo>
                <a:lnTo>
                  <a:pt x="2027288" y="0"/>
                </a:lnTo>
                <a:lnTo>
                  <a:pt x="2027288" y="4424636"/>
                </a:lnTo>
                <a:lnTo>
                  <a:pt x="0" y="4424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1" t="0" r="-2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40427">
            <a:off x="13442722" y="-1446690"/>
            <a:ext cx="688294" cy="4114800"/>
          </a:xfrm>
          <a:custGeom>
            <a:avLst/>
            <a:gdLst/>
            <a:ahLst/>
            <a:cxnLst/>
            <a:rect r="r" b="b" t="t" l="l"/>
            <a:pathLst>
              <a:path h="4114800" w="688294">
                <a:moveTo>
                  <a:pt x="0" y="0"/>
                </a:moveTo>
                <a:lnTo>
                  <a:pt x="688294" y="0"/>
                </a:lnTo>
                <a:lnTo>
                  <a:pt x="688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94" t="0" r="-39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50" t="0" r="-35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599" y="1176327"/>
            <a:ext cx="15338801" cy="8485011"/>
          </a:xfrm>
          <a:custGeom>
            <a:avLst/>
            <a:gdLst/>
            <a:ahLst/>
            <a:cxnLst/>
            <a:rect r="r" b="b" t="t" l="l"/>
            <a:pathLst>
              <a:path h="8485011" w="15338801">
                <a:moveTo>
                  <a:pt x="0" y="0"/>
                </a:moveTo>
                <a:lnTo>
                  <a:pt x="15338801" y="0"/>
                </a:lnTo>
                <a:lnTo>
                  <a:pt x="15338801" y="8485011"/>
                </a:lnTo>
                <a:lnTo>
                  <a:pt x="0" y="848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05859">
            <a:off x="15502478" y="8082547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" t="0" r="-35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10310" y="1965825"/>
            <a:ext cx="4437529" cy="4114800"/>
          </a:xfrm>
          <a:custGeom>
            <a:avLst/>
            <a:gdLst/>
            <a:ahLst/>
            <a:cxnLst/>
            <a:rect r="r" b="b" t="t" l="l"/>
            <a:pathLst>
              <a:path h="4114800" w="4437529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19" t="0" r="-11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34989">
            <a:off x="15389107" y="979051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770955">
            <a:off x="14794373" y="-1283977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785" t="0" r="-178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31974">
            <a:off x="2752364" y="208358"/>
            <a:ext cx="2709839" cy="1640684"/>
          </a:xfrm>
          <a:custGeom>
            <a:avLst/>
            <a:gdLst/>
            <a:ahLst/>
            <a:cxnLst/>
            <a:rect r="r" b="b" t="t" l="l"/>
            <a:pathLst>
              <a:path h="1640684" w="2709839">
                <a:moveTo>
                  <a:pt x="0" y="0"/>
                </a:moveTo>
                <a:lnTo>
                  <a:pt x="2709839" y="0"/>
                </a:lnTo>
                <a:lnTo>
                  <a:pt x="2709839" y="1640684"/>
                </a:lnTo>
                <a:lnTo>
                  <a:pt x="0" y="16406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29" r="0" b="-12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48388" y="1770570"/>
            <a:ext cx="14336186" cy="137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6"/>
              </a:lnSpc>
            </a:pPr>
            <a:r>
              <a:rPr lang="en-US" sz="6890" spc="-282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TRUTH TABLE OF BICONDITIONAL (P ↔ Q)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022857" y="3385573"/>
          <a:ext cx="8216900" cy="5143500"/>
        </p:xfrm>
        <a:graphic>
          <a:graphicData uri="http://schemas.openxmlformats.org/drawingml/2006/table">
            <a:tbl>
              <a:tblPr/>
              <a:tblGrid>
                <a:gridCol w="2721758"/>
                <a:gridCol w="2437812"/>
                <a:gridCol w="305733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↔ 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281172" y="8463249"/>
            <a:ext cx="11870616" cy="103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3"/>
              </a:lnSpc>
            </a:pPr>
            <a:r>
              <a:rPr lang="en-US" sz="5196" spc="-415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True only when p and q have the same truth value.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599" y="1176327"/>
            <a:ext cx="15338801" cy="8485011"/>
          </a:xfrm>
          <a:custGeom>
            <a:avLst/>
            <a:gdLst/>
            <a:ahLst/>
            <a:cxnLst/>
            <a:rect r="r" b="b" t="t" l="l"/>
            <a:pathLst>
              <a:path h="8485011" w="15338801">
                <a:moveTo>
                  <a:pt x="0" y="0"/>
                </a:moveTo>
                <a:lnTo>
                  <a:pt x="15338801" y="0"/>
                </a:lnTo>
                <a:lnTo>
                  <a:pt x="15338801" y="8485011"/>
                </a:lnTo>
                <a:lnTo>
                  <a:pt x="0" y="848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4599" y="1660212"/>
            <a:ext cx="15160411" cy="193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35"/>
              </a:lnSpc>
            </a:pPr>
            <a:r>
              <a:rPr lang="en-US" sz="9882" spc="-404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22428" y="3747854"/>
            <a:ext cx="9243144" cy="495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3594" indent="-347865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Proposition = basic logical statement (True/False).</a:t>
            </a:r>
          </a:p>
          <a:p>
            <a:pPr algn="l" marL="1043594" indent="-347865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Conditional (p → q) = If p, then q.</a:t>
            </a:r>
          </a:p>
          <a:p>
            <a:pPr algn="l" marL="1043594" indent="-347865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Biconditional (p ↔ q) = p if and only if q.</a:t>
            </a:r>
          </a:p>
          <a:p>
            <a:pPr algn="l" marL="1043594" indent="-347865" lvl="2">
              <a:lnSpc>
                <a:spcPts val="6391"/>
              </a:lnSpc>
              <a:buFont typeface="Arial"/>
              <a:buChar char="⚬"/>
            </a:pPr>
            <a:r>
              <a:rPr lang="en-US" sz="4564" spc="-36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Essential in logic, mathematics, computer science, and reasoning.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836680">
            <a:off x="-351018" y="1596534"/>
            <a:ext cx="2759436" cy="4787666"/>
          </a:xfrm>
          <a:custGeom>
            <a:avLst/>
            <a:gdLst/>
            <a:ahLst/>
            <a:cxnLst/>
            <a:rect r="r" b="b" t="t" l="l"/>
            <a:pathLst>
              <a:path h="4787666" w="2759436">
                <a:moveTo>
                  <a:pt x="0" y="0"/>
                </a:moveTo>
                <a:lnTo>
                  <a:pt x="2759436" y="0"/>
                </a:lnTo>
                <a:lnTo>
                  <a:pt x="2759436" y="4787666"/>
                </a:lnTo>
                <a:lnTo>
                  <a:pt x="0" y="478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7" t="0" r="-1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53160" y="4763584"/>
            <a:ext cx="2269680" cy="5944400"/>
          </a:xfrm>
          <a:custGeom>
            <a:avLst/>
            <a:gdLst/>
            <a:ahLst/>
            <a:cxnLst/>
            <a:rect r="r" b="b" t="t" l="l"/>
            <a:pathLst>
              <a:path h="5944400" w="2269680">
                <a:moveTo>
                  <a:pt x="0" y="0"/>
                </a:moveTo>
                <a:lnTo>
                  <a:pt x="2269680" y="0"/>
                </a:lnTo>
                <a:lnTo>
                  <a:pt x="2269680" y="5944400"/>
                </a:lnTo>
                <a:lnTo>
                  <a:pt x="0" y="5944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5" t="0" r="-28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82825">
            <a:off x="14908324" y="1734892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637449">
            <a:off x="2863471" y="-1890396"/>
            <a:ext cx="2027288" cy="4424636"/>
          </a:xfrm>
          <a:custGeom>
            <a:avLst/>
            <a:gdLst/>
            <a:ahLst/>
            <a:cxnLst/>
            <a:rect r="r" b="b" t="t" l="l"/>
            <a:pathLst>
              <a:path h="4424636" w="2027288">
                <a:moveTo>
                  <a:pt x="0" y="0"/>
                </a:moveTo>
                <a:lnTo>
                  <a:pt x="2027288" y="0"/>
                </a:lnTo>
                <a:lnTo>
                  <a:pt x="2027288" y="4424636"/>
                </a:lnTo>
                <a:lnTo>
                  <a:pt x="0" y="4424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1" t="0" r="-2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40427">
            <a:off x="13442722" y="-1446690"/>
            <a:ext cx="688294" cy="4114800"/>
          </a:xfrm>
          <a:custGeom>
            <a:avLst/>
            <a:gdLst/>
            <a:ahLst/>
            <a:cxnLst/>
            <a:rect r="r" b="b" t="t" l="l"/>
            <a:pathLst>
              <a:path h="4114800" w="688294">
                <a:moveTo>
                  <a:pt x="0" y="0"/>
                </a:moveTo>
                <a:lnTo>
                  <a:pt x="688294" y="0"/>
                </a:lnTo>
                <a:lnTo>
                  <a:pt x="688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94" t="0" r="-39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68144">
            <a:off x="1247186" y="8851973"/>
            <a:ext cx="1324217" cy="2057400"/>
          </a:xfrm>
          <a:custGeom>
            <a:avLst/>
            <a:gdLst/>
            <a:ahLst/>
            <a:cxnLst/>
            <a:rect r="r" b="b" t="t" l="l"/>
            <a:pathLst>
              <a:path h="2057400" w="1324217">
                <a:moveTo>
                  <a:pt x="0" y="0"/>
                </a:moveTo>
                <a:lnTo>
                  <a:pt x="1324217" y="0"/>
                </a:lnTo>
                <a:lnTo>
                  <a:pt x="13242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50" t="0" r="-35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52309">
            <a:off x="4921320" y="-405342"/>
            <a:ext cx="3939994" cy="3954374"/>
          </a:xfrm>
          <a:custGeom>
            <a:avLst/>
            <a:gdLst/>
            <a:ahLst/>
            <a:cxnLst/>
            <a:rect r="r" b="b" t="t" l="l"/>
            <a:pathLst>
              <a:path h="3954374" w="3939994">
                <a:moveTo>
                  <a:pt x="0" y="0"/>
                </a:moveTo>
                <a:lnTo>
                  <a:pt x="3939994" y="0"/>
                </a:lnTo>
                <a:lnTo>
                  <a:pt x="3939994" y="3954374"/>
                </a:lnTo>
                <a:lnTo>
                  <a:pt x="0" y="3954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2" t="0" r="-1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588" y="2677344"/>
            <a:ext cx="18589176" cy="4787651"/>
          </a:xfrm>
          <a:custGeom>
            <a:avLst/>
            <a:gdLst/>
            <a:ahLst/>
            <a:cxnLst/>
            <a:rect r="r" b="b" t="t" l="l"/>
            <a:pathLst>
              <a:path h="4787651" w="18589176">
                <a:moveTo>
                  <a:pt x="0" y="0"/>
                </a:moveTo>
                <a:lnTo>
                  <a:pt x="18589176" y="0"/>
                </a:lnTo>
                <a:lnTo>
                  <a:pt x="18589176" y="4787651"/>
                </a:lnTo>
                <a:lnTo>
                  <a:pt x="0" y="4787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52435">
            <a:off x="15826053" y="5521522"/>
            <a:ext cx="2885149" cy="5005780"/>
          </a:xfrm>
          <a:custGeom>
            <a:avLst/>
            <a:gdLst/>
            <a:ahLst/>
            <a:cxnLst/>
            <a:rect r="r" b="b" t="t" l="l"/>
            <a:pathLst>
              <a:path h="5005780" w="2885149">
                <a:moveTo>
                  <a:pt x="0" y="0"/>
                </a:moveTo>
                <a:lnTo>
                  <a:pt x="2885149" y="0"/>
                </a:lnTo>
                <a:lnTo>
                  <a:pt x="2885149" y="5005780"/>
                </a:lnTo>
                <a:lnTo>
                  <a:pt x="0" y="500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7" t="0" r="-13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6137" y="3008766"/>
            <a:ext cx="15315725" cy="36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0"/>
              </a:lnSpc>
            </a:pPr>
            <a:r>
              <a:rPr lang="en-US" sz="20978" spc="-860">
                <a:solidFill>
                  <a:srgbClr val="000000"/>
                </a:solidFill>
                <a:latin typeface="Core Bandi"/>
                <a:ea typeface="Core Bandi"/>
                <a:cs typeface="Core Bandi"/>
                <a:sym typeface="Core Bandi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085032">
            <a:off x="-19808" y="-1028700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7" y="0"/>
                </a:lnTo>
                <a:lnTo>
                  <a:pt x="4137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3" r="0" b="-4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893573">
            <a:off x="-864839" y="7396060"/>
            <a:ext cx="4701952" cy="1256704"/>
          </a:xfrm>
          <a:custGeom>
            <a:avLst/>
            <a:gdLst/>
            <a:ahLst/>
            <a:cxnLst/>
            <a:rect r="r" b="b" t="t" l="l"/>
            <a:pathLst>
              <a:path h="1256704" w="4701952">
                <a:moveTo>
                  <a:pt x="0" y="0"/>
                </a:moveTo>
                <a:lnTo>
                  <a:pt x="4701952" y="0"/>
                </a:lnTo>
                <a:lnTo>
                  <a:pt x="4701952" y="1256704"/>
                </a:lnTo>
                <a:lnTo>
                  <a:pt x="0" y="1256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66" r="0" b="-36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69459" y="-56576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93814">
            <a:off x="5068745" y="8308522"/>
            <a:ext cx="5201888" cy="2165877"/>
          </a:xfrm>
          <a:custGeom>
            <a:avLst/>
            <a:gdLst/>
            <a:ahLst/>
            <a:cxnLst/>
            <a:rect r="r" b="b" t="t" l="l"/>
            <a:pathLst>
              <a:path h="2165877" w="5201888">
                <a:moveTo>
                  <a:pt x="0" y="0"/>
                </a:moveTo>
                <a:lnTo>
                  <a:pt x="5201888" y="0"/>
                </a:lnTo>
                <a:lnTo>
                  <a:pt x="5201888" y="2165877"/>
                </a:lnTo>
                <a:lnTo>
                  <a:pt x="0" y="21658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74" r="0" b="-27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59588">
            <a:off x="12675472" y="6901847"/>
            <a:ext cx="1525883" cy="3330300"/>
          </a:xfrm>
          <a:custGeom>
            <a:avLst/>
            <a:gdLst/>
            <a:ahLst/>
            <a:cxnLst/>
            <a:rect r="r" b="b" t="t" l="l"/>
            <a:pathLst>
              <a:path h="3330300" w="1525883">
                <a:moveTo>
                  <a:pt x="0" y="0"/>
                </a:moveTo>
                <a:lnTo>
                  <a:pt x="1525883" y="0"/>
                </a:lnTo>
                <a:lnTo>
                  <a:pt x="1525883" y="3330300"/>
                </a:lnTo>
                <a:lnTo>
                  <a:pt x="0" y="3330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98" t="0" r="-198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184528">
            <a:off x="11945265" y="-2114698"/>
            <a:ext cx="517506" cy="4378895"/>
          </a:xfrm>
          <a:custGeom>
            <a:avLst/>
            <a:gdLst/>
            <a:ahLst/>
            <a:cxnLst/>
            <a:rect r="r" b="b" t="t" l="l"/>
            <a:pathLst>
              <a:path h="4378895" w="517506">
                <a:moveTo>
                  <a:pt x="0" y="0"/>
                </a:moveTo>
                <a:lnTo>
                  <a:pt x="517506" y="0"/>
                </a:lnTo>
                <a:lnTo>
                  <a:pt x="517506" y="4378895"/>
                </a:lnTo>
                <a:lnTo>
                  <a:pt x="0" y="437889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504" t="0" r="-1504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DAG5Q607tqY</dc:identifier>
  <dcterms:modified xsi:type="dcterms:W3CDTF">2011-08-01T06:04:30Z</dcterms:modified>
  <cp:revision>1</cp:revision>
  <dc:title>Proposition, Conditional &amp; Biconditional Propositions-251311029.pptx</dc:title>
</cp:coreProperties>
</file>