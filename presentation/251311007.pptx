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323" r:id="rId5"/>
    <p:sldId id="312" r:id="rId6"/>
    <p:sldId id="304" r:id="rId7"/>
    <p:sldId id="307" r:id="rId8"/>
    <p:sldId id="281" r:id="rId9"/>
    <p:sldId id="282" r:id="rId10"/>
    <p:sldId id="325" r:id="rId11"/>
    <p:sldId id="324" r:id="rId12"/>
    <p:sldId id="297"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AAC4E9"/>
    <a:srgbClr val="202C8F"/>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napToObjects="1">
      <p:cViewPr varScale="1">
        <p:scale>
          <a:sx n="85" d="100"/>
          <a:sy n="85" d="100"/>
        </p:scale>
        <p:origin x="590" y="5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64607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13.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23D73A-F207-4BEB-8382-9306B3C1E028}"/>
              </a:ext>
            </a:extLst>
          </p:cNvPr>
          <p:cNvSpPr>
            <a:spLocks noGrp="1"/>
          </p:cNvSpPr>
          <p:nvPr>
            <p:ph type="title"/>
          </p:nvPr>
        </p:nvSpPr>
        <p:spPr/>
        <p:txBody>
          <a:bodyPr/>
          <a:lstStyle/>
          <a:p>
            <a:r>
              <a:rPr lang="en-US" dirty="0"/>
              <a:t>NAME: ATIKA SAMIHA</a:t>
            </a:r>
            <a:br>
              <a:rPr lang="en-US" dirty="0"/>
            </a:br>
            <a:r>
              <a:rPr lang="en-US" dirty="0"/>
              <a:t>ID      : 251311007</a:t>
            </a:r>
          </a:p>
        </p:txBody>
      </p:sp>
      <p:sp>
        <p:nvSpPr>
          <p:cNvPr id="7" name="Content Placeholder 6">
            <a:extLst>
              <a:ext uri="{FF2B5EF4-FFF2-40B4-BE49-F238E27FC236}">
                <a16:creationId xmlns:a16="http://schemas.microsoft.com/office/drawing/2014/main" id="{C87F6E0C-2899-45C2-9F62-C58BCCE69E61}"/>
              </a:ext>
            </a:extLst>
          </p:cNvPr>
          <p:cNvSpPr>
            <a:spLocks noGrp="1"/>
          </p:cNvSpPr>
          <p:nvPr>
            <p:ph idx="1"/>
          </p:nvPr>
        </p:nvSpPr>
        <p:spPr/>
        <p:txBody>
          <a:bodyPr/>
          <a:lstStyle/>
          <a:p>
            <a:endParaRPr lang="en-US" dirty="0"/>
          </a:p>
          <a:p>
            <a:r>
              <a:rPr lang="en-US" dirty="0"/>
              <a:t>SECTION: A</a:t>
            </a:r>
          </a:p>
          <a:p>
            <a:r>
              <a:rPr lang="en-US" dirty="0"/>
              <a:t>BATCH : 36th</a:t>
            </a:r>
          </a:p>
          <a:p>
            <a:r>
              <a:rPr lang="en-US" dirty="0"/>
              <a:t>DEPT.    :CSE</a:t>
            </a:r>
          </a:p>
          <a:p>
            <a:r>
              <a:rPr lang="en-US" dirty="0"/>
              <a:t>DATE    : 26.08.25 TUESDAY</a:t>
            </a:r>
          </a:p>
          <a:p>
            <a:endParaRPr lang="en-US" dirty="0"/>
          </a:p>
        </p:txBody>
      </p:sp>
      <p:sp>
        <p:nvSpPr>
          <p:cNvPr id="4" name="Slide Number Placeholder 3">
            <a:extLst>
              <a:ext uri="{FF2B5EF4-FFF2-40B4-BE49-F238E27FC236}">
                <a16:creationId xmlns:a16="http://schemas.microsoft.com/office/drawing/2014/main" id="{860BF983-594A-4D8A-8C48-D4DD9829540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a:t>
            </a:fld>
            <a:endParaRPr lang="en-US" dirty="0"/>
          </a:p>
        </p:txBody>
      </p:sp>
    </p:spTree>
    <p:extLst>
      <p:ext uri="{BB962C8B-B14F-4D97-AF65-F5344CB8AC3E}">
        <p14:creationId xmlns:p14="http://schemas.microsoft.com/office/powerpoint/2010/main" val="294394304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4800" b="0" u="sng" dirty="0">
                <a:solidFill>
                  <a:schemeClr val="accent2">
                    <a:lumMod val="50000"/>
                  </a:schemeClr>
                </a:solidFill>
              </a:rPr>
              <a:t>TOPIC:</a:t>
            </a:r>
            <a:br>
              <a:rPr lang="en-US" sz="4800" dirty="0">
                <a:solidFill>
                  <a:srgbClr val="C00000"/>
                </a:solidFill>
              </a:rPr>
            </a:br>
            <a:r>
              <a:rPr lang="en-US" sz="4800" dirty="0">
                <a:solidFill>
                  <a:srgbClr val="C00000"/>
                </a:solidFill>
              </a:rPr>
              <a:t>DEFINITION OF PREDICATE AND QUANTIFIER WITH EXAMPLE</a:t>
            </a:r>
          </a:p>
        </p:txBody>
      </p:sp>
    </p:spTree>
    <p:extLst>
      <p:ext uri="{BB962C8B-B14F-4D97-AF65-F5344CB8AC3E}">
        <p14:creationId xmlns:p14="http://schemas.microsoft.com/office/powerpoint/2010/main" val="20741794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914961"/>
          </a:xfrm>
        </p:spPr>
        <p:txBody>
          <a:bodyPr/>
          <a:lstStyle/>
          <a:p>
            <a:r>
              <a:rPr lang="en-US" sz="5400" u="sng" dirty="0">
                <a:highlight>
                  <a:srgbClr val="AAC4E9"/>
                </a:highlight>
                <a:latin typeface="Algerian" panose="04020705040A02060702" pitchFamily="82" charset="0"/>
              </a:rPr>
              <a:t>PREDICATE</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1004047" y="2108498"/>
            <a:ext cx="6795247" cy="3942677"/>
          </a:xfrm>
        </p:spPr>
        <p:txBody>
          <a:bodyPr>
            <a:normAutofit/>
          </a:bodyPr>
          <a:lstStyle/>
          <a:p>
            <a:r>
              <a:rPr lang="en-US" sz="2800" b="1" u="sng" dirty="0">
                <a:solidFill>
                  <a:schemeClr val="tx2">
                    <a:lumMod val="75000"/>
                  </a:schemeClr>
                </a:solidFill>
                <a:latin typeface="Algerian" panose="04020705040A02060702" pitchFamily="82" charset="0"/>
              </a:rPr>
              <a:t>DEFINITION</a:t>
            </a:r>
            <a:r>
              <a:rPr lang="en-US" b="1" dirty="0">
                <a:latin typeface="Arial Black" panose="020B0A04020102020204" pitchFamily="34" charset="0"/>
              </a:rPr>
              <a:t>:</a:t>
            </a:r>
            <a:r>
              <a:rPr lang="en-US" dirty="0"/>
              <a:t> </a:t>
            </a:r>
            <a:r>
              <a:rPr lang="en-US" sz="2800" b="1" dirty="0">
                <a:solidFill>
                  <a:srgbClr val="00B050"/>
                </a:solidFill>
                <a:latin typeface="Adobe Myungjo Std M" panose="02020600000000000000" pitchFamily="18" charset="-128"/>
                <a:ea typeface="Adobe Myungjo Std M" panose="02020600000000000000" pitchFamily="18" charset="-128"/>
              </a:rPr>
              <a:t>A PREDICATE IS A STATEMENT THAT INCLUDES VARIABLES AND BECOMES A PROPOSITION WHEN THOSE VARIABLES ARE REPLACED WITH SPECIFIC VALUES.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9132197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flipH="1">
            <a:off x="391882" y="102637"/>
            <a:ext cx="10534261" cy="6615404"/>
          </a:xfrm>
        </p:spPr>
        <p:txBody>
          <a:bodyPr/>
          <a:lstStyle/>
          <a:p>
            <a:pPr marR="0" lvl="0" defTabSz="457200" rtl="0" eaLnBrk="1" fontAlgn="auto" latinLnBrk="0" hangingPunct="1">
              <a:lnSpc>
                <a:spcPct val="100000"/>
              </a:lnSpc>
              <a:spcBef>
                <a:spcPts val="0"/>
              </a:spcBef>
              <a:spcAft>
                <a:spcPts val="0"/>
              </a:spcAft>
              <a:tabLst/>
              <a:defRPr/>
            </a:pPr>
            <a:r>
              <a:rPr kumimoji="0" lang="en-US" sz="1800" b="1" i="0" u="none" strike="noStrike" kern="1200" cap="all" spc="0" normalizeH="0" baseline="0" noProof="0" dirty="0">
                <a:ln>
                  <a:noFill/>
                </a:ln>
                <a:solidFill>
                  <a:srgbClr val="1F2C8F"/>
                </a:solidFill>
                <a:effectLst/>
                <a:uLnTx/>
                <a:uFillTx/>
                <a:latin typeface="Algerian" panose="04020705040A02060702" pitchFamily="82" charset="0"/>
                <a:ea typeface="+mn-ea"/>
                <a:cs typeface="+mn-cs"/>
              </a:rPr>
              <a:t> </a:t>
            </a:r>
            <a:br>
              <a:rPr kumimoji="0" lang="en-US" sz="1800" b="1" i="0" u="none" strike="noStrike" kern="1200" cap="all" spc="0" normalizeH="0" baseline="0" noProof="0" dirty="0">
                <a:ln>
                  <a:noFill/>
                </a:ln>
                <a:solidFill>
                  <a:srgbClr val="1F2C8F"/>
                </a:solidFill>
                <a:effectLst/>
                <a:uLnTx/>
                <a:uFillTx/>
                <a:latin typeface="Algerian" panose="04020705040A02060702" pitchFamily="82" charset="0"/>
                <a:ea typeface="+mn-ea"/>
                <a:cs typeface="+mn-cs"/>
              </a:rPr>
            </a:br>
            <a:br>
              <a:rPr kumimoji="0" lang="en-US" sz="1800" b="1" i="0" u="none" strike="noStrike" kern="1200" cap="all" spc="0" normalizeH="0" baseline="0" noProof="0" dirty="0">
                <a:ln>
                  <a:noFill/>
                </a:ln>
                <a:solidFill>
                  <a:srgbClr val="1F2C8F"/>
                </a:solidFill>
                <a:effectLst/>
                <a:uLnTx/>
                <a:uFillTx/>
                <a:latin typeface="Algerian" panose="04020705040A02060702" pitchFamily="82" charset="0"/>
                <a:ea typeface="+mn-ea"/>
                <a:cs typeface="+mn-cs"/>
              </a:rPr>
            </a:br>
            <a:br>
              <a:rPr kumimoji="0" lang="en-US" sz="1800" b="1" i="0" u="none" strike="noStrike" kern="1200" cap="all" spc="0" normalizeH="0" baseline="0" noProof="0" dirty="0">
                <a:ln>
                  <a:noFill/>
                </a:ln>
                <a:solidFill>
                  <a:srgbClr val="1F2C8F"/>
                </a:solidFill>
                <a:effectLst/>
                <a:uLnTx/>
                <a:uFillTx/>
                <a:latin typeface="Algerian" panose="04020705040A02060702" pitchFamily="82" charset="0"/>
                <a:ea typeface="+mn-ea"/>
                <a:cs typeface="+mn-cs"/>
              </a:rPr>
            </a:br>
            <a:r>
              <a:rPr kumimoji="0" lang="en-US" sz="2800" b="1" i="0" u="sng" strike="noStrike" kern="1200" cap="all" spc="0" normalizeH="0" baseline="0" noProof="0" dirty="0">
                <a:ln>
                  <a:noFill/>
                </a:ln>
                <a:solidFill>
                  <a:schemeClr val="accent1">
                    <a:lumMod val="50000"/>
                  </a:schemeClr>
                </a:solidFill>
                <a:effectLst/>
                <a:uLnTx/>
                <a:uFillTx/>
                <a:latin typeface="Algerian" panose="04020705040A02060702" pitchFamily="82" charset="0"/>
                <a:ea typeface="+mn-ea"/>
                <a:cs typeface="+mn-cs"/>
              </a:rPr>
              <a:t>1) </a:t>
            </a:r>
            <a: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t>A predicate is a statement or expression that contains variables.</a:t>
            </a: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r>
              <a:rPr kumimoji="0" lang="en-US" sz="2800" b="1" i="0" u="sng" strike="noStrike" kern="1200" cap="all" spc="0" normalizeH="0" baseline="0" noProof="0" dirty="0">
                <a:ln>
                  <a:noFill/>
                </a:ln>
                <a:solidFill>
                  <a:schemeClr val="accent1">
                    <a:lumMod val="50000"/>
                  </a:schemeClr>
                </a:solidFill>
                <a:effectLst/>
                <a:uLnTx/>
                <a:uFillTx/>
                <a:latin typeface="Algerian" panose="04020705040A02060702" pitchFamily="82" charset="0"/>
                <a:ea typeface="+mn-ea"/>
                <a:cs typeface="+mn-cs"/>
              </a:rPr>
              <a:t>2)</a:t>
            </a:r>
            <a: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t>It becomes a proposition (true or false) when specific values are substituted for variables</a:t>
            </a: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r>
              <a:rPr kumimoji="0" lang="en-US" sz="2800" b="1" i="0" u="sng" strike="noStrike" kern="1200" cap="all" spc="0" normalizeH="0" baseline="0" noProof="0" dirty="0">
                <a:ln>
                  <a:noFill/>
                </a:ln>
                <a:solidFill>
                  <a:schemeClr val="accent1">
                    <a:lumMod val="50000"/>
                  </a:schemeClr>
                </a:solidFill>
                <a:effectLst/>
                <a:uLnTx/>
                <a:uFillTx/>
                <a:latin typeface="Algerian" panose="04020705040A02060702" pitchFamily="82" charset="0"/>
                <a:ea typeface="+mn-ea"/>
                <a:cs typeface="+mn-cs"/>
              </a:rPr>
              <a:t>3)</a:t>
            </a:r>
            <a: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t>A PREDICATE EXPRESSES PROPERTIES OR RELATIONSHIPS BETWEEN OBJECT.</a:t>
            </a: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r>
              <a:rPr kumimoji="0" lang="en-US" sz="2800" b="1" i="0" u="sng" strike="noStrike" kern="1200" cap="all" spc="0" normalizeH="0" baseline="0" noProof="0" dirty="0">
                <a:ln>
                  <a:noFill/>
                </a:ln>
                <a:solidFill>
                  <a:schemeClr val="accent1">
                    <a:lumMod val="50000"/>
                  </a:schemeClr>
                </a:solidFill>
                <a:effectLst/>
                <a:uLnTx/>
                <a:uFillTx/>
                <a:latin typeface="Algerian" panose="04020705040A02060702" pitchFamily="82" charset="0"/>
                <a:ea typeface="+mn-ea"/>
                <a:cs typeface="+mn-cs"/>
              </a:rPr>
              <a:t>4)</a:t>
            </a:r>
            <a: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t>PREDICATES CAN BE REPRESENTED BY USING CAPITAL LETTER FOLLOWED BY THE VARIABLES IN PARENTHESES, LIKE P(X) OR q(X,Y).</a:t>
            </a:r>
            <a:br>
              <a:rPr kumimoji="0" lang="en-US" sz="2800" b="1" i="0" u="none" strike="noStrike" kern="1200" cap="all" spc="0" normalizeH="0" baseline="0" noProof="0" dirty="0">
                <a:ln>
                  <a:noFill/>
                </a:ln>
                <a:solidFill>
                  <a:schemeClr val="accent4">
                    <a:lumMod val="50000"/>
                  </a:schemeClr>
                </a:solidFill>
                <a:effectLst/>
                <a:uLnTx/>
                <a:uFillTx/>
                <a:latin typeface="Algerian" panose="04020705040A02060702" pitchFamily="82" charset="0"/>
                <a:ea typeface="+mn-ea"/>
                <a:cs typeface="+mn-cs"/>
              </a:rPr>
            </a:br>
            <a:br>
              <a:rPr kumimoji="0" lang="en-US" sz="2800" b="1" i="0" u="none" strike="noStrike" kern="1200" cap="all" spc="0" normalizeH="0" baseline="0" noProof="0" dirty="0">
                <a:ln>
                  <a:noFill/>
                </a:ln>
                <a:solidFill>
                  <a:srgbClr val="1F2C8F"/>
                </a:solidFill>
                <a:effectLst/>
                <a:uLnTx/>
                <a:uFillTx/>
                <a:latin typeface="Algerian" panose="04020705040A02060702" pitchFamily="82" charset="0"/>
                <a:ea typeface="+mn-ea"/>
                <a:cs typeface="+mn-cs"/>
              </a:rPr>
            </a:br>
            <a:br>
              <a:rPr kumimoji="0" lang="en-US" sz="2800" b="0" i="0" u="none" strike="noStrike" kern="1200" cap="none" spc="0" normalizeH="0" baseline="0" noProof="0" dirty="0">
                <a:ln>
                  <a:noFill/>
                </a:ln>
                <a:solidFill>
                  <a:srgbClr val="000000"/>
                </a:solidFill>
                <a:effectLst/>
                <a:uLnTx/>
                <a:uFillTx/>
                <a:latin typeface="Sabon Next LT"/>
                <a:ea typeface="+mn-ea"/>
                <a:cs typeface="+mn-cs"/>
              </a:rPr>
            </a:br>
            <a:endParaRPr lang="en-US" sz="2800" dirty="0">
              <a:latin typeface="Algerian" panose="04020705040A02060702" pitchFamily="82" charset="0"/>
            </a:endParaRPr>
          </a:p>
        </p:txBody>
      </p:sp>
    </p:spTree>
    <p:extLst>
      <p:ext uri="{BB962C8B-B14F-4D97-AF65-F5344CB8AC3E}">
        <p14:creationId xmlns:p14="http://schemas.microsoft.com/office/powerpoint/2010/main" val="290649191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51927" y="130629"/>
            <a:ext cx="11940073" cy="933061"/>
          </a:xfrm>
        </p:spPr>
        <p:txBody>
          <a:bodyPr/>
          <a:lstStyle/>
          <a:p>
            <a:r>
              <a:rPr lang="en-US" sz="4800" dirty="0"/>
              <a:t>Examples of predicate :</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410547" y="1203650"/>
            <a:ext cx="11066105" cy="5159828"/>
          </a:xfrm>
        </p:spPr>
        <p:txBody>
          <a:bodyPr/>
          <a:lstStyle/>
          <a:p>
            <a:pPr marL="342900" indent="-342900">
              <a:buFont typeface="Arial" panose="020B0604020202020204" pitchFamily="34" charset="0"/>
              <a:buChar char="•"/>
            </a:pPr>
            <a:r>
              <a:rPr lang="en-US" b="1" u="sng" dirty="0">
                <a:solidFill>
                  <a:schemeClr val="accent5">
                    <a:lumMod val="50000"/>
                  </a:schemeClr>
                </a:solidFill>
              </a:rPr>
              <a:t>PREDICATE</a:t>
            </a:r>
            <a:r>
              <a:rPr lang="en-US" u="sng" dirty="0">
                <a:solidFill>
                  <a:schemeClr val="accent5">
                    <a:lumMod val="50000"/>
                  </a:schemeClr>
                </a:solidFill>
              </a:rPr>
              <a:t>: </a:t>
            </a:r>
            <a:r>
              <a:rPr lang="en-US" dirty="0"/>
              <a:t>P(x) : x &gt; 5</a:t>
            </a:r>
          </a:p>
          <a:p>
            <a:r>
              <a:rPr lang="en-US" dirty="0"/>
              <a:t>                             If x = 7, then P(7): “7&gt;5”  ---- True</a:t>
            </a:r>
          </a:p>
          <a:p>
            <a:r>
              <a:rPr lang="en-US" dirty="0"/>
              <a:t>                             </a:t>
            </a:r>
            <a:r>
              <a:rPr kumimoji="0" lang="en-US" sz="2400" b="0" i="0" u="none" strike="noStrike" kern="1200" cap="none" spc="0" normalizeH="0" baseline="0" noProof="0" dirty="0">
                <a:ln>
                  <a:noFill/>
                </a:ln>
                <a:solidFill>
                  <a:srgbClr val="1F2C8F"/>
                </a:solidFill>
                <a:effectLst/>
                <a:uLnTx/>
                <a:uFillTx/>
                <a:latin typeface="Sabon Next LT"/>
                <a:ea typeface="+mn-ea"/>
                <a:cs typeface="+mn-cs"/>
              </a:rPr>
              <a:t>If x = 4, then P(7): “4&gt;5”  ---- False. </a:t>
            </a:r>
          </a:p>
          <a:p>
            <a:endParaRPr kumimoji="0" lang="en-US" sz="2400" b="0" i="0" u="none" strike="noStrike" kern="1200" cap="none" spc="0" normalizeH="0" baseline="0" noProof="0" dirty="0">
              <a:ln>
                <a:noFill/>
              </a:ln>
              <a:solidFill>
                <a:srgbClr val="1F2C8F"/>
              </a:solidFill>
              <a:effectLst/>
              <a:uLnTx/>
              <a:uFillTx/>
              <a:latin typeface="Sabon Next LT"/>
              <a:ea typeface="+mn-ea"/>
              <a:cs typeface="+mn-cs"/>
            </a:endParaRPr>
          </a:p>
          <a:p>
            <a:r>
              <a:rPr lang="en-US" dirty="0">
                <a:solidFill>
                  <a:srgbClr val="1F2C8F"/>
                </a:solidFill>
                <a:latin typeface="Sabon Next LT"/>
              </a:rPr>
              <a:t>                        so it will be true when the statement will be a truth or valid expression and false when its invalid.</a:t>
            </a: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t>P( x, y) could present the statement “ x is the parent of y” . This predicate is true for some pairs and false for others.</a:t>
            </a:r>
          </a:p>
        </p:txBody>
      </p:sp>
    </p:spTree>
    <p:extLst>
      <p:ext uri="{BB962C8B-B14F-4D97-AF65-F5344CB8AC3E}">
        <p14:creationId xmlns:p14="http://schemas.microsoft.com/office/powerpoint/2010/main" val="2952923800"/>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62753" y="195861"/>
            <a:ext cx="11058473" cy="491453"/>
          </a:xfrm>
        </p:spPr>
        <p:txBody>
          <a:bodyPr/>
          <a:lstStyle/>
          <a:p>
            <a:r>
              <a:rPr lang="en-US" dirty="0">
                <a:solidFill>
                  <a:schemeClr val="accent1">
                    <a:lumMod val="50000"/>
                  </a:schemeClr>
                </a:solidFill>
              </a:rPr>
              <a:t>Quantifiers :</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71719" y="609600"/>
            <a:ext cx="12200965" cy="6248400"/>
          </a:xfrm>
        </p:spPr>
        <p:txBody>
          <a:bodyPr>
            <a:normAutofit/>
          </a:bodyPr>
          <a:lstStyle/>
          <a:p>
            <a:pPr>
              <a:buFont typeface="Wingdings" panose="05000000000000000000" pitchFamily="2" charset="2"/>
              <a:buChar char="ü"/>
            </a:pPr>
            <a:r>
              <a:rPr lang="en-US" sz="3200" b="1" dirty="0">
                <a:solidFill>
                  <a:schemeClr val="tx2">
                    <a:lumMod val="50000"/>
                  </a:schemeClr>
                </a:solidFill>
                <a:effectLst>
                  <a:outerShdw blurRad="38100" dist="38100" dir="2700000" algn="tl">
                    <a:srgbClr val="000000">
                      <a:alpha val="43137"/>
                    </a:srgbClr>
                  </a:outerShdw>
                </a:effectLst>
              </a:rPr>
              <a:t>DEFINITION</a:t>
            </a:r>
            <a:r>
              <a:rPr lang="en-US" sz="2400" dirty="0">
                <a:solidFill>
                  <a:schemeClr val="bg1">
                    <a:lumMod val="25000"/>
                  </a:schemeClr>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  </a:t>
            </a:r>
            <a:r>
              <a:rPr lang="en-US" sz="2400" dirty="0">
                <a:solidFill>
                  <a:schemeClr val="bg1">
                    <a:lumMod val="25000"/>
                  </a:schemeClr>
                </a:solidFill>
                <a:latin typeface="Adobe Gothic Std B" panose="020B0800000000000000" pitchFamily="34" charset="-128"/>
                <a:ea typeface="Adobe Gothic Std B" panose="020B0800000000000000" pitchFamily="34" charset="-128"/>
              </a:rPr>
              <a:t>QUANTIFIERS SPECIFY HOW MANY ELEMENTS IN A DOMAIN SATISFY A GIVEN PREDICATE. QUANTIFIERS SPECIFY THE SCOPE OF A PREDICATE OVER A DOMAIN. </a:t>
            </a:r>
            <a:r>
              <a:rPr lang="en-US" sz="2400" dirty="0">
                <a:solidFill>
                  <a:schemeClr val="accent2">
                    <a:lumMod val="50000"/>
                  </a:schemeClr>
                </a:solidFill>
                <a:latin typeface="Adobe Gothic Std B" panose="020B0800000000000000" pitchFamily="34" charset="-128"/>
                <a:ea typeface="Adobe Gothic Std B" panose="020B0800000000000000" pitchFamily="34" charset="-128"/>
              </a:rPr>
              <a:t>THERE ARE TWO TYPES OF QUANTIFIERS</a:t>
            </a:r>
            <a:r>
              <a:rPr lang="en-US" sz="2400" dirty="0">
                <a:solidFill>
                  <a:schemeClr val="bg1">
                    <a:lumMod val="25000"/>
                  </a:schemeClr>
                </a:solidFill>
                <a:latin typeface="Adobe Gothic Std B" panose="020B0800000000000000" pitchFamily="34" charset="-128"/>
                <a:ea typeface="Adobe Gothic Std B" panose="020B0800000000000000" pitchFamily="34" charset="-128"/>
              </a:rPr>
              <a:t>: </a:t>
            </a:r>
          </a:p>
          <a:p>
            <a:pPr marL="0" indent="0">
              <a:buNone/>
            </a:pPr>
            <a:endParaRPr lang="en-US" dirty="0">
              <a:solidFill>
                <a:schemeClr val="bg1">
                  <a:lumMod val="25000"/>
                </a:schemeClr>
              </a:solidFill>
            </a:endParaRPr>
          </a:p>
        </p:txBody>
      </p:sp>
      <p:graphicFrame>
        <p:nvGraphicFramePr>
          <p:cNvPr id="4" name="Object 3">
            <a:extLst>
              <a:ext uri="{FF2B5EF4-FFF2-40B4-BE49-F238E27FC236}">
                <a16:creationId xmlns:a16="http://schemas.microsoft.com/office/drawing/2014/main" id="{70765293-99D2-426F-ADAD-0EA603776EA5}"/>
              </a:ext>
            </a:extLst>
          </p:cNvPr>
          <p:cNvGraphicFramePr>
            <a:graphicFrameLocks noChangeAspect="1"/>
          </p:cNvGraphicFramePr>
          <p:nvPr>
            <p:extLst>
              <p:ext uri="{D42A27DB-BD31-4B8C-83A1-F6EECF244321}">
                <p14:modId xmlns:p14="http://schemas.microsoft.com/office/powerpoint/2010/main" val="2514251375"/>
              </p:ext>
            </p:extLst>
          </p:nvPr>
        </p:nvGraphicFramePr>
        <p:xfrm>
          <a:off x="5327650" y="2651125"/>
          <a:ext cx="114300" cy="177800"/>
        </p:xfrm>
        <a:graphic>
          <a:graphicData uri="http://schemas.openxmlformats.org/presentationml/2006/ole">
            <mc:AlternateContent xmlns:mc="http://schemas.openxmlformats.org/markup-compatibility/2006">
              <mc:Choice xmlns:v="urn:schemas-microsoft-com:vml" Requires="v">
                <p:oleObj spid="_x0000_s1033" name="Equation" r:id="rId4" imgW="114120" imgH="177480" progId="Equation.DSMT4">
                  <p:embed/>
                </p:oleObj>
              </mc:Choice>
              <mc:Fallback>
                <p:oleObj name="Equation" r:id="rId4" imgW="114120" imgH="177480" progId="Equation.DSMT4">
                  <p:embed/>
                  <p:pic>
                    <p:nvPicPr>
                      <p:cNvPr id="4" name="Object 3">
                        <a:extLst>
                          <a:ext uri="{FF2B5EF4-FFF2-40B4-BE49-F238E27FC236}">
                            <a16:creationId xmlns:a16="http://schemas.microsoft.com/office/drawing/2014/main" id="{70765293-99D2-426F-ADAD-0EA603776EA5}"/>
                          </a:ext>
                        </a:extLst>
                      </p:cNvPr>
                      <p:cNvPicPr/>
                      <p:nvPr/>
                    </p:nvPicPr>
                    <p:blipFill>
                      <a:blip r:embed="rId5"/>
                      <a:stretch>
                        <a:fillRect/>
                      </a:stretch>
                    </p:blipFill>
                    <p:spPr>
                      <a:xfrm>
                        <a:off x="5327650" y="2651125"/>
                        <a:ext cx="114300" cy="1778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517052A7-7435-417C-A36E-B4D4F52C82D4}"/>
              </a:ext>
            </a:extLst>
          </p:cNvPr>
          <p:cNvSpPr txBox="1"/>
          <p:nvPr/>
        </p:nvSpPr>
        <p:spPr>
          <a:xfrm>
            <a:off x="62753" y="2106705"/>
            <a:ext cx="11632213" cy="954107"/>
          </a:xfrm>
          <a:prstGeom prst="rect">
            <a:avLst/>
          </a:prstGeom>
          <a:noFill/>
        </p:spPr>
        <p:txBody>
          <a:bodyPr wrap="square" rtlCol="0">
            <a:spAutoFit/>
          </a:bodyPr>
          <a:lstStyle/>
          <a:p>
            <a:r>
              <a:rPr kumimoji="0" lang="en-US" altLang="en-US" sz="2800" b="1" i="0" u="sng" strike="noStrike" kern="1200" cap="none" spc="0" normalizeH="0" baseline="0" noProof="0" dirty="0">
                <a:ln>
                  <a:noFill/>
                </a:ln>
                <a:solidFill>
                  <a:srgbClr val="000000"/>
                </a:solidFill>
                <a:effectLst/>
                <a:uLnTx/>
                <a:uFillTx/>
                <a:latin typeface="Arial" panose="020B0604020202020204" pitchFamily="34" charset="0"/>
                <a:ea typeface="+mj-ea"/>
                <a:cs typeface="+mj-cs"/>
              </a:rPr>
              <a:t>Universal Quantifier ( ∀ ) : </a:t>
            </a:r>
            <a:r>
              <a:rPr kumimoji="0" lang="en-US" altLang="en-US" sz="2800" b="1"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If a quantifier satisfies a given predicate for all domain the quantifier is called the universal quantifier.</a:t>
            </a:r>
            <a:endParaRPr lang="en-US" dirty="0"/>
          </a:p>
        </p:txBody>
      </p:sp>
      <p:sp>
        <p:nvSpPr>
          <p:cNvPr id="8" name="TextBox 7">
            <a:extLst>
              <a:ext uri="{FF2B5EF4-FFF2-40B4-BE49-F238E27FC236}">
                <a16:creationId xmlns:a16="http://schemas.microsoft.com/office/drawing/2014/main" id="{F17C0A8F-E09C-4E7E-93F1-8EDE9757547F}"/>
              </a:ext>
            </a:extLst>
          </p:cNvPr>
          <p:cNvSpPr txBox="1"/>
          <p:nvPr/>
        </p:nvSpPr>
        <p:spPr>
          <a:xfrm>
            <a:off x="1" y="3675530"/>
            <a:ext cx="11358282" cy="1384995"/>
          </a:xfrm>
          <a:prstGeom prst="rect">
            <a:avLst/>
          </a:prstGeom>
          <a:noFill/>
        </p:spPr>
        <p:txBody>
          <a:bodyPr wrap="square" rtlCol="0">
            <a:spAutoFit/>
          </a:bodyPr>
          <a:lstStyle/>
          <a:p>
            <a:r>
              <a:rPr kumimoji="0" lang="en-US" altLang="en-US" sz="2800" b="1" i="0" u="sng" strike="noStrike" cap="none" normalizeH="0" baseline="0" dirty="0">
                <a:ln>
                  <a:noFill/>
                </a:ln>
                <a:solidFill>
                  <a:schemeClr val="tx1"/>
                </a:solidFill>
                <a:effectLst/>
                <a:latin typeface="Arial" panose="020B0604020202020204" pitchFamily="34" charset="0"/>
              </a:rPr>
              <a:t>Existential Quantifier ( ∃ ): </a:t>
            </a:r>
            <a:r>
              <a:rPr kumimoji="0" lang="en-US" altLang="en-US" sz="28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If a quantifier satisfies a given predicate for one or some of the elements of the domain the quantifier is called the universal quantifier.</a:t>
            </a:r>
            <a:endParaRPr lang="en-US" dirty="0"/>
          </a:p>
        </p:txBody>
      </p:sp>
    </p:spTree>
    <p:extLst>
      <p:ext uri="{BB962C8B-B14F-4D97-AF65-F5344CB8AC3E}">
        <p14:creationId xmlns:p14="http://schemas.microsoft.com/office/powerpoint/2010/main" val="685681062"/>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637304-6323-4963-B47C-01FDECFFC173}"/>
              </a:ext>
            </a:extLst>
          </p:cNvPr>
          <p:cNvSpPr>
            <a:spLocks noGrp="1" noChangeArrowheads="1"/>
          </p:cNvSpPr>
          <p:nvPr>
            <p:ph type="ctrTitle"/>
          </p:nvPr>
        </p:nvSpPr>
        <p:spPr bwMode="auto">
          <a:xfrm>
            <a:off x="914399" y="1290439"/>
            <a:ext cx="7835153"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sng" strike="noStrike" cap="none" normalizeH="0" baseline="0" dirty="0">
                <a:ln>
                  <a:noFill/>
                </a:ln>
                <a:solidFill>
                  <a:schemeClr val="accent5">
                    <a:lumMod val="50000"/>
                  </a:schemeClr>
                </a:solidFill>
                <a:effectLst/>
                <a:latin typeface="Arial" panose="020B0604020202020204" pitchFamily="34" charset="0"/>
              </a:rPr>
              <a:t>Universal Quantifier ( ∀x ) </a:t>
            </a:r>
            <a:r>
              <a:rPr kumimoji="0" lang="en-US" altLang="en-US" sz="2800" b="1" i="0" u="none" strike="noStrike" cap="none" normalizeH="0" baseline="0" dirty="0">
                <a:ln>
                  <a:noFill/>
                </a:ln>
                <a:solidFill>
                  <a:schemeClr val="tx1"/>
                </a:solidFill>
                <a:effectLst/>
                <a:latin typeface="Arial" panose="020B0604020202020204" pitchFamily="34" charset="0"/>
              </a:rPr>
              <a:t>: “FOR 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Example:</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∀x ∈ N,   x+0=x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Meaning: For every natural number x, adding 0 keeps it unchanged.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statement is </a:t>
            </a:r>
            <a:r>
              <a:rPr kumimoji="0" lang="en-US" altLang="en-US" sz="1800" b="1" i="0" u="none" strike="noStrike" cap="none" normalizeH="0" baseline="0" dirty="0">
                <a:ln>
                  <a:noFill/>
                </a:ln>
                <a:solidFill>
                  <a:schemeClr val="tx1"/>
                </a:solidFill>
                <a:effectLst/>
                <a:latin typeface="Arial" panose="020B0604020202020204" pitchFamily="34" charset="0"/>
              </a:rPr>
              <a:t>true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C8846C16-8CE0-47A4-8BE5-2C00C82144E6}"/>
              </a:ext>
            </a:extLst>
          </p:cNvPr>
          <p:cNvSpPr>
            <a:spLocks noGrp="1" noChangeArrowheads="1"/>
          </p:cNvSpPr>
          <p:nvPr>
            <p:ph type="subTitle" idx="1"/>
          </p:nvPr>
        </p:nvSpPr>
        <p:spPr bwMode="auto">
          <a:xfrm>
            <a:off x="1237130" y="3720903"/>
            <a:ext cx="853440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sng" strike="noStrike" cap="none" normalizeH="0" baseline="0" dirty="0">
                <a:ln>
                  <a:noFill/>
                </a:ln>
                <a:solidFill>
                  <a:schemeClr val="accent5">
                    <a:lumMod val="50000"/>
                  </a:schemeClr>
                </a:solidFill>
                <a:effectLst/>
                <a:latin typeface="Arial" panose="020B0604020202020204" pitchFamily="34" charset="0"/>
              </a:rPr>
              <a:t>Existential Quantifier ( ∃x ): </a:t>
            </a:r>
            <a:r>
              <a:rPr kumimoji="0" lang="en-US" altLang="en-US" sz="2800" b="1" i="0" u="none" strike="noStrike" cap="none" normalizeH="0" baseline="0" dirty="0">
                <a:ln>
                  <a:noFill/>
                </a:ln>
                <a:solidFill>
                  <a:schemeClr val="tx1"/>
                </a:solidFill>
                <a:effectLst/>
                <a:latin typeface="Arial" panose="020B0604020202020204" pitchFamily="34" charset="0"/>
              </a:rPr>
              <a:t>“FOR SOME”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Example: </a:t>
            </a:r>
            <a:r>
              <a:rPr kumimoji="0" lang="en-US" altLang="en-US" sz="1800" b="0" i="0" u="none" strike="noStrike" cap="none" normalizeH="0" baseline="0" dirty="0">
                <a:ln>
                  <a:noFill/>
                </a:ln>
                <a:solidFill>
                  <a:schemeClr val="tx1"/>
                </a:solidFill>
                <a:effectLst/>
                <a:latin typeface="Arial" panose="020B0604020202020204" pitchFamily="34" charset="0"/>
              </a:rPr>
              <a:t>∃x  ∈  N,   x^2 = 25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Meaning: There exists a natural number x such that its square is 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True for x=5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A524DC5-C6D6-49E4-AD24-2FE8CBC507B4}"/>
              </a:ext>
            </a:extLst>
          </p:cNvPr>
          <p:cNvSpPr txBox="1"/>
          <p:nvPr/>
        </p:nvSpPr>
        <p:spPr>
          <a:xfrm>
            <a:off x="1030941" y="352691"/>
            <a:ext cx="3334871" cy="707886"/>
          </a:xfrm>
          <a:prstGeom prst="rect">
            <a:avLst/>
          </a:prstGeom>
          <a:noFill/>
        </p:spPr>
        <p:txBody>
          <a:bodyPr wrap="square" rtlCol="0">
            <a:spAutoFit/>
          </a:bodyPr>
          <a:lstStyle/>
          <a:p>
            <a:r>
              <a:rPr lang="en-US" sz="4000" b="1" u="sng" dirty="0">
                <a:highlight>
                  <a:srgbClr val="FDFBF6"/>
                </a:highlight>
                <a:latin typeface="Algerian" panose="04020705040A02060702" pitchFamily="82" charset="0"/>
              </a:rPr>
              <a:t>Examples</a:t>
            </a:r>
            <a:r>
              <a:rPr lang="en-US" sz="4000" b="1" u="sng" dirty="0">
                <a:solidFill>
                  <a:schemeClr val="bg1"/>
                </a:solidFill>
                <a:highlight>
                  <a:srgbClr val="008000"/>
                </a:highlight>
                <a:latin typeface="Algerian" panose="04020705040A02060702" pitchFamily="82" charset="0"/>
              </a:rPr>
              <a:t>:</a:t>
            </a:r>
          </a:p>
        </p:txBody>
      </p:sp>
    </p:spTree>
    <p:extLst>
      <p:ext uri="{BB962C8B-B14F-4D97-AF65-F5344CB8AC3E}">
        <p14:creationId xmlns:p14="http://schemas.microsoft.com/office/powerpoint/2010/main" val="2908472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B588-3BF4-475F-B491-0FE6E8C04419}"/>
              </a:ext>
            </a:extLst>
          </p:cNvPr>
          <p:cNvSpPr>
            <a:spLocks noGrp="1"/>
          </p:cNvSpPr>
          <p:nvPr>
            <p:ph type="title"/>
          </p:nvPr>
        </p:nvSpPr>
        <p:spPr>
          <a:xfrm>
            <a:off x="340659" y="-161365"/>
            <a:ext cx="11085367" cy="1090053"/>
          </a:xfrm>
        </p:spPr>
        <p:txBody>
          <a:bodyPr/>
          <a:lstStyle/>
          <a:p>
            <a:r>
              <a:rPr lang="en-US" dirty="0"/>
              <a:t>CONCLUSION:</a:t>
            </a:r>
          </a:p>
        </p:txBody>
      </p:sp>
      <p:sp>
        <p:nvSpPr>
          <p:cNvPr id="3" name="Content Placeholder 2">
            <a:extLst>
              <a:ext uri="{FF2B5EF4-FFF2-40B4-BE49-F238E27FC236}">
                <a16:creationId xmlns:a16="http://schemas.microsoft.com/office/drawing/2014/main" id="{33D1E5AE-DC45-4E51-A49B-FD4BF72EF52C}"/>
              </a:ext>
            </a:extLst>
          </p:cNvPr>
          <p:cNvSpPr>
            <a:spLocks noGrp="1"/>
          </p:cNvSpPr>
          <p:nvPr>
            <p:ph sz="half" idx="2"/>
          </p:nvPr>
        </p:nvSpPr>
        <p:spPr>
          <a:xfrm>
            <a:off x="62753" y="928688"/>
            <a:ext cx="12012706" cy="77555855"/>
          </a:xfrm>
        </p:spPr>
        <p:txBody>
          <a:bodyPr/>
          <a:lstStyle/>
          <a:p>
            <a:endParaRPr lang="en-US" dirty="0"/>
          </a:p>
          <a:p>
            <a:endParaRPr lang="en-US" dirty="0"/>
          </a:p>
          <a:p>
            <a:pPr>
              <a:buFont typeface="Arial" panose="020B0604020202020204" pitchFamily="34" charset="0"/>
              <a:buChar char="•"/>
            </a:pPr>
            <a:r>
              <a:rPr lang="en-US" sz="3600" b="1" u="sng" dirty="0">
                <a:solidFill>
                  <a:schemeClr val="tx2">
                    <a:lumMod val="75000"/>
                  </a:schemeClr>
                </a:solidFill>
              </a:rPr>
              <a:t>Predicate</a:t>
            </a:r>
            <a:r>
              <a:rPr lang="en-US" sz="3600" u="sng" dirty="0">
                <a:solidFill>
                  <a:schemeClr val="tx2">
                    <a:lumMod val="75000"/>
                  </a:schemeClr>
                </a:solidFill>
              </a:rPr>
              <a:t>: </a:t>
            </a:r>
            <a:r>
              <a:rPr lang="en-US" sz="3600" dirty="0"/>
              <a:t>Expression with variables (becomes a proposition when values are substituted).</a:t>
            </a:r>
          </a:p>
          <a:p>
            <a:pPr marL="0" indent="0">
              <a:buNone/>
            </a:pPr>
            <a:endParaRPr lang="en-US" sz="3600" dirty="0"/>
          </a:p>
          <a:p>
            <a:pPr>
              <a:buFont typeface="Arial" panose="020B0604020202020204" pitchFamily="34" charset="0"/>
              <a:buChar char="•"/>
            </a:pPr>
            <a:r>
              <a:rPr lang="en-US" sz="3600" b="1" u="sng" dirty="0">
                <a:solidFill>
                  <a:schemeClr val="tx2">
                    <a:lumMod val="75000"/>
                  </a:schemeClr>
                </a:solidFill>
              </a:rPr>
              <a:t>Quantifiers</a:t>
            </a:r>
            <a:r>
              <a:rPr lang="en-US" sz="3600" u="sng" dirty="0">
                <a:solidFill>
                  <a:schemeClr val="tx2">
                    <a:lumMod val="75000"/>
                  </a:schemeClr>
                </a:solidFill>
              </a:rPr>
              <a:t>: </a:t>
            </a:r>
            <a:r>
              <a:rPr lang="en-US" sz="3600" dirty="0"/>
              <a:t>Tools to express statements about </a:t>
            </a:r>
            <a:r>
              <a:rPr lang="en-US" sz="3600" b="1" dirty="0"/>
              <a:t>all</a:t>
            </a:r>
            <a:r>
              <a:rPr lang="en-US" sz="3600" dirty="0"/>
              <a:t> or </a:t>
            </a:r>
            <a:r>
              <a:rPr lang="en-US" sz="3600" b="1" dirty="0"/>
              <a:t>some</a:t>
            </a:r>
            <a:r>
              <a:rPr lang="en-US" sz="3600" dirty="0"/>
              <a:t> elements in a domain.</a:t>
            </a:r>
          </a:p>
          <a:p>
            <a:pPr marL="742950" lvl="1" indent="-285750">
              <a:buFont typeface="Arial" panose="020B0604020202020204" pitchFamily="34" charset="0"/>
              <a:buChar char="•"/>
            </a:pPr>
            <a:r>
              <a:rPr lang="en-US" sz="3600" dirty="0"/>
              <a:t>∀</a:t>
            </a:r>
            <a:r>
              <a:rPr lang="en-US" sz="1600" dirty="0"/>
              <a:t>X</a:t>
            </a:r>
            <a:r>
              <a:rPr lang="en-US" sz="3600" dirty="0"/>
              <a:t>: Universal (“for all”)</a:t>
            </a:r>
          </a:p>
          <a:p>
            <a:pPr marL="742950" lvl="1" indent="-285750">
              <a:buFont typeface="Arial" panose="020B0604020202020204" pitchFamily="34" charset="0"/>
              <a:buChar char="•"/>
            </a:pPr>
            <a:r>
              <a:rPr lang="en-US" sz="3600" dirty="0"/>
              <a:t>∃</a:t>
            </a:r>
            <a:r>
              <a:rPr lang="en-US" sz="1600" dirty="0"/>
              <a:t>X </a:t>
            </a:r>
            <a:r>
              <a:rPr lang="en-US" sz="3600" dirty="0"/>
              <a:t>   : Existential (“there exists”)</a:t>
            </a:r>
          </a:p>
          <a:p>
            <a:endParaRPr lang="en-US" sz="3600" dirty="0"/>
          </a:p>
          <a:p>
            <a:endParaRPr lang="en-US" sz="3600" dirty="0"/>
          </a:p>
          <a:p>
            <a:endParaRPr lang="en-US" sz="3600" dirty="0"/>
          </a:p>
          <a:p>
            <a:endParaRPr lang="en-US" sz="3600" dirty="0"/>
          </a:p>
          <a:p>
            <a:endParaRPr lang="en-US" dirty="0"/>
          </a:p>
          <a:p>
            <a:endParaRPr lang="en-US" dirty="0"/>
          </a:p>
          <a:p>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EB4BAB3F-6D63-4357-A5A7-E66BE798F050}"/>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
        <p:nvSpPr>
          <p:cNvPr id="8" name="Rectangle 4">
            <a:extLst>
              <a:ext uri="{FF2B5EF4-FFF2-40B4-BE49-F238E27FC236}">
                <a16:creationId xmlns:a16="http://schemas.microsoft.com/office/drawing/2014/main" id="{DE921DE6-217A-4A92-9EE5-570B5A19992F}"/>
              </a:ext>
            </a:extLst>
          </p:cNvPr>
          <p:cNvSpPr>
            <a:spLocks noChangeArrowheads="1"/>
          </p:cNvSpPr>
          <p:nvPr/>
        </p:nvSpPr>
        <p:spPr bwMode="auto">
          <a:xfrm>
            <a:off x="0" y="930275"/>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26624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solidFill>
                  <a:srgbClr val="00B0F0"/>
                </a:solidFill>
              </a:rPr>
              <a:t>Thank </a:t>
            </a:r>
            <a:br>
              <a:rPr lang="en-US" dirty="0">
                <a:solidFill>
                  <a:srgbClr val="00B0F0"/>
                </a:solidFill>
              </a:rPr>
            </a:br>
            <a:r>
              <a:rPr lang="en-US" dirty="0">
                <a:solidFill>
                  <a:srgbClr val="00B0F0"/>
                </a:solidFill>
              </a:rPr>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FOR LISTENING TO ME PATIENTLY.</a:t>
            </a:r>
          </a:p>
        </p:txBody>
      </p:sp>
    </p:spTree>
    <p:extLst>
      <p:ext uri="{BB962C8B-B14F-4D97-AF65-F5344CB8AC3E}">
        <p14:creationId xmlns:p14="http://schemas.microsoft.com/office/powerpoint/2010/main" val="1973173046"/>
      </p:ext>
    </p:extLst>
  </p:cSld>
  <p:clrMapOvr>
    <a:masterClrMapping/>
  </p:clrMapOvr>
  <p:transition spd="slow">
    <p:wipe/>
  </p:transition>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My presentation</Template>
  <TotalTime>57</TotalTime>
  <Words>475</Words>
  <Application>Microsoft Office PowerPoint</Application>
  <PresentationFormat>Widescreen</PresentationFormat>
  <Paragraphs>52</Paragraphs>
  <Slides>9</Slides>
  <Notes>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9" baseType="lpstr">
      <vt:lpstr>Adobe Gothic Std B</vt:lpstr>
      <vt:lpstr>Adobe Myungjo Std M</vt:lpstr>
      <vt:lpstr>Algerian</vt:lpstr>
      <vt:lpstr>Arial</vt:lpstr>
      <vt:lpstr>Arial Black</vt:lpstr>
      <vt:lpstr>Calibri</vt:lpstr>
      <vt:lpstr>Sabon Next LT</vt:lpstr>
      <vt:lpstr>Wingdings</vt:lpstr>
      <vt:lpstr>Custom</vt:lpstr>
      <vt:lpstr>Equation</vt:lpstr>
      <vt:lpstr>NAME: ATIKA SAMIHA ID      : 251311007</vt:lpstr>
      <vt:lpstr>TOPIC: DEFINITION OF PREDICATE AND QUANTIFIER WITH EXAMPLE</vt:lpstr>
      <vt:lpstr>PREDICATE</vt:lpstr>
      <vt:lpstr>    1) A predicate is a statement or expression that contains variables.  2)It becomes a proposition (true or false) when specific values are substituted for variables   3)A PREDICATE EXPRESSES PROPERTIES OR RELATIONSHIPS BETWEEN OBJECT.  4)PREDICATES CAN BE REPRESENTED BY USING CAPITAL LETTER FOLLOWED BY THE VARIABLES IN PARENTHESES, LIKE P(X) OR q(X,Y).   </vt:lpstr>
      <vt:lpstr>Examples of predicate :</vt:lpstr>
      <vt:lpstr>Quantifiers :</vt:lpstr>
      <vt:lpstr>Universal Quantifier ( ∀x ) : “FOR ALL” Example: ∀x ∈ N,   x+0=x Meaning: For every natural number x, adding 0 keeps it unchanged. This statement is true.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ATIKA SAMIHA ID      : 251311007</dc:title>
  <dc:subject/>
  <dc:creator>atikasamiha9@outlook.com</dc:creator>
  <cp:lastModifiedBy>atikasamiha9@outlook.com</cp:lastModifiedBy>
  <cp:revision>7</cp:revision>
  <dcterms:created xsi:type="dcterms:W3CDTF">2025-08-19T07:21:24Z</dcterms:created>
  <dcterms:modified xsi:type="dcterms:W3CDTF">2025-11-20T14:10:20Z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