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ST" initials="D" lastIdx="1" clrIdx="0">
    <p:extLst>
      <p:ext uri="{19B8F6BF-5375-455C-9EA6-DF929625EA0E}">
        <p15:presenceInfo xmlns:p15="http://schemas.microsoft.com/office/powerpoint/2012/main" userId="7ff745fee6fa4c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ran Ali" userId="bf955da3c15dbad0" providerId="LiveId" clId="{AEAA608F-F4EA-4C7D-92B7-A143A27931C5}"/>
    <pc:docChg chg="modSld">
      <pc:chgData name="Emran Ali" userId="bf955da3c15dbad0" providerId="LiveId" clId="{AEAA608F-F4EA-4C7D-92B7-A143A27931C5}" dt="2025-11-21T19:18:28.195" v="1" actId="20577"/>
      <pc:docMkLst>
        <pc:docMk/>
      </pc:docMkLst>
      <pc:sldChg chg="modSp mod">
        <pc:chgData name="Emran Ali" userId="bf955da3c15dbad0" providerId="LiveId" clId="{AEAA608F-F4EA-4C7D-92B7-A143A27931C5}" dt="2025-11-21T19:18:28.195" v="1" actId="20577"/>
        <pc:sldMkLst>
          <pc:docMk/>
          <pc:sldMk cId="3842658198" sldId="262"/>
        </pc:sldMkLst>
        <pc:spChg chg="mod">
          <ac:chgData name="Emran Ali" userId="bf955da3c15dbad0" providerId="LiveId" clId="{AEAA608F-F4EA-4C7D-92B7-A143A27931C5}" dt="2025-11-21T19:18:28.195" v="1" actId="20577"/>
          <ac:spMkLst>
            <pc:docMk/>
            <pc:sldMk cId="3842658198" sldId="262"/>
            <ac:spMk id="2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25T14:33:02.065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6719"/>
            <a:ext cx="9663764" cy="1151823"/>
          </a:xfrm>
        </p:spPr>
        <p:txBody>
          <a:bodyPr>
            <a:normAutofit fontScale="90000"/>
          </a:bodyPr>
          <a:lstStyle/>
          <a:p>
            <a:pPr algn="l"/>
            <a:b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</a:b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Converting English Sentences to Logical Expressions  and Vice Versa</a:t>
            </a:r>
            <a:b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</a:br>
            <a: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 </a:t>
            </a:r>
            <a:b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</a:br>
            <a:b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</a:b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Presented by:</a:t>
            </a:r>
            <a: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Segoe UI Historic" panose="020B0502040204020203" pitchFamily="34" charset="0"/>
              </a:rPr>
              <a:t> </a:t>
            </a:r>
            <a:br>
              <a:rPr lang="en-US" sz="28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br>
              <a:rPr lang="en-US" sz="28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</a:t>
            </a:r>
            <a:r>
              <a:rPr lang="en-US" sz="3100" dirty="0" err="1">
                <a:solidFill>
                  <a:srgbClr val="7030A0"/>
                </a:solidFill>
                <a:latin typeface="Segoe UI Historic" panose="020B0502040204020203" pitchFamily="34" charset="0"/>
              </a:rPr>
              <a:t>Tasnim</a:t>
            </a: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</a:t>
            </a:r>
            <a:r>
              <a:rPr lang="en-US" sz="3100" dirty="0" err="1">
                <a:solidFill>
                  <a:srgbClr val="7030A0"/>
                </a:solidFill>
                <a:latin typeface="Segoe UI Historic" panose="020B0502040204020203" pitchFamily="34" charset="0"/>
              </a:rPr>
              <a:t>Tabassum</a:t>
            </a:r>
            <a:b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ID: 251311006</a:t>
            </a:r>
            <a:b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Section: A  </a:t>
            </a:r>
            <a:b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Semester:2nd  </a:t>
            </a:r>
            <a:b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Batch: 36</a:t>
            </a:r>
            <a:r>
              <a:rPr lang="en-US" sz="3100" baseline="30000" dirty="0">
                <a:solidFill>
                  <a:srgbClr val="7030A0"/>
                </a:solidFill>
                <a:latin typeface="Segoe UI Historic" panose="020B0502040204020203" pitchFamily="34" charset="0"/>
              </a:rPr>
              <a:t>th</a:t>
            </a:r>
            <a:b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</a:br>
            <a:r>
              <a:rPr lang="en-US" sz="3100" dirty="0">
                <a:solidFill>
                  <a:srgbClr val="7030A0"/>
                </a:solidFill>
                <a:latin typeface="Segoe UI Historic" panose="020B0502040204020203" pitchFamily="34" charset="0"/>
              </a:rPr>
              <a:t>                        Dep. of: CSE</a:t>
            </a:r>
            <a:endParaRPr lang="en-US" sz="3100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887753" y="6297343"/>
            <a:ext cx="2447925" cy="881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</a:rPr>
              <a:t>Date: August 26, 2025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Segoe UI Historic" panose="020B0502040204020203" pitchFamily="34" charset="0"/>
              </a:rPr>
              <a:t> </a:t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56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Why Learn This?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573571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- Helps in programming, mathematics, and logic design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- Improves critical thinking and problem-solving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- Bridges natural language with formal reasoning 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790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English to Logic – Key Operators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03" y="2247216"/>
            <a:ext cx="9862329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| </a:t>
            </a:r>
            <a:r>
              <a:rPr lang="en-US" sz="24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Symbol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| Meaning   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|     </a:t>
            </a:r>
            <a:r>
              <a:rPr lang="en-US" sz="24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Example (English)          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| </a:t>
            </a:r>
            <a:r>
              <a:rPr lang="en-US" sz="24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Example (Logic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) |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→          </a:t>
            </a:r>
            <a:r>
              <a:rPr lang="en-US" sz="2400" dirty="0">
                <a:solidFill>
                  <a:srgbClr val="FF0000"/>
                </a:solidFill>
                <a:latin typeface="Segoe UI Historic" panose="020B0502040204020203" pitchFamily="34" charset="0"/>
              </a:rPr>
              <a:t>If...then       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If it rains, ground is wet             </a:t>
            </a:r>
            <a:r>
              <a:rPr lang="en-US" sz="2400" b="1" dirty="0">
                <a:solidFill>
                  <a:srgbClr val="00B050"/>
                </a:solidFill>
                <a:latin typeface="Segoe UI Historic" panose="020B0502040204020203" pitchFamily="34" charset="0"/>
              </a:rPr>
              <a:t>R → 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∧           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AND</a:t>
            </a:r>
            <a:r>
              <a:rPr lang="en-US" sz="2400" dirty="0">
                <a:solidFill>
                  <a:srgbClr val="FF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    Light is on and fan is running     </a:t>
            </a:r>
            <a:r>
              <a:rPr lang="en-US" sz="2400" b="1" dirty="0">
                <a:solidFill>
                  <a:srgbClr val="00B050"/>
                </a:solidFill>
                <a:latin typeface="Segoe UI Historic" panose="020B0502040204020203" pitchFamily="34" charset="0"/>
              </a:rPr>
              <a:t>L ∧ F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∨           </a:t>
            </a:r>
            <a:r>
              <a:rPr lang="en-US" sz="2400" dirty="0">
                <a:solidFill>
                  <a:srgbClr val="FF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OR</a:t>
            </a:r>
            <a:r>
              <a:rPr lang="en-US" sz="2400" dirty="0">
                <a:solidFill>
                  <a:srgbClr val="FF0000"/>
                </a:solidFill>
                <a:latin typeface="Segoe UI Historic" panose="020B0502040204020203" pitchFamily="34" charset="0"/>
              </a:rPr>
              <a:t>            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Switch is faulty or bulb broken    </a:t>
            </a:r>
            <a:r>
              <a:rPr lang="en-US" sz="2400" b="1" dirty="0">
                <a:solidFill>
                  <a:srgbClr val="00B050"/>
                </a:solidFill>
                <a:latin typeface="Segoe UI Historic" panose="020B0502040204020203" pitchFamily="34" charset="0"/>
              </a:rPr>
              <a:t>S ∨ B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¬           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NOT</a:t>
            </a:r>
            <a:r>
              <a:rPr lang="en-US" sz="24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      Train is not on time                     </a:t>
            </a:r>
            <a:r>
              <a:rPr lang="en-US" sz="2400" b="1" dirty="0">
                <a:solidFill>
                  <a:srgbClr val="00B050"/>
                </a:solidFill>
                <a:latin typeface="Segoe UI Historic" panose="020B0502040204020203" pitchFamily="34" charset="0"/>
              </a:rPr>
              <a:t>¬T 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87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1498" y="417095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Logic to English – Examples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212" y="216058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Logic Expression 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|      </a:t>
            </a:r>
            <a:r>
              <a:rPr lang="en-US" sz="2800" b="1" dirty="0">
                <a:solidFill>
                  <a:srgbClr val="000000"/>
                </a:solidFill>
                <a:latin typeface="Segoe UI Historic" panose="020B0502040204020203" pitchFamily="34" charset="0"/>
              </a:rPr>
              <a:t>English Translation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       </a:t>
            </a:r>
            <a:r>
              <a:rPr lang="en-US" sz="28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P ∧ Q                        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P and Q are both true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        ¬T                            </a:t>
            </a:r>
            <a:r>
              <a:rPr lang="en-US" sz="2800" dirty="0" err="1">
                <a:solidFill>
                  <a:srgbClr val="000000"/>
                </a:solidFill>
                <a:latin typeface="Segoe UI Historic" panose="020B0502040204020203" pitchFamily="34" charset="0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 is not true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      A → B                        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If A is true, then B is true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      X ∨ Y                          </a:t>
            </a:r>
            <a:r>
              <a:rPr lang="en-US" sz="2800" dirty="0">
                <a:solidFill>
                  <a:srgbClr val="000000"/>
                </a:solidFill>
                <a:latin typeface="Segoe UI Historic" panose="020B0502040204020203" pitchFamily="34" charset="0"/>
              </a:rPr>
              <a:t>Either X is true or Y is true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708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😊 Some Examples 😊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711" y="2977227"/>
            <a:ext cx="9092308" cy="3880773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tx1"/>
                </a:solidFill>
                <a:latin typeface="Segoe UI Historic" panose="020B0502040204020203" pitchFamily="34" charset="0"/>
              </a:rPr>
              <a:t> "If the circuit is closed, current flows." Logic:  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C → 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tx1"/>
                </a:solidFill>
                <a:latin typeface="Segoe UI Historic" panose="020B0502040204020203" pitchFamily="34" charset="0"/>
              </a:rPr>
              <a:t> "The switch is off and the LED is off." Logic:  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¬S ∧ ¬L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tx1"/>
                </a:solidFill>
                <a:latin typeface="Segoe UI Historic" panose="020B0502040204020203" pitchFamily="34" charset="0"/>
              </a:rPr>
              <a:t>"Either motor is running or noise is detected."  </a:t>
            </a:r>
            <a:r>
              <a:rPr lang="en-US" sz="2400" b="1" dirty="0">
                <a:solidFill>
                  <a:srgbClr val="FF0000"/>
                </a:solidFill>
                <a:latin typeface="Segoe UI Historic" panose="020B0502040204020203" pitchFamily="34" charset="0"/>
              </a:rPr>
              <a:t>M ∨ N </a:t>
            </a:r>
            <a:br>
              <a:rPr lang="en-US" sz="24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3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egoe UI Historic" panose="020B0502040204020203" pitchFamily="34" charset="0"/>
              </a:rPr>
              <a:t>  Summary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10122211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0000"/>
                </a:solidFill>
                <a:latin typeface="inherit"/>
              </a:rPr>
              <a:t> - Use symbols to simplify complex statements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0000"/>
                </a:solidFill>
                <a:latin typeface="inherit"/>
              </a:rPr>
              <a:t> - Translate real-world conditions into logic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0000"/>
                </a:solidFill>
                <a:latin typeface="inherit"/>
              </a:rPr>
              <a:t> - Essential for programming, electronics, and mathematical            proofs</a:t>
            </a:r>
          </a:p>
        </p:txBody>
      </p:sp>
    </p:spTree>
    <p:extLst>
      <p:ext uri="{BB962C8B-B14F-4D97-AF65-F5344CB8AC3E}">
        <p14:creationId xmlns:p14="http://schemas.microsoft.com/office/powerpoint/2010/main" val="4288170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0792" y="2338939"/>
            <a:ext cx="7873465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50000"/>
                  </a:schemeClr>
                </a:solidFill>
              </a:rPr>
              <a:t>Any </a:t>
            </a:r>
            <a:r>
              <a:rPr lang="en-US" sz="6000" b="1">
                <a:solidFill>
                  <a:schemeClr val="accent1">
                    <a:lumMod val="50000"/>
                  </a:schemeClr>
                </a:solidFill>
              </a:rPr>
              <a:t>Question ?</a:t>
            </a:r>
            <a:endParaRPr lang="en-US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6581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9758</TotalTime>
  <Words>295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Courier New</vt:lpstr>
      <vt:lpstr>inherit</vt:lpstr>
      <vt:lpstr>Segoe UI Historic</vt:lpstr>
      <vt:lpstr>Trebuchet MS</vt:lpstr>
      <vt:lpstr>Wingdings</vt:lpstr>
      <vt:lpstr>Wingdings 3</vt:lpstr>
      <vt:lpstr>Facet</vt:lpstr>
      <vt:lpstr> Converting English Sentences to Logical Expressions  and Vice Versa    Presented by:                            Tasnim Tabassum                         ID: 251311006                         Section: A                           Semester:2nd                           Batch: 36th                         Dep. of: CSE</vt:lpstr>
      <vt:lpstr>Why Learn This?</vt:lpstr>
      <vt:lpstr>English to Logic – Key Operators  </vt:lpstr>
      <vt:lpstr>Logic to English – Examples</vt:lpstr>
      <vt:lpstr>😊 Some Examples 😊</vt:lpstr>
      <vt:lpstr> 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Converting English Sentences to Logical Expressions and Vice Versa Presented by: Tasnim Tabassun</dc:title>
  <dc:creator>DST</dc:creator>
  <cp:lastModifiedBy>Emran Ali</cp:lastModifiedBy>
  <cp:revision>21</cp:revision>
  <dcterms:created xsi:type="dcterms:W3CDTF">2025-08-19T05:51:56Z</dcterms:created>
  <dcterms:modified xsi:type="dcterms:W3CDTF">2025-11-21T19:18:30Z</dcterms:modified>
</cp:coreProperties>
</file>