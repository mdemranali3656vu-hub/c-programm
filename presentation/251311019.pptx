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grandir Wide Bold" panose="020B0604020202020204" charset="0"/>
      <p:regular r:id="rId8"/>
    </p:embeddedFont>
    <p:embeddedFont>
      <p:font typeface="Telegraf" panose="020B0604020202020204" charset="0"/>
      <p:regular r:id="rId9"/>
    </p:embeddedFont>
    <p:embeddedFont>
      <p:font typeface="Telegraf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540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ran Ali" userId="bf955da3c15dbad0" providerId="LiveId" clId="{AEAA608F-F4EA-4C7D-92B7-A143A27931C5}"/>
    <pc:docChg chg="custSel delSld modSld">
      <pc:chgData name="Emran Ali" userId="bf955da3c15dbad0" providerId="LiveId" clId="{AEAA608F-F4EA-4C7D-92B7-A143A27931C5}" dt="2025-11-21T19:20:58.305" v="31" actId="2696"/>
      <pc:docMkLst>
        <pc:docMk/>
      </pc:docMkLst>
      <pc:sldChg chg="modSp mod">
        <pc:chgData name="Emran Ali" userId="bf955da3c15dbad0" providerId="LiveId" clId="{AEAA608F-F4EA-4C7D-92B7-A143A27931C5}" dt="2025-11-21T19:20:03.540" v="30" actId="20577"/>
        <pc:sldMkLst>
          <pc:docMk/>
          <pc:sldMk cId="0" sldId="261"/>
        </pc:sldMkLst>
        <pc:spChg chg="mod">
          <ac:chgData name="Emran Ali" userId="bf955da3c15dbad0" providerId="LiveId" clId="{AEAA608F-F4EA-4C7D-92B7-A143A27931C5}" dt="2025-11-21T19:20:03.540" v="30" actId="20577"/>
          <ac:spMkLst>
            <pc:docMk/>
            <pc:sldMk cId="0" sldId="261"/>
            <ac:spMk id="3" creationId="{00000000-0000-0000-0000-000000000000}"/>
          </ac:spMkLst>
        </pc:spChg>
      </pc:sldChg>
      <pc:sldChg chg="del">
        <pc:chgData name="Emran Ali" userId="bf955da3c15dbad0" providerId="LiveId" clId="{AEAA608F-F4EA-4C7D-92B7-A143A27931C5}" dt="2025-11-21T19:20:58.305" v="31" actId="2696"/>
        <pc:sldMkLst>
          <pc:docMk/>
          <pc:sldMk cId="0" sldId="26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70000"/>
              </a:srgbClr>
            </a:gs>
            <a:gs pos="33333">
              <a:srgbClr val="E29AA4">
                <a:alpha val="70000"/>
              </a:srgbClr>
            </a:gs>
            <a:gs pos="66667">
              <a:srgbClr val="EFC072">
                <a:alpha val="70000"/>
              </a:srgbClr>
            </a:gs>
            <a:gs pos="100000">
              <a:srgbClr val="F3ECE7">
                <a:alpha val="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118886" y="3573275"/>
            <a:ext cx="14202628" cy="3839601"/>
            <a:chOff x="0" y="0"/>
            <a:chExt cx="3740610" cy="101125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40610" cy="1011253"/>
            </a:xfrm>
            <a:custGeom>
              <a:avLst/>
              <a:gdLst/>
              <a:ahLst/>
              <a:cxnLst/>
              <a:rect l="l" t="t" r="r" b="b"/>
              <a:pathLst>
                <a:path w="3740610" h="1011253">
                  <a:moveTo>
                    <a:pt x="0" y="0"/>
                  </a:moveTo>
                  <a:lnTo>
                    <a:pt x="3740610" y="0"/>
                  </a:lnTo>
                  <a:lnTo>
                    <a:pt x="3740610" y="1011253"/>
                  </a:lnTo>
                  <a:lnTo>
                    <a:pt x="0" y="1011253"/>
                  </a:lnTo>
                  <a:close/>
                </a:path>
              </a:pathLst>
            </a:custGeom>
            <a:solidFill>
              <a:srgbClr val="BE506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740610" cy="1077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042686" y="3420875"/>
            <a:ext cx="14202628" cy="3839601"/>
            <a:chOff x="0" y="0"/>
            <a:chExt cx="3740610" cy="101125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740610" cy="1011253"/>
            </a:xfrm>
            <a:custGeom>
              <a:avLst/>
              <a:gdLst/>
              <a:ahLst/>
              <a:cxnLst/>
              <a:rect l="l" t="t" r="r" b="b"/>
              <a:pathLst>
                <a:path w="3740610" h="1011253">
                  <a:moveTo>
                    <a:pt x="0" y="0"/>
                  </a:moveTo>
                  <a:lnTo>
                    <a:pt x="3740610" y="0"/>
                  </a:lnTo>
                  <a:lnTo>
                    <a:pt x="3740610" y="1011253"/>
                  </a:lnTo>
                  <a:lnTo>
                    <a:pt x="0" y="1011253"/>
                  </a:lnTo>
                  <a:close/>
                </a:path>
              </a:pathLst>
            </a:custGeom>
            <a:solidFill>
              <a:srgbClr val="FFF7E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3740610" cy="10779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897428">
            <a:off x="-333423" y="93258"/>
            <a:ext cx="4779557" cy="3154508"/>
          </a:xfrm>
          <a:custGeom>
            <a:avLst/>
            <a:gdLst/>
            <a:ahLst/>
            <a:cxnLst/>
            <a:rect l="l" t="t" r="r" b="b"/>
            <a:pathLst>
              <a:path w="4779557" h="3154508">
                <a:moveTo>
                  <a:pt x="0" y="0"/>
                </a:moveTo>
                <a:lnTo>
                  <a:pt x="4779557" y="0"/>
                </a:lnTo>
                <a:lnTo>
                  <a:pt x="4779557" y="3154508"/>
                </a:lnTo>
                <a:lnTo>
                  <a:pt x="0" y="31545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Freeform 9"/>
          <p:cNvSpPr/>
          <p:nvPr/>
        </p:nvSpPr>
        <p:spPr>
          <a:xfrm>
            <a:off x="13029440" y="7810168"/>
            <a:ext cx="4744616" cy="3381617"/>
          </a:xfrm>
          <a:custGeom>
            <a:avLst/>
            <a:gdLst/>
            <a:ahLst/>
            <a:cxnLst/>
            <a:rect l="l" t="t" r="r" b="b"/>
            <a:pathLst>
              <a:path w="4744616" h="3381617">
                <a:moveTo>
                  <a:pt x="0" y="0"/>
                </a:moveTo>
                <a:lnTo>
                  <a:pt x="4744616" y="0"/>
                </a:lnTo>
                <a:lnTo>
                  <a:pt x="4744616" y="3381618"/>
                </a:lnTo>
                <a:lnTo>
                  <a:pt x="0" y="338161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Freeform 10"/>
          <p:cNvSpPr/>
          <p:nvPr/>
        </p:nvSpPr>
        <p:spPr>
          <a:xfrm rot="-346371">
            <a:off x="5438673" y="580536"/>
            <a:ext cx="2858848" cy="1512590"/>
          </a:xfrm>
          <a:custGeom>
            <a:avLst/>
            <a:gdLst/>
            <a:ahLst/>
            <a:cxnLst/>
            <a:rect l="l" t="t" r="r" b="b"/>
            <a:pathLst>
              <a:path w="2858848" h="1512590">
                <a:moveTo>
                  <a:pt x="0" y="0"/>
                </a:moveTo>
                <a:lnTo>
                  <a:pt x="2858848" y="0"/>
                </a:lnTo>
                <a:lnTo>
                  <a:pt x="2858848" y="1512590"/>
                </a:lnTo>
                <a:lnTo>
                  <a:pt x="0" y="1512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1" name="TextBox 11"/>
          <p:cNvSpPr txBox="1"/>
          <p:nvPr/>
        </p:nvSpPr>
        <p:spPr>
          <a:xfrm>
            <a:off x="2673835" y="3787132"/>
            <a:ext cx="13092730" cy="220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97"/>
              </a:lnSpc>
            </a:pPr>
            <a:r>
              <a:rPr lang="en-US" sz="6927" b="1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Truth Tables in Propositional Logic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673835" y="6131688"/>
            <a:ext cx="5274911" cy="492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5"/>
              </a:lnSpc>
              <a:spcBef>
                <a:spcPct val="0"/>
              </a:spcBef>
            </a:pPr>
            <a:r>
              <a:rPr lang="en-US" sz="2896" b="1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Name</a:t>
            </a:r>
            <a:r>
              <a:rPr lang="en-US" sz="2896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:  Md </a:t>
            </a:r>
            <a:r>
              <a:rPr lang="en-US" sz="2896" dirty="0" err="1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Zakirul</a:t>
            </a:r>
            <a:r>
              <a:rPr lang="en-US" sz="2896" dirty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Islam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73835" y="6571779"/>
            <a:ext cx="5274911" cy="525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5"/>
              </a:lnSpc>
              <a:spcBef>
                <a:spcPct val="0"/>
              </a:spcBef>
            </a:pPr>
            <a:r>
              <a:rPr lang="en-US" sz="2896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ID</a:t>
            </a:r>
            <a:r>
              <a:rPr lang="en-US" sz="289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       :   251311019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706542" y="6035258"/>
            <a:ext cx="2695206" cy="52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5"/>
              </a:lnSpc>
              <a:spcBef>
                <a:spcPct val="0"/>
              </a:spcBef>
            </a:pPr>
            <a:r>
              <a:rPr lang="en-US" sz="2896" b="1" u="none" strike="noStrik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Batch     : 36th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06542" y="6482013"/>
            <a:ext cx="2695206" cy="526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55"/>
              </a:lnSpc>
              <a:spcBef>
                <a:spcPct val="0"/>
              </a:spcBef>
            </a:pPr>
            <a:r>
              <a:rPr lang="en-US" sz="2896" b="1" u="none" strike="noStrik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Section : 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722804">
            <a:off x="10744961" y="2881840"/>
            <a:ext cx="6853514" cy="4523319"/>
          </a:xfrm>
          <a:custGeom>
            <a:avLst/>
            <a:gdLst/>
            <a:ahLst/>
            <a:cxnLst/>
            <a:rect l="l" t="t" r="r" b="b"/>
            <a:pathLst>
              <a:path w="6853514" h="4523319">
                <a:moveTo>
                  <a:pt x="0" y="0"/>
                </a:moveTo>
                <a:lnTo>
                  <a:pt x="6853514" y="0"/>
                </a:lnTo>
                <a:lnTo>
                  <a:pt x="6853514" y="4523320"/>
                </a:lnTo>
                <a:lnTo>
                  <a:pt x="0" y="45233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714949" y="1145577"/>
            <a:ext cx="8930841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98"/>
              </a:lnSpc>
            </a:pPr>
            <a:r>
              <a:rPr lang="en-US" sz="6332" b="1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Truth Tables in Propositional Logic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417556" y="3366106"/>
            <a:ext cx="8930841" cy="5682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5515" lvl="1" indent="-382758" algn="l">
              <a:lnSpc>
                <a:spcPts val="4963"/>
              </a:lnSpc>
              <a:buFont typeface="Arial"/>
              <a:buChar char="•"/>
            </a:pPr>
            <a:r>
              <a:rPr lang="en-US" sz="3545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Definition:</a:t>
            </a:r>
            <a:r>
              <a:rPr lang="en-US" sz="354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 truth table is a tabular method to determine the truth value of a compound proposition for all possible truth values of its components.</a:t>
            </a:r>
          </a:p>
          <a:p>
            <a:pPr marL="765515" lvl="1" indent="-382758" algn="l">
              <a:lnSpc>
                <a:spcPts val="4963"/>
              </a:lnSpc>
              <a:spcBef>
                <a:spcPct val="0"/>
              </a:spcBef>
              <a:buFont typeface="Arial"/>
              <a:buChar char="•"/>
            </a:pPr>
            <a:r>
              <a:rPr lang="en-US" sz="3545" b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Purpose:</a:t>
            </a:r>
          </a:p>
          <a:p>
            <a:pPr marL="1531030" lvl="2" indent="-510343" algn="l">
              <a:lnSpc>
                <a:spcPts val="4963"/>
              </a:lnSpc>
              <a:spcBef>
                <a:spcPct val="0"/>
              </a:spcBef>
              <a:buFont typeface="Arial"/>
              <a:buChar char="⚬"/>
            </a:pPr>
            <a:r>
              <a:rPr lang="en-US" sz="354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Analyze logical statements</a:t>
            </a:r>
          </a:p>
          <a:p>
            <a:pPr marL="1531030" lvl="2" indent="-510343" algn="l">
              <a:lnSpc>
                <a:spcPts val="4963"/>
              </a:lnSpc>
              <a:spcBef>
                <a:spcPct val="0"/>
              </a:spcBef>
              <a:buFont typeface="Arial"/>
              <a:buChar char="⚬"/>
            </a:pPr>
            <a:r>
              <a:rPr lang="en-US" sz="3545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Identify tautologies, contradictions, and contingencies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9841" y="1145577"/>
            <a:ext cx="7489065" cy="298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58"/>
              </a:lnSpc>
            </a:pPr>
            <a:r>
              <a:rPr lang="en-US" sz="6132" b="1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How to Construct a Truth Table?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097981" y="1467528"/>
            <a:ext cx="9161319" cy="7790772"/>
            <a:chOff x="0" y="0"/>
            <a:chExt cx="4602860" cy="3914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602861" cy="3914266"/>
            </a:xfrm>
            <a:custGeom>
              <a:avLst/>
              <a:gdLst/>
              <a:ahLst/>
              <a:cxnLst/>
              <a:rect l="l" t="t" r="r" b="b"/>
              <a:pathLst>
                <a:path w="4602861" h="3914266">
                  <a:moveTo>
                    <a:pt x="0" y="0"/>
                  </a:moveTo>
                  <a:lnTo>
                    <a:pt x="4602861" y="0"/>
                  </a:lnTo>
                  <a:lnTo>
                    <a:pt x="4602861" y="3914266"/>
                  </a:lnTo>
                  <a:lnTo>
                    <a:pt x="0" y="3914266"/>
                  </a:lnTo>
                  <a:close/>
                </a:path>
              </a:pathLst>
            </a:custGeom>
            <a:solidFill>
              <a:srgbClr val="FF9DAF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4602860" cy="39809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872020" y="1326552"/>
            <a:ext cx="9234880" cy="7758061"/>
            <a:chOff x="0" y="0"/>
            <a:chExt cx="4639819" cy="38978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639819" cy="3897831"/>
            </a:xfrm>
            <a:custGeom>
              <a:avLst/>
              <a:gdLst/>
              <a:ahLst/>
              <a:cxnLst/>
              <a:rect l="l" t="t" r="r" b="b"/>
              <a:pathLst>
                <a:path w="4639819" h="3897831">
                  <a:moveTo>
                    <a:pt x="0" y="0"/>
                  </a:moveTo>
                  <a:lnTo>
                    <a:pt x="4639819" y="0"/>
                  </a:lnTo>
                  <a:lnTo>
                    <a:pt x="4639819" y="3897831"/>
                  </a:lnTo>
                  <a:lnTo>
                    <a:pt x="0" y="3897831"/>
                  </a:lnTo>
                  <a:close/>
                </a:path>
              </a:pathLst>
            </a:custGeom>
            <a:solidFill>
              <a:srgbClr val="FFEFD3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4639819" cy="39645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523177" y="1763264"/>
            <a:ext cx="8310926" cy="480695"/>
            <a:chOff x="0" y="0"/>
            <a:chExt cx="11081235" cy="640927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108134"/>
              <a:ext cx="424659" cy="424659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A7F83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716759" y="-95250"/>
              <a:ext cx="10364476" cy="7361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81" lvl="1" indent="-345440" algn="l">
                <a:lnSpc>
                  <a:spcPts val="44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00" b="1">
                  <a:solidFill>
                    <a:srgbClr val="BE506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Identify variables</a:t>
              </a:r>
            </a:p>
          </p:txBody>
        </p:sp>
      </p:grpSp>
      <p:sp>
        <p:nvSpPr>
          <p:cNvPr id="13" name="Freeform 13"/>
          <p:cNvSpPr/>
          <p:nvPr/>
        </p:nvSpPr>
        <p:spPr>
          <a:xfrm rot="-254475">
            <a:off x="4015114" y="6522620"/>
            <a:ext cx="2858848" cy="1512590"/>
          </a:xfrm>
          <a:custGeom>
            <a:avLst/>
            <a:gdLst/>
            <a:ahLst/>
            <a:cxnLst/>
            <a:rect l="l" t="t" r="r" b="b"/>
            <a:pathLst>
              <a:path w="2858848" h="1512590">
                <a:moveTo>
                  <a:pt x="0" y="0"/>
                </a:moveTo>
                <a:lnTo>
                  <a:pt x="2858848" y="0"/>
                </a:lnTo>
                <a:lnTo>
                  <a:pt x="2858848" y="1512590"/>
                </a:lnTo>
                <a:lnTo>
                  <a:pt x="0" y="15125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 rot="-254475">
            <a:off x="801859" y="6053214"/>
            <a:ext cx="2744280" cy="2936486"/>
          </a:xfrm>
          <a:custGeom>
            <a:avLst/>
            <a:gdLst/>
            <a:ahLst/>
            <a:cxnLst/>
            <a:rect l="l" t="t" r="r" b="b"/>
            <a:pathLst>
              <a:path w="2744280" h="2936486">
                <a:moveTo>
                  <a:pt x="0" y="0"/>
                </a:moveTo>
                <a:lnTo>
                  <a:pt x="2744279" y="0"/>
                </a:lnTo>
                <a:lnTo>
                  <a:pt x="2744279" y="2936486"/>
                </a:lnTo>
                <a:lnTo>
                  <a:pt x="0" y="29364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5" name="Group 15"/>
          <p:cNvGrpSpPr/>
          <p:nvPr/>
        </p:nvGrpSpPr>
        <p:grpSpPr>
          <a:xfrm>
            <a:off x="8523177" y="2769297"/>
            <a:ext cx="8310926" cy="1604645"/>
            <a:chOff x="0" y="0"/>
            <a:chExt cx="11081235" cy="2139527"/>
          </a:xfrm>
        </p:grpSpPr>
        <p:grpSp>
          <p:nvGrpSpPr>
            <p:cNvPr id="16" name="Group 16"/>
            <p:cNvGrpSpPr/>
            <p:nvPr/>
          </p:nvGrpSpPr>
          <p:grpSpPr>
            <a:xfrm>
              <a:off x="0" y="108134"/>
              <a:ext cx="424659" cy="424659"/>
              <a:chOff x="0" y="0"/>
              <a:chExt cx="6350000" cy="6350000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A7F83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716759" y="-95250"/>
              <a:ext cx="10364476" cy="2234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81" lvl="1" indent="-345440" algn="l">
                <a:lnSpc>
                  <a:spcPts val="44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00" b="1">
                  <a:solidFill>
                    <a:srgbClr val="BE506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List all possible truth value combinations (for n variables → 2^n rows) 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523177" y="4781363"/>
            <a:ext cx="8310926" cy="1604645"/>
            <a:chOff x="0" y="0"/>
            <a:chExt cx="11081235" cy="2139527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108134"/>
              <a:ext cx="424659" cy="424659"/>
              <a:chOff x="0" y="0"/>
              <a:chExt cx="6350000" cy="63500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A7F83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716759" y="-95250"/>
              <a:ext cx="10364476" cy="22347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81" lvl="1" indent="-345440" algn="l">
                <a:lnSpc>
                  <a:spcPts val="4480"/>
                </a:lnSpc>
                <a:buFont typeface="Arial"/>
                <a:buChar char="•"/>
              </a:pPr>
              <a:r>
                <a:rPr lang="en-US" sz="3200" b="1">
                  <a:solidFill>
                    <a:srgbClr val="BE506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Break down the compound proposition into smaller parts </a:t>
              </a:r>
            </a:p>
            <a:p>
              <a:pPr algn="l">
                <a:lnSpc>
                  <a:spcPts val="4480"/>
                </a:lnSpc>
                <a:spcBef>
                  <a:spcPct val="0"/>
                </a:spcBef>
              </a:pPr>
              <a:endParaRPr lang="en-US" sz="3200" b="1">
                <a:solidFill>
                  <a:srgbClr val="BE5067"/>
                </a:solidFill>
                <a:latin typeface="Telegraf Bold"/>
                <a:ea typeface="Telegraf Bold"/>
                <a:cs typeface="Telegraf Bold"/>
                <a:sym typeface="Telegraf Bold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523177" y="6145661"/>
            <a:ext cx="8310926" cy="1042670"/>
            <a:chOff x="0" y="0"/>
            <a:chExt cx="11081235" cy="1390227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108134"/>
              <a:ext cx="424659" cy="424659"/>
              <a:chOff x="0" y="0"/>
              <a:chExt cx="6350000" cy="63500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A7F83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716759" y="-95250"/>
              <a:ext cx="10364476" cy="14854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81" lvl="1" indent="-345440" algn="l">
                <a:lnSpc>
                  <a:spcPts val="44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00" b="1">
                  <a:solidFill>
                    <a:srgbClr val="BE506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Fill in columns for each part using logical rules (¬, ∧, ∨, →, ↔) 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523177" y="7481066"/>
            <a:ext cx="8310926" cy="1042670"/>
            <a:chOff x="0" y="0"/>
            <a:chExt cx="11081235" cy="1390227"/>
          </a:xfrm>
        </p:grpSpPr>
        <p:grpSp>
          <p:nvGrpSpPr>
            <p:cNvPr id="28" name="Group 28"/>
            <p:cNvGrpSpPr/>
            <p:nvPr/>
          </p:nvGrpSpPr>
          <p:grpSpPr>
            <a:xfrm>
              <a:off x="0" y="108134"/>
              <a:ext cx="424659" cy="424659"/>
              <a:chOff x="0" y="0"/>
              <a:chExt cx="6350000" cy="635000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A7F83"/>
              </a:solidFill>
            </p:spPr>
            <p:txBody>
              <a:bodyPr/>
              <a:lstStyle/>
              <a:p>
                <a:endParaRPr lang="en-GB"/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716759" y="-95250"/>
              <a:ext cx="10364476" cy="14854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90881" lvl="1" indent="-345440" algn="l">
                <a:lnSpc>
                  <a:spcPts val="4480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3200" b="1">
                  <a:solidFill>
                    <a:srgbClr val="BE5067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Analyze final column to classify the statement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1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207005" y="204925"/>
            <a:ext cx="2104591" cy="2473344"/>
          </a:xfrm>
          <a:custGeom>
            <a:avLst/>
            <a:gdLst/>
            <a:ahLst/>
            <a:cxnLst/>
            <a:rect l="l" t="t" r="r" b="b"/>
            <a:pathLst>
              <a:path w="2104591" h="2473344">
                <a:moveTo>
                  <a:pt x="0" y="0"/>
                </a:moveTo>
                <a:lnTo>
                  <a:pt x="2104590" y="0"/>
                </a:lnTo>
                <a:lnTo>
                  <a:pt x="2104590" y="2473344"/>
                </a:lnTo>
                <a:lnTo>
                  <a:pt x="0" y="24733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893521" y="847725"/>
            <a:ext cx="16230600" cy="109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00"/>
              </a:lnSpc>
            </a:pPr>
            <a:r>
              <a:rPr lang="en-US" sz="6000" b="1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Example Truth Table for (p ∧ q) → ¬r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772357" y="3192619"/>
            <a:ext cx="7639343" cy="6082538"/>
            <a:chOff x="0" y="0"/>
            <a:chExt cx="4439775" cy="353500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39775" cy="3535004"/>
            </a:xfrm>
            <a:custGeom>
              <a:avLst/>
              <a:gdLst/>
              <a:ahLst/>
              <a:cxnLst/>
              <a:rect l="l" t="t" r="r" b="b"/>
              <a:pathLst>
                <a:path w="4439775" h="3535004">
                  <a:moveTo>
                    <a:pt x="0" y="0"/>
                  </a:moveTo>
                  <a:lnTo>
                    <a:pt x="4439775" y="0"/>
                  </a:lnTo>
                  <a:lnTo>
                    <a:pt x="4439775" y="3535004"/>
                  </a:lnTo>
                  <a:lnTo>
                    <a:pt x="0" y="3535004"/>
                  </a:lnTo>
                  <a:close/>
                </a:path>
              </a:pathLst>
            </a:custGeom>
            <a:solidFill>
              <a:srgbClr val="FA7F83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4439775" cy="3601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619957" y="3040219"/>
            <a:ext cx="7639343" cy="6082538"/>
            <a:chOff x="0" y="0"/>
            <a:chExt cx="4439775" cy="353500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439775" cy="3535004"/>
            </a:xfrm>
            <a:custGeom>
              <a:avLst/>
              <a:gdLst/>
              <a:ahLst/>
              <a:cxnLst/>
              <a:rect l="l" t="t" r="r" b="b"/>
              <a:pathLst>
                <a:path w="4439775" h="3535004">
                  <a:moveTo>
                    <a:pt x="0" y="0"/>
                  </a:moveTo>
                  <a:lnTo>
                    <a:pt x="4439775" y="0"/>
                  </a:lnTo>
                  <a:lnTo>
                    <a:pt x="4439775" y="3535004"/>
                  </a:lnTo>
                  <a:lnTo>
                    <a:pt x="0" y="3535004"/>
                  </a:lnTo>
                  <a:close/>
                </a:path>
              </a:pathLst>
            </a:custGeom>
            <a:solidFill>
              <a:srgbClr val="FFF7E9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4439775" cy="36016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1461272" y="2376263"/>
          <a:ext cx="7342235" cy="7410447"/>
        </p:xfrm>
        <a:graphic>
          <a:graphicData uri="http://schemas.openxmlformats.org/drawingml/2006/table">
            <a:tbl>
              <a:tblPr/>
              <a:tblGrid>
                <a:gridCol w="910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0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0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65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67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172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82338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p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q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p ∧ q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¬r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(p ∧ q) → ¬r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2338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Box 11"/>
          <p:cNvSpPr txBox="1"/>
          <p:nvPr/>
        </p:nvSpPr>
        <p:spPr>
          <a:xfrm>
            <a:off x="9868552" y="3335494"/>
            <a:ext cx="6914008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0"/>
              </a:lnSpc>
            </a:pPr>
            <a:r>
              <a:rPr lang="en-US" sz="4500" b="1">
                <a:solidFill>
                  <a:srgbClr val="BE5067"/>
                </a:solidFill>
                <a:latin typeface="Telegraf Bold"/>
                <a:ea typeface="Telegraf Bold"/>
                <a:cs typeface="Telegraf Bold"/>
                <a:sym typeface="Telegraf Bold"/>
              </a:rPr>
              <a:t>Steps: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868552" y="4276583"/>
            <a:ext cx="7140453" cy="109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“We’re testing (p ∧ q) → ¬r, with all combinations of p, q, and r.”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869402" y="7511400"/>
            <a:ext cx="7140453" cy="109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“Since the final column has both T and F, this is a contingency.”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983669" y="5893991"/>
            <a:ext cx="7140453" cy="10982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311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“First, we find p ∧ q, then ¬r, and apply the implication to get the final result.”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56433"/>
            <a:ext cx="16230600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20"/>
              </a:lnSpc>
            </a:pPr>
            <a:r>
              <a:rPr lang="en-US" sz="5600" b="1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Tautology, Contradiction, Contingency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68694" y="2932984"/>
            <a:ext cx="15325129" cy="2056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1269" lvl="1" indent="-410635" algn="l">
              <a:lnSpc>
                <a:spcPts val="5325"/>
              </a:lnSpc>
              <a:buFont typeface="Arial"/>
              <a:buChar char="•"/>
            </a:pPr>
            <a:r>
              <a:rPr lang="en-US" sz="38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Tautology: Always true (final column = all T)</a:t>
            </a:r>
          </a:p>
          <a:p>
            <a:pPr marL="821269" lvl="1" indent="-410635" algn="l">
              <a:lnSpc>
                <a:spcPts val="5325"/>
              </a:lnSpc>
              <a:buFont typeface="Arial"/>
              <a:buChar char="•"/>
            </a:pPr>
            <a:r>
              <a:rPr lang="en-US" sz="38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Contradiction: Always false (final column = all F)</a:t>
            </a:r>
          </a:p>
          <a:p>
            <a:pPr marL="821269" lvl="1" indent="-410635" algn="l">
              <a:lnSpc>
                <a:spcPts val="5325"/>
              </a:lnSpc>
              <a:spcBef>
                <a:spcPct val="0"/>
              </a:spcBef>
              <a:buFont typeface="Arial"/>
              <a:buChar char="•"/>
            </a:pPr>
            <a:r>
              <a:rPr lang="en-US" sz="38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Contingency: Mix of T and F in final column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481436" y="5291039"/>
            <a:ext cx="15325129" cy="3640285"/>
            <a:chOff x="0" y="0"/>
            <a:chExt cx="8906542" cy="21156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906542" cy="2115633"/>
            </a:xfrm>
            <a:custGeom>
              <a:avLst/>
              <a:gdLst/>
              <a:ahLst/>
              <a:cxnLst/>
              <a:rect l="l" t="t" r="r" b="b"/>
              <a:pathLst>
                <a:path w="8906542" h="2115633">
                  <a:moveTo>
                    <a:pt x="0" y="0"/>
                  </a:moveTo>
                  <a:lnTo>
                    <a:pt x="8906542" y="0"/>
                  </a:lnTo>
                  <a:lnTo>
                    <a:pt x="8906542" y="2115633"/>
                  </a:lnTo>
                  <a:lnTo>
                    <a:pt x="0" y="2115633"/>
                  </a:lnTo>
                  <a:close/>
                </a:path>
              </a:pathLst>
            </a:custGeom>
            <a:solidFill>
              <a:srgbClr val="FFF7E9"/>
            </a:solidFill>
            <a:ln w="28575" cap="sq">
              <a:solidFill>
                <a:srgbClr val="000000"/>
              </a:solidFill>
              <a:prstDash val="dash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8906542" cy="2182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76422" y="6471336"/>
            <a:ext cx="15325129" cy="2056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1269" lvl="1" indent="-410635" algn="l">
              <a:lnSpc>
                <a:spcPts val="5325"/>
              </a:lnSpc>
              <a:buFont typeface="Arial"/>
              <a:buChar char="•"/>
            </a:pPr>
            <a:r>
              <a:rPr lang="en-US" sz="38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 ∨ ¬p → Tautology</a:t>
            </a:r>
          </a:p>
          <a:p>
            <a:pPr marL="821269" lvl="1" indent="-410635" algn="l">
              <a:lnSpc>
                <a:spcPts val="5325"/>
              </a:lnSpc>
              <a:buFont typeface="Arial"/>
              <a:buChar char="•"/>
            </a:pPr>
            <a:r>
              <a:rPr lang="en-US" sz="38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 ∧ ¬p → Contradiction</a:t>
            </a:r>
          </a:p>
          <a:p>
            <a:pPr marL="821269" lvl="1" indent="-410635" algn="l">
              <a:lnSpc>
                <a:spcPts val="5325"/>
              </a:lnSpc>
              <a:spcBef>
                <a:spcPct val="0"/>
              </a:spcBef>
              <a:buFont typeface="Arial"/>
              <a:buChar char="•"/>
            </a:pPr>
            <a:r>
              <a:rPr lang="en-US" sz="3803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 → q → Contingency (depends on values)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68694" y="2109021"/>
            <a:ext cx="380552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</a:pPr>
            <a:r>
              <a:rPr lang="en-US" sz="4500" b="1">
                <a:solidFill>
                  <a:srgbClr val="ED9F5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Content :</a:t>
            </a:r>
          </a:p>
        </p:txBody>
      </p:sp>
      <p:sp>
        <p:nvSpPr>
          <p:cNvPr id="9" name="Freeform 9"/>
          <p:cNvSpPr/>
          <p:nvPr/>
        </p:nvSpPr>
        <p:spPr>
          <a:xfrm>
            <a:off x="15924278" y="2156646"/>
            <a:ext cx="2154547" cy="2305449"/>
          </a:xfrm>
          <a:custGeom>
            <a:avLst/>
            <a:gdLst/>
            <a:ahLst/>
            <a:cxnLst/>
            <a:rect l="l" t="t" r="r" b="b"/>
            <a:pathLst>
              <a:path w="2154547" h="2305449">
                <a:moveTo>
                  <a:pt x="0" y="0"/>
                </a:moveTo>
                <a:lnTo>
                  <a:pt x="2154547" y="0"/>
                </a:lnTo>
                <a:lnTo>
                  <a:pt x="2154547" y="2305449"/>
                </a:lnTo>
                <a:lnTo>
                  <a:pt x="0" y="23054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0" name="TextBox 10"/>
          <p:cNvSpPr txBox="1"/>
          <p:nvPr/>
        </p:nvSpPr>
        <p:spPr>
          <a:xfrm>
            <a:off x="1676422" y="5647373"/>
            <a:ext cx="3805526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400"/>
              </a:lnSpc>
            </a:pPr>
            <a:r>
              <a:rPr lang="en-US" sz="4500" b="1">
                <a:solidFill>
                  <a:srgbClr val="ED9F5F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Content 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>
                <a:alpha val="70000"/>
              </a:srgbClr>
            </a:gs>
            <a:gs pos="33333">
              <a:srgbClr val="E29AA4">
                <a:alpha val="70000"/>
              </a:srgbClr>
            </a:gs>
            <a:gs pos="66667">
              <a:srgbClr val="EFC072">
                <a:alpha val="70000"/>
              </a:srgbClr>
            </a:gs>
            <a:gs pos="100000">
              <a:srgbClr val="F3ECE7">
                <a:alpha val="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66211">
            <a:off x="13603000" y="6911620"/>
            <a:ext cx="3656300" cy="2346680"/>
          </a:xfrm>
          <a:custGeom>
            <a:avLst/>
            <a:gdLst/>
            <a:ahLst/>
            <a:cxnLst/>
            <a:rect l="l" t="t" r="r" b="b"/>
            <a:pathLst>
              <a:path w="3656300" h="2346680">
                <a:moveTo>
                  <a:pt x="0" y="0"/>
                </a:moveTo>
                <a:lnTo>
                  <a:pt x="3656300" y="0"/>
                </a:lnTo>
                <a:lnTo>
                  <a:pt x="3656300" y="2346680"/>
                </a:lnTo>
                <a:lnTo>
                  <a:pt x="0" y="23466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028700" y="4357687"/>
            <a:ext cx="16230600" cy="1384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</a:pPr>
            <a:r>
              <a:rPr lang="en-US" sz="9000" b="1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Any </a:t>
            </a:r>
            <a:r>
              <a:rPr lang="en-US" sz="9000" b="1" dirty="0">
                <a:solidFill>
                  <a:srgbClr val="00000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327</Words>
  <Application>Microsoft Office PowerPoint</Application>
  <PresentationFormat>Custom</PresentationFormat>
  <Paragraphs>85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Telegraf Bold</vt:lpstr>
      <vt:lpstr>Telegraf</vt:lpstr>
      <vt:lpstr>Calibri</vt:lpstr>
      <vt:lpstr>Arial</vt:lpstr>
      <vt:lpstr>Agrandir Wide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zakir</dc:title>
  <dc:creator>Md Zakir hossen</dc:creator>
  <cp:lastModifiedBy>Emran Ali</cp:lastModifiedBy>
  <cp:revision>2</cp:revision>
  <dcterms:created xsi:type="dcterms:W3CDTF">2006-08-16T00:00:00Z</dcterms:created>
  <dcterms:modified xsi:type="dcterms:W3CDTF">2025-11-21T19:21:03Z</dcterms:modified>
  <dc:identifier>DAGyBbtPTPw</dc:identifier>
</cp:coreProperties>
</file>