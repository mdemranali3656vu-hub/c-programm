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7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4630400" cy="8229600"/>
  <p:notesSz cx="8229600" cy="14630400"/>
  <p:embeddedFontLst>
    <p:embeddedFont>
      <p:font typeface="Century Gothic" panose="020B0502020202020204" pitchFamily="34" charset="0"/>
      <p:regular r:id="rId11"/>
      <p:bold r:id="rId12"/>
      <p:italic r:id="rId13"/>
      <p:boldItalic r:id="rId14"/>
    </p:embeddedFont>
    <p:embeddedFont>
      <p:font typeface="Poppins Light" panose="00000400000000000000" pitchFamily="2" charset="0"/>
      <p:regular r:id="rId15"/>
    </p:embeddedFont>
    <p:embeddedFont>
      <p:font typeface="Roboto Light" panose="02000000000000000000" pitchFamily="2" charset="0"/>
      <p:regular r:id="rId16"/>
      <p:italic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05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588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2A45E-34B0-DB71-642D-554A47C5A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87F8F1-10F1-2254-8820-12710A4A3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FD0C21-C0C4-A0B0-563F-03256CFF7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2E12E-59FF-5664-E9BB-5F9EB134CB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15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2164086"/>
            <a:ext cx="11338560" cy="2190115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5920" y="4358641"/>
            <a:ext cx="11338560" cy="822960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491473" y="5177194"/>
            <a:ext cx="3493008" cy="449570"/>
          </a:xfrm>
        </p:spPr>
        <p:txBody>
          <a:bodyPr/>
          <a:lstStyle/>
          <a:p>
            <a:fld id="{48A87A34-81AB-432B-8DAE-1953F412C126}" type="datetimeFigureOut">
              <a:rPr lang="en-US" dirty="0"/>
              <a:t>09-Sep-25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45920" y="5188615"/>
            <a:ext cx="768096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92640" y="1717040"/>
            <a:ext cx="3291840" cy="43815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18151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09-Sep-25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63059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1" y="904240"/>
            <a:ext cx="12984479" cy="3362322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360" y="4370071"/>
            <a:ext cx="12588240" cy="1146810"/>
          </a:xfrm>
        </p:spPr>
        <p:txBody>
          <a:bodyPr>
            <a:normAutofit/>
          </a:bodyPr>
          <a:lstStyle>
            <a:lvl1pPr marL="0" indent="0" algn="r">
              <a:buNone/>
              <a:defRPr sz="264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09-Sep-25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2960" y="457202"/>
            <a:ext cx="8389790" cy="43687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01272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2633471"/>
            <a:ext cx="6400800" cy="4828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633471"/>
            <a:ext cx="6400800" cy="48289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09-Sep-25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08020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4720" y="914400"/>
            <a:ext cx="10332720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91" y="2620563"/>
            <a:ext cx="6095989" cy="988694"/>
          </a:xfrm>
        </p:spPr>
        <p:txBody>
          <a:bodyPr anchor="b">
            <a:norm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1" y="3759200"/>
            <a:ext cx="6374130" cy="3703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80960" y="2620563"/>
            <a:ext cx="6126480" cy="988694"/>
          </a:xfrm>
        </p:spPr>
        <p:txBody>
          <a:bodyPr anchor="b">
            <a:normAutofit/>
          </a:bodyPr>
          <a:lstStyle>
            <a:lvl1pPr marL="0" indent="0">
              <a:buNone/>
              <a:defRPr sz="336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759200"/>
            <a:ext cx="6400800" cy="37032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09-Sep-25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64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09-Sep-25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88252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09-Sep-25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68305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828800"/>
            <a:ext cx="4937760" cy="1920240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94698" y="896111"/>
            <a:ext cx="7812742" cy="656631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3749039"/>
            <a:ext cx="4937760" cy="3713382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09-Sep-25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83925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1828800"/>
            <a:ext cx="8247888" cy="1920240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433486" y="901490"/>
            <a:ext cx="4373954" cy="6560932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3749039"/>
            <a:ext cx="8247888" cy="3713382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09-Sep-25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16326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32" y="5636833"/>
            <a:ext cx="12986441" cy="983226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8072" y="1129728"/>
            <a:ext cx="12986208" cy="4173793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6620059"/>
            <a:ext cx="12984480" cy="842363"/>
          </a:xfrm>
        </p:spPr>
        <p:txBody>
          <a:bodyPr/>
          <a:lstStyle>
            <a:lvl1pPr marL="0" indent="0" algn="l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09-Sep-25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82011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904239"/>
            <a:ext cx="12984480" cy="3362960"/>
          </a:xfrm>
        </p:spPr>
        <p:txBody>
          <a:bodyPr anchor="ctr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1" y="4378960"/>
            <a:ext cx="12156619" cy="1198880"/>
          </a:xfrm>
        </p:spPr>
        <p:txBody>
          <a:bodyPr anchor="ctr"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09-Sep-25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5930"/>
            <a:ext cx="838979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891392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361" y="904240"/>
            <a:ext cx="12181840" cy="3125394"/>
          </a:xfrm>
        </p:spPr>
        <p:txBody>
          <a:bodyPr anchor="ctr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64638" y="4038668"/>
            <a:ext cx="11511283" cy="53333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1" y="4751835"/>
            <a:ext cx="12181840" cy="815845"/>
          </a:xfrm>
        </p:spPr>
        <p:txBody>
          <a:bodyPr anchor="ctr">
            <a:normAutofit/>
          </a:bodyPr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7201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09-Sep-25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5930"/>
            <a:ext cx="838979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71500" y="1120140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81076" y="3241548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688535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394" y="1349642"/>
            <a:ext cx="12175423" cy="3014202"/>
          </a:xfrm>
        </p:spPr>
        <p:txBody>
          <a:bodyPr anchor="b"/>
          <a:lstStyle>
            <a:lvl1pPr algn="l"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9360" y="4377979"/>
            <a:ext cx="12173585" cy="1199862"/>
          </a:xfrm>
        </p:spPr>
        <p:txBody>
          <a:bodyPr anchor="t"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377342" y="454660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09-Sep-25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22960" y="454660"/>
            <a:ext cx="838979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10614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474721" y="914400"/>
            <a:ext cx="10332719" cy="1564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22960" y="2642496"/>
            <a:ext cx="4147718" cy="74078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22959" y="3485478"/>
            <a:ext cx="4147718" cy="3976958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2560" y="2641600"/>
            <a:ext cx="4147718" cy="751841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240230" y="3484880"/>
            <a:ext cx="4147718" cy="3977542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662160" y="2631439"/>
            <a:ext cx="4147718" cy="751841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9662161" y="3485478"/>
            <a:ext cx="4147718" cy="3976958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09-Sep-25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42344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3474721" y="914400"/>
            <a:ext cx="10332719" cy="1554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26342" y="5029201"/>
            <a:ext cx="4141898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26342" y="2834640"/>
            <a:ext cx="4141898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26342" y="5848518"/>
            <a:ext cx="4141898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49116" y="5029201"/>
            <a:ext cx="4138722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249116" y="2834640"/>
            <a:ext cx="4138723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249117" y="5848516"/>
            <a:ext cx="4138722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9659678" y="5029201"/>
            <a:ext cx="4147763" cy="819318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tx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9659826" y="2834640"/>
            <a:ext cx="4137454" cy="18288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9659678" y="5848514"/>
            <a:ext cx="4142934" cy="1613905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09-Sep-25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55488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2960" y="2633471"/>
            <a:ext cx="12984480" cy="48289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09-Sep-25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04387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0180"/>
            <a:ext cx="14630400" cy="297942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8560" y="894080"/>
            <a:ext cx="2468880" cy="4683760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29360" y="894081"/>
            <a:ext cx="9845041" cy="4683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377342" y="455930"/>
            <a:ext cx="3493008" cy="438150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09-Sep-25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22960" y="457201"/>
            <a:ext cx="838979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3034942" y="457201"/>
            <a:ext cx="772498" cy="43815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46980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59157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58763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4150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2332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44873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57383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823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172974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74720" y="917247"/>
            <a:ext cx="10332720" cy="1551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2633473"/>
            <a:ext cx="12984480" cy="4828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14432" y="7627621"/>
            <a:ext cx="349300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09-Sep-25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0" y="7627015"/>
            <a:ext cx="932688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5600" y="45720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096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</p:sldLayoutIdLst>
  <p:hf sldNum="0" hdr="0" ftr="0" dt="0"/>
  <p:txStyles>
    <p:titleStyle>
      <a:lvl1pPr algn="r" defTabSz="1097280" rtl="0" eaLnBrk="1" latinLnBrk="0" hangingPunct="1">
        <a:lnSpc>
          <a:spcPct val="90000"/>
        </a:lnSpc>
        <a:spcBef>
          <a:spcPct val="0"/>
        </a:spcBef>
        <a:buNone/>
        <a:defRPr sz="4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408878"/>
            <a:ext cx="130110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Proving a Tautology Using Equivalence Identity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457819"/>
            <a:ext cx="13042821" cy="16547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Name : Tauhid Rahman </a:t>
            </a:r>
            <a:r>
              <a:rPr lang="en-US" sz="2000" b="1" dirty="0" err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Shifat</a:t>
            </a:r>
            <a:endParaRPr lang="en-US" sz="2000" b="1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Student ID : 251311030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Section : A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Batch </a:t>
            </a:r>
            <a:r>
              <a:rPr lang="en-US" sz="2000" b="1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&amp; Semester : </a:t>
            </a:r>
            <a:r>
              <a:rPr lang="en-US" sz="2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36</a:t>
            </a:r>
            <a:r>
              <a:rPr lang="en-US" sz="2400" b="1" baseline="30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</a:t>
            </a:r>
            <a:r>
              <a:rPr lang="en-US" sz="24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&amp; </a:t>
            </a:r>
            <a:r>
              <a:rPr lang="en-US" sz="20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2</a:t>
            </a:r>
            <a:r>
              <a:rPr lang="en-US" sz="2000" b="1" baseline="30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nd</a:t>
            </a:r>
            <a:endParaRPr lang="en-US" sz="1750" b="1" baseline="30000" dirty="0">
              <a:solidFill>
                <a:srgbClr val="E5E0DF"/>
              </a:solidFill>
              <a:latin typeface="Roboto Light" pitchFamily="34" charset="0"/>
              <a:ea typeface="Roboto Light" pitchFamily="34" charset="-122"/>
              <a:cs typeface="Roboto Light" pitchFamily="34" charset="-12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C69269-799B-A88B-5206-34005607788B}"/>
              </a:ext>
            </a:extLst>
          </p:cNvPr>
          <p:cNvSpPr/>
          <p:nvPr/>
        </p:nvSpPr>
        <p:spPr>
          <a:xfrm>
            <a:off x="12851296" y="7767306"/>
            <a:ext cx="1689652" cy="362903"/>
          </a:xfrm>
          <a:prstGeom prst="rect">
            <a:avLst/>
          </a:prstGeom>
          <a:solidFill>
            <a:srgbClr val="050505"/>
          </a:solidFill>
          <a:ln>
            <a:solidFill>
              <a:srgbClr val="0505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rgbClr val="05050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44641"/>
            <a:ext cx="58308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is a Tautology?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4148733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tautology is a logical statement that is always true, regardless of the truth values of its components.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893582"/>
            <a:ext cx="30480" cy="873204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502193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For example, the statement </a:t>
            </a:r>
            <a:r>
              <a:rPr lang="en-US" sz="17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 V ¬p 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("p or not p") is a classic tautology, as it is inherently true in all scenarios.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E520D6-9B70-341D-CAD2-2DCD7BFCB8B5}"/>
              </a:ext>
            </a:extLst>
          </p:cNvPr>
          <p:cNvSpPr/>
          <p:nvPr/>
        </p:nvSpPr>
        <p:spPr>
          <a:xfrm>
            <a:off x="12831417" y="7732643"/>
            <a:ext cx="1709531" cy="362903"/>
          </a:xfrm>
          <a:prstGeom prst="rect">
            <a:avLst/>
          </a:prstGeom>
          <a:solidFill>
            <a:srgbClr val="050505"/>
          </a:solidFill>
          <a:ln>
            <a:solidFill>
              <a:srgbClr val="0505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70634"/>
            <a:ext cx="80267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is Logical Equivalence?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33304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Two statements are logically equivalent if they possess the identical truth value across every conceivable scenario. This relationship is formally denoted as </a:t>
            </a:r>
            <a:r>
              <a:rPr lang="en-US" sz="17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A≡ B</a:t>
            </a:r>
            <a:endParaRPr lang="en-US" sz="17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ABED63-9760-37DC-E88B-C70C588B6AB8}"/>
              </a:ext>
            </a:extLst>
          </p:cNvPr>
          <p:cNvSpPr/>
          <p:nvPr/>
        </p:nvSpPr>
        <p:spPr>
          <a:xfrm>
            <a:off x="12831417" y="7732643"/>
            <a:ext cx="1709531" cy="362903"/>
          </a:xfrm>
          <a:prstGeom prst="rect">
            <a:avLst/>
          </a:prstGeom>
          <a:solidFill>
            <a:srgbClr val="050505"/>
          </a:solidFill>
          <a:ln>
            <a:solidFill>
              <a:srgbClr val="0505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86489"/>
            <a:ext cx="116837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Example Statement to Prove as Tautology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488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 will demonstrate that the following logical statement is a tautology: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198858"/>
            <a:ext cx="13042821" cy="393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198858"/>
            <a:ext cx="13042821" cy="39326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3790" y="4879181"/>
            <a:ext cx="13042821" cy="963811"/>
          </a:xfrm>
          <a:prstGeom prst="roundRect">
            <a:avLst>
              <a:gd name="adj" fmla="val 9884"/>
            </a:avLst>
          </a:prstGeom>
          <a:solidFill>
            <a:srgbClr val="10101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04" y="5223272"/>
            <a:ext cx="283488" cy="2268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30906" y="5162669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This identity is famously known as the </a:t>
            </a:r>
            <a:r>
              <a:rPr lang="en-US" sz="1750" b="1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contrapositive</a:t>
            </a:r>
            <a:r>
              <a:rPr lang="en-US" sz="17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a fundamental principle in propositional logic.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9287EA6-14B6-74BB-5851-375B855AE80B}"/>
              </a:ext>
            </a:extLst>
          </p:cNvPr>
          <p:cNvSpPr/>
          <p:nvPr/>
        </p:nvSpPr>
        <p:spPr>
          <a:xfrm>
            <a:off x="12831417" y="7732643"/>
            <a:ext cx="1709531" cy="362903"/>
          </a:xfrm>
          <a:prstGeom prst="rect">
            <a:avLst/>
          </a:prstGeom>
          <a:solidFill>
            <a:srgbClr val="050505"/>
          </a:solidFill>
          <a:ln>
            <a:solidFill>
              <a:srgbClr val="0505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74865"/>
            <a:ext cx="797802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Constructing the Truth Table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937272"/>
            <a:ext cx="13042821" cy="3517463"/>
          </a:xfrm>
          <a:prstGeom prst="roundRect">
            <a:avLst>
              <a:gd name="adj" fmla="val 2708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601" y="2963288"/>
            <a:ext cx="13027581" cy="9009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819" y="3088600"/>
            <a:ext cx="8452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2335292" y="3088600"/>
            <a:ext cx="8414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q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37955" y="3088600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𝑝 → 𝑞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592008" y="3088600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¬q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46062" y="3088600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¬p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500116" y="3088600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¬q → ¬p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1644313" y="3088600"/>
            <a:ext cx="1957864" cy="613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(p → q) →(¬q → ¬p)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3845838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819" y="3989546"/>
            <a:ext cx="8452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2335292" y="3989546"/>
            <a:ext cx="8414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637955" y="3989546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5592008" y="3989546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546062" y="3989546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9500116" y="3989546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2105561" y="3989546"/>
            <a:ext cx="14966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01410" y="4496157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28819" y="4639866"/>
            <a:ext cx="8452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2335292" y="4639866"/>
            <a:ext cx="8414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3637955" y="4639866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5592008" y="4639866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546062" y="4639866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9500116" y="4639866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2105561" y="4639866"/>
            <a:ext cx="14966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801410" y="5146477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28819" y="5290185"/>
            <a:ext cx="8452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2335292" y="5290185"/>
            <a:ext cx="8414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3637955" y="5290185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5592008" y="5290185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7546062" y="5290185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</a:t>
            </a:r>
            <a:endParaRPr lang="en-US" sz="1750" dirty="0"/>
          </a:p>
        </p:txBody>
      </p:sp>
      <p:sp>
        <p:nvSpPr>
          <p:cNvPr id="34" name="Text 32"/>
          <p:cNvSpPr/>
          <p:nvPr/>
        </p:nvSpPr>
        <p:spPr>
          <a:xfrm>
            <a:off x="9500116" y="5290185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</a:t>
            </a:r>
            <a:endParaRPr lang="en-US" sz="1750" dirty="0"/>
          </a:p>
        </p:txBody>
      </p:sp>
      <p:sp>
        <p:nvSpPr>
          <p:cNvPr id="35" name="Text 33"/>
          <p:cNvSpPr/>
          <p:nvPr/>
        </p:nvSpPr>
        <p:spPr>
          <a:xfrm>
            <a:off x="12105561" y="5290185"/>
            <a:ext cx="14966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</a:t>
            </a:r>
            <a:endParaRPr lang="en-US" sz="1750" dirty="0"/>
          </a:p>
        </p:txBody>
      </p:sp>
      <p:sp>
        <p:nvSpPr>
          <p:cNvPr id="36" name="Shape 34"/>
          <p:cNvSpPr/>
          <p:nvPr/>
        </p:nvSpPr>
        <p:spPr>
          <a:xfrm>
            <a:off x="801410" y="579679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028819" y="5940504"/>
            <a:ext cx="84522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</a:t>
            </a:r>
            <a:endParaRPr lang="en-US" sz="1750" dirty="0"/>
          </a:p>
        </p:txBody>
      </p:sp>
      <p:sp>
        <p:nvSpPr>
          <p:cNvPr id="38" name="Text 36"/>
          <p:cNvSpPr/>
          <p:nvPr/>
        </p:nvSpPr>
        <p:spPr>
          <a:xfrm>
            <a:off x="2335292" y="5940504"/>
            <a:ext cx="8414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</a:t>
            </a:r>
            <a:endParaRPr lang="en-US" sz="1750" dirty="0"/>
          </a:p>
        </p:txBody>
      </p:sp>
      <p:sp>
        <p:nvSpPr>
          <p:cNvPr id="39" name="Text 37"/>
          <p:cNvSpPr/>
          <p:nvPr/>
        </p:nvSpPr>
        <p:spPr>
          <a:xfrm>
            <a:off x="3637955" y="5940504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</a:t>
            </a:r>
            <a:endParaRPr lang="en-US" sz="1750" dirty="0"/>
          </a:p>
        </p:txBody>
      </p:sp>
      <p:sp>
        <p:nvSpPr>
          <p:cNvPr id="40" name="Text 38"/>
          <p:cNvSpPr/>
          <p:nvPr/>
        </p:nvSpPr>
        <p:spPr>
          <a:xfrm>
            <a:off x="5592008" y="5940504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</a:t>
            </a:r>
            <a:endParaRPr lang="en-US" sz="1750" dirty="0"/>
          </a:p>
        </p:txBody>
      </p:sp>
      <p:sp>
        <p:nvSpPr>
          <p:cNvPr id="41" name="Text 39"/>
          <p:cNvSpPr/>
          <p:nvPr/>
        </p:nvSpPr>
        <p:spPr>
          <a:xfrm>
            <a:off x="7546062" y="5940504"/>
            <a:ext cx="149280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</a:t>
            </a:r>
            <a:endParaRPr lang="en-US" sz="1750" dirty="0"/>
          </a:p>
        </p:txBody>
      </p:sp>
      <p:sp>
        <p:nvSpPr>
          <p:cNvPr id="42" name="Text 40"/>
          <p:cNvSpPr/>
          <p:nvPr/>
        </p:nvSpPr>
        <p:spPr>
          <a:xfrm>
            <a:off x="9500116" y="594050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</a:t>
            </a:r>
            <a:endParaRPr lang="en-US" sz="1750" dirty="0"/>
          </a:p>
        </p:txBody>
      </p:sp>
      <p:sp>
        <p:nvSpPr>
          <p:cNvPr id="43" name="Text 41"/>
          <p:cNvSpPr/>
          <p:nvPr/>
        </p:nvSpPr>
        <p:spPr>
          <a:xfrm>
            <a:off x="12105561" y="5940504"/>
            <a:ext cx="14966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</a:t>
            </a:r>
            <a:endParaRPr lang="en-US" sz="175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86D2910-3D91-D497-A70A-9CCA64F3CF43}"/>
              </a:ext>
            </a:extLst>
          </p:cNvPr>
          <p:cNvSpPr/>
          <p:nvPr/>
        </p:nvSpPr>
        <p:spPr>
          <a:xfrm>
            <a:off x="12831417" y="7732643"/>
            <a:ext cx="1709531" cy="362903"/>
          </a:xfrm>
          <a:prstGeom prst="rect">
            <a:avLst/>
          </a:prstGeom>
          <a:solidFill>
            <a:srgbClr val="050505"/>
          </a:solidFill>
          <a:ln>
            <a:solidFill>
              <a:srgbClr val="0505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42386"/>
            <a:ext cx="730377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Analysis of the Truth Table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04793"/>
            <a:ext cx="4196358" cy="3182422"/>
          </a:xfrm>
          <a:prstGeom prst="roundRect">
            <a:avLst>
              <a:gd name="adj" fmla="val 2994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790" y="3104793"/>
            <a:ext cx="60960" cy="3182422"/>
          </a:xfrm>
          <a:prstGeom prst="roundRect">
            <a:avLst>
              <a:gd name="adj" fmla="val 156279"/>
            </a:avLst>
          </a:prstGeom>
          <a:solidFill>
            <a:srgbClr val="F2F2F3"/>
          </a:solidFill>
          <a:ln/>
        </p:spPr>
      </p:sp>
      <p:sp>
        <p:nvSpPr>
          <p:cNvPr id="5" name="Text 3"/>
          <p:cNvSpPr/>
          <p:nvPr/>
        </p:nvSpPr>
        <p:spPr>
          <a:xfrm>
            <a:off x="1112044" y="33620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Consistent Truth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12044" y="3852505"/>
            <a:ext cx="362081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final column, representing the biconditional </a:t>
            </a:r>
            <a:r>
              <a:rPr lang="en-US" sz="17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(p → q) ⇔ (¬q → ¬p)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shows a 'True' value for every possible combination of truth values for </a:t>
            </a:r>
            <a:r>
              <a:rPr lang="en-US" sz="17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and </a:t>
            </a:r>
            <a:r>
              <a:rPr lang="en-US" sz="17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q</a:t>
            </a: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104793"/>
            <a:ext cx="4196358" cy="3182422"/>
          </a:xfrm>
          <a:prstGeom prst="roundRect">
            <a:avLst>
              <a:gd name="adj" fmla="val 2994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216962" y="3104793"/>
            <a:ext cx="60960" cy="3182422"/>
          </a:xfrm>
          <a:prstGeom prst="roundRect">
            <a:avLst>
              <a:gd name="adj" fmla="val 156279"/>
            </a:avLst>
          </a:prstGeom>
          <a:solidFill>
            <a:srgbClr val="F2F2F3"/>
          </a:solidFill>
          <a:ln/>
        </p:spPr>
      </p:sp>
      <p:sp>
        <p:nvSpPr>
          <p:cNvPr id="9" name="Text 7"/>
          <p:cNvSpPr/>
          <p:nvPr/>
        </p:nvSpPr>
        <p:spPr>
          <a:xfrm>
            <a:off x="5535216" y="3362087"/>
            <a:ext cx="29675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Tautology Confirmed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35216" y="3852505"/>
            <a:ext cx="36208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Since the statement is always true, it definitively qualifies as a tautology.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104793"/>
            <a:ext cx="4196358" cy="3182422"/>
          </a:xfrm>
          <a:prstGeom prst="roundRect">
            <a:avLst>
              <a:gd name="adj" fmla="val 2994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40133" y="3104793"/>
            <a:ext cx="60960" cy="3182422"/>
          </a:xfrm>
          <a:prstGeom prst="roundRect">
            <a:avLst>
              <a:gd name="adj" fmla="val 156279"/>
            </a:avLst>
          </a:prstGeom>
          <a:solidFill>
            <a:srgbClr val="F2F2F3"/>
          </a:solidFill>
          <a:ln/>
        </p:spPr>
      </p:sp>
      <p:sp>
        <p:nvSpPr>
          <p:cNvPr id="13" name="Text 11"/>
          <p:cNvSpPr/>
          <p:nvPr/>
        </p:nvSpPr>
        <p:spPr>
          <a:xfrm>
            <a:off x="9958388" y="3362087"/>
            <a:ext cx="31313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Equivalence Validated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58388" y="3852505"/>
            <a:ext cx="36208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This confirms the crucial equivalence identity: a statement is indeed logically equivalent to its contrapositive.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DEF331-6955-0929-4614-4B6C2D0DE30D}"/>
              </a:ext>
            </a:extLst>
          </p:cNvPr>
          <p:cNvSpPr/>
          <p:nvPr/>
        </p:nvSpPr>
        <p:spPr>
          <a:xfrm>
            <a:off x="12831417" y="7732643"/>
            <a:ext cx="1709531" cy="362903"/>
          </a:xfrm>
          <a:prstGeom prst="rect">
            <a:avLst/>
          </a:prstGeom>
          <a:solidFill>
            <a:srgbClr val="050505"/>
          </a:solidFill>
          <a:ln>
            <a:solidFill>
              <a:srgbClr val="0505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6668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0156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Truth tables provide a robust method for verifying tautologies by demonstrating a statement's perpetual truth.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4578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Understanding logical equivalences is key to simplifying and interpreting complex logical constructs.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9000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contrapositive equivalence stands as a cornerstone tautology in the field of logic.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3AB4BF-1C63-42E2-5EBB-58544FBB1874}"/>
              </a:ext>
            </a:extLst>
          </p:cNvPr>
          <p:cNvSpPr/>
          <p:nvPr/>
        </p:nvSpPr>
        <p:spPr>
          <a:xfrm>
            <a:off x="12831417" y="7732643"/>
            <a:ext cx="1709531" cy="362903"/>
          </a:xfrm>
          <a:prstGeom prst="rect">
            <a:avLst/>
          </a:prstGeom>
          <a:solidFill>
            <a:srgbClr val="050505"/>
          </a:solidFill>
          <a:ln>
            <a:solidFill>
              <a:srgbClr val="0505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8C94C-33A9-85B7-8F29-CFFAECA7C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147904-514B-D9D0-E49D-12FE3690A56C}"/>
              </a:ext>
            </a:extLst>
          </p:cNvPr>
          <p:cNvSpPr/>
          <p:nvPr/>
        </p:nvSpPr>
        <p:spPr>
          <a:xfrm>
            <a:off x="4479905" y="34882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Thank You.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293D47-0942-08E6-6C6B-830A4528F397}"/>
              </a:ext>
            </a:extLst>
          </p:cNvPr>
          <p:cNvSpPr/>
          <p:nvPr/>
        </p:nvSpPr>
        <p:spPr>
          <a:xfrm>
            <a:off x="793790" y="401562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0A103EA-1CA1-7E5D-85E2-432A74C70DE5}"/>
              </a:ext>
            </a:extLst>
          </p:cNvPr>
          <p:cNvSpPr/>
          <p:nvPr/>
        </p:nvSpPr>
        <p:spPr>
          <a:xfrm>
            <a:off x="793790" y="445781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46C404F-784C-FB1E-3787-3DF49B318D2E}"/>
              </a:ext>
            </a:extLst>
          </p:cNvPr>
          <p:cNvSpPr/>
          <p:nvPr/>
        </p:nvSpPr>
        <p:spPr>
          <a:xfrm>
            <a:off x="793790" y="490001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B39D54-0749-05D4-5E88-8FD4C1104F00}"/>
              </a:ext>
            </a:extLst>
          </p:cNvPr>
          <p:cNvSpPr/>
          <p:nvPr/>
        </p:nvSpPr>
        <p:spPr>
          <a:xfrm>
            <a:off x="12831417" y="7732643"/>
            <a:ext cx="1709531" cy="362903"/>
          </a:xfrm>
          <a:prstGeom prst="rect">
            <a:avLst/>
          </a:prstGeom>
          <a:solidFill>
            <a:srgbClr val="050505"/>
          </a:solidFill>
          <a:ln>
            <a:solidFill>
              <a:srgbClr val="0505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0367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47</TotalTime>
  <Words>335</Words>
  <Application>Microsoft Office PowerPoint</Application>
  <PresentationFormat>Custom</PresentationFormat>
  <Paragraphs>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Poppins Light</vt:lpstr>
      <vt:lpstr>Arial</vt:lpstr>
      <vt:lpstr>Roboto Light</vt:lpstr>
      <vt:lpstr>Century Gothic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Tauhid Rahman</cp:lastModifiedBy>
  <cp:revision>6</cp:revision>
  <dcterms:created xsi:type="dcterms:W3CDTF">2025-08-27T16:40:09Z</dcterms:created>
  <dcterms:modified xsi:type="dcterms:W3CDTF">2025-09-09T04:26:08Z</dcterms:modified>
</cp:coreProperties>
</file>