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23" r:id="rId1"/>
  </p:sldMasterIdLst>
  <p:sldIdLst>
    <p:sldId id="256" r:id="rId2"/>
    <p:sldId id="257" r:id="rId3"/>
    <p:sldId id="258" r:id="rId4"/>
    <p:sldId id="267" r:id="rId5"/>
    <p:sldId id="268" r:id="rId6"/>
    <p:sldId id="259" r:id="rId7"/>
    <p:sldId id="264" r:id="rId8"/>
    <p:sldId id="260" r:id="rId9"/>
    <p:sldId id="265" r:id="rId10"/>
    <p:sldId id="261" r:id="rId11"/>
    <p:sldId id="266" r:id="rId12"/>
    <p:sldId id="262" r:id="rId13"/>
  </p:sldIdLst>
  <p:sldSz cx="18288000" cy="10287000"/>
  <p:notesSz cx="6858000" cy="9144000"/>
  <p:embeddedFontLst>
    <p:embeddedFont>
      <p:font typeface="Canva Sans Medium" panose="020B0604020202020204" charset="0"/>
      <p:regular r:id="rId14"/>
    </p:embeddedFont>
    <p:embeddedFont>
      <p:font typeface="Rustic Printed" panose="020B0604020202020204" charset="0"/>
      <p:regular r:id="rId15"/>
    </p:embeddedFont>
    <p:embeddedFont>
      <p:font typeface="Trebuchet MS" panose="020B0603020202020204" pitchFamily="34" charset="0"/>
      <p:regular r:id="rId16"/>
      <p:bold r:id="rId17"/>
      <p:italic r:id="rId18"/>
      <p:boldItalic r:id="rId19"/>
    </p:embeddedFont>
    <p:embeddedFont>
      <p:font typeface="Wingdings 3" panose="05040102010807070707" pitchFamily="18" charset="2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22" autoAdjust="0"/>
  </p:normalViewPr>
  <p:slideViewPr>
    <p:cSldViewPr>
      <p:cViewPr varScale="1">
        <p:scale>
          <a:sx n="46" d="100"/>
          <a:sy n="46" d="100"/>
        </p:scale>
        <p:origin x="76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8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2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79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36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6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3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15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55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51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0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4847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87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3243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79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7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1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37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65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63162" y="-789039"/>
            <a:ext cx="2875332" cy="3635478"/>
          </a:xfrm>
          <a:custGeom>
            <a:avLst/>
            <a:gdLst/>
            <a:ahLst/>
            <a:cxnLst/>
            <a:rect l="l" t="t" r="r" b="b"/>
            <a:pathLst>
              <a:path w="2875332" h="3635478">
                <a:moveTo>
                  <a:pt x="0" y="0"/>
                </a:moveTo>
                <a:lnTo>
                  <a:pt x="2875333" y="0"/>
                </a:lnTo>
                <a:lnTo>
                  <a:pt x="2875333" y="3635478"/>
                </a:lnTo>
                <a:lnTo>
                  <a:pt x="0" y="36354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044801" y="9258300"/>
            <a:ext cx="5315394" cy="1913542"/>
          </a:xfrm>
          <a:custGeom>
            <a:avLst/>
            <a:gdLst/>
            <a:ahLst/>
            <a:cxnLst/>
            <a:rect l="l" t="t" r="r" b="b"/>
            <a:pathLst>
              <a:path w="5315394" h="1913542">
                <a:moveTo>
                  <a:pt x="0" y="0"/>
                </a:moveTo>
                <a:lnTo>
                  <a:pt x="5315394" y="0"/>
                </a:lnTo>
                <a:lnTo>
                  <a:pt x="5315394" y="1913542"/>
                </a:lnTo>
                <a:lnTo>
                  <a:pt x="0" y="19135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2830164">
            <a:off x="5322070" y="8801780"/>
            <a:ext cx="3550978" cy="3705954"/>
          </a:xfrm>
          <a:custGeom>
            <a:avLst/>
            <a:gdLst/>
            <a:ahLst/>
            <a:cxnLst/>
            <a:rect l="l" t="t" r="r" b="b"/>
            <a:pathLst>
              <a:path w="3550978" h="3705954">
                <a:moveTo>
                  <a:pt x="0" y="0"/>
                </a:moveTo>
                <a:lnTo>
                  <a:pt x="3550978" y="0"/>
                </a:lnTo>
                <a:lnTo>
                  <a:pt x="3550978" y="3705955"/>
                </a:lnTo>
                <a:lnTo>
                  <a:pt x="0" y="3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950933">
            <a:off x="-2582731" y="3638336"/>
            <a:ext cx="4236628" cy="4828066"/>
          </a:xfrm>
          <a:custGeom>
            <a:avLst/>
            <a:gdLst/>
            <a:ahLst/>
            <a:cxnLst/>
            <a:rect l="l" t="t" r="r" b="b"/>
            <a:pathLst>
              <a:path w="4236628" h="4828066">
                <a:moveTo>
                  <a:pt x="0" y="0"/>
                </a:moveTo>
                <a:lnTo>
                  <a:pt x="4236628" y="0"/>
                </a:lnTo>
                <a:lnTo>
                  <a:pt x="4236628" y="4828066"/>
                </a:lnTo>
                <a:lnTo>
                  <a:pt x="0" y="48280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5584336" y="-1920382"/>
            <a:ext cx="4623736" cy="3907057"/>
          </a:xfrm>
          <a:custGeom>
            <a:avLst/>
            <a:gdLst/>
            <a:ahLst/>
            <a:cxnLst/>
            <a:rect l="l" t="t" r="r" b="b"/>
            <a:pathLst>
              <a:path w="4623736" h="3907057">
                <a:moveTo>
                  <a:pt x="0" y="0"/>
                </a:moveTo>
                <a:lnTo>
                  <a:pt x="4623735" y="0"/>
                </a:lnTo>
                <a:lnTo>
                  <a:pt x="4623735" y="3907057"/>
                </a:lnTo>
                <a:lnTo>
                  <a:pt x="0" y="39070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-366315">
            <a:off x="16272866" y="2044607"/>
            <a:ext cx="3659690" cy="4299195"/>
          </a:xfrm>
          <a:custGeom>
            <a:avLst/>
            <a:gdLst/>
            <a:ahLst/>
            <a:cxnLst/>
            <a:rect l="l" t="t" r="r" b="b"/>
            <a:pathLst>
              <a:path w="3659690" h="4299195">
                <a:moveTo>
                  <a:pt x="0" y="0"/>
                </a:moveTo>
                <a:lnTo>
                  <a:pt x="3659690" y="0"/>
                </a:lnTo>
                <a:lnTo>
                  <a:pt x="3659690" y="4299195"/>
                </a:lnTo>
                <a:lnTo>
                  <a:pt x="0" y="429919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624977" y="-3611469"/>
            <a:ext cx="4567505" cy="4720935"/>
          </a:xfrm>
          <a:custGeom>
            <a:avLst/>
            <a:gdLst/>
            <a:ahLst/>
            <a:cxnLst/>
            <a:rect l="l" t="t" r="r" b="b"/>
            <a:pathLst>
              <a:path w="4567505" h="4720935">
                <a:moveTo>
                  <a:pt x="0" y="0"/>
                </a:moveTo>
                <a:lnTo>
                  <a:pt x="4567505" y="0"/>
                </a:lnTo>
                <a:lnTo>
                  <a:pt x="4567505" y="4720935"/>
                </a:lnTo>
                <a:lnTo>
                  <a:pt x="0" y="47209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9924524" y="8931997"/>
            <a:ext cx="5331561" cy="3445521"/>
          </a:xfrm>
          <a:custGeom>
            <a:avLst/>
            <a:gdLst/>
            <a:ahLst/>
            <a:cxnLst/>
            <a:rect l="l" t="t" r="r" b="b"/>
            <a:pathLst>
              <a:path w="5331561" h="3445521">
                <a:moveTo>
                  <a:pt x="0" y="0"/>
                </a:moveTo>
                <a:lnTo>
                  <a:pt x="5331562" y="0"/>
                </a:lnTo>
                <a:lnTo>
                  <a:pt x="5331562" y="3445521"/>
                </a:lnTo>
                <a:lnTo>
                  <a:pt x="0" y="344552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5513261" y="7125624"/>
            <a:ext cx="3869837" cy="4265352"/>
          </a:xfrm>
          <a:custGeom>
            <a:avLst/>
            <a:gdLst/>
            <a:ahLst/>
            <a:cxnLst/>
            <a:rect l="l" t="t" r="r" b="b"/>
            <a:pathLst>
              <a:path w="3869837" h="4265352">
                <a:moveTo>
                  <a:pt x="0" y="0"/>
                </a:moveTo>
                <a:lnTo>
                  <a:pt x="3869837" y="0"/>
                </a:lnTo>
                <a:lnTo>
                  <a:pt x="3869837" y="4265352"/>
                </a:lnTo>
                <a:lnTo>
                  <a:pt x="0" y="426535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-10800000">
            <a:off x="9144000" y="-1365351"/>
            <a:ext cx="6660247" cy="2730701"/>
          </a:xfrm>
          <a:custGeom>
            <a:avLst/>
            <a:gdLst/>
            <a:ahLst/>
            <a:cxnLst/>
            <a:rect l="l" t="t" r="r" b="b"/>
            <a:pathLst>
              <a:path w="6660247" h="2730701">
                <a:moveTo>
                  <a:pt x="0" y="0"/>
                </a:moveTo>
                <a:lnTo>
                  <a:pt x="6660247" y="0"/>
                </a:lnTo>
                <a:lnTo>
                  <a:pt x="6660247" y="2730702"/>
                </a:lnTo>
                <a:lnTo>
                  <a:pt x="0" y="273070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2611628">
            <a:off x="1608356" y="-1969747"/>
            <a:ext cx="4007991" cy="3041063"/>
          </a:xfrm>
          <a:custGeom>
            <a:avLst/>
            <a:gdLst/>
            <a:ahLst/>
            <a:cxnLst/>
            <a:rect l="l" t="t" r="r" b="b"/>
            <a:pathLst>
              <a:path w="4007991" h="3041063">
                <a:moveTo>
                  <a:pt x="0" y="0"/>
                </a:moveTo>
                <a:lnTo>
                  <a:pt x="4007991" y="0"/>
                </a:lnTo>
                <a:lnTo>
                  <a:pt x="4007991" y="3041063"/>
                </a:lnTo>
                <a:lnTo>
                  <a:pt x="0" y="304106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TextBox 14"/>
          <p:cNvSpPr txBox="1"/>
          <p:nvPr/>
        </p:nvSpPr>
        <p:spPr>
          <a:xfrm>
            <a:off x="2232646" y="1871762"/>
            <a:ext cx="14112011" cy="316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69"/>
              </a:lnSpc>
            </a:pPr>
            <a:r>
              <a:rPr lang="en-US" sz="12582" spc="-754" dirty="0">
                <a:solidFill>
                  <a:srgbClr val="0B4E7C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TRUTH TABLES AND LOGICAL PROPOSITIONS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59272" y="5054124"/>
            <a:ext cx="10355609" cy="550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7"/>
              </a:lnSpc>
            </a:pPr>
            <a:r>
              <a:rPr lang="en-US" sz="3141" b="1" spc="197" dirty="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PRESENTED BY: </a:t>
            </a:r>
          </a:p>
          <a:p>
            <a:pPr algn="ctr">
              <a:lnSpc>
                <a:spcPts val="3267"/>
              </a:lnSpc>
            </a:pPr>
            <a:r>
              <a:rPr lang="en-US" sz="3141" spc="197" dirty="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MD MAHFUZ ALAM</a:t>
            </a:r>
          </a:p>
          <a:p>
            <a:pPr algn="ctr">
              <a:lnSpc>
                <a:spcPts val="3267"/>
              </a:lnSpc>
            </a:pPr>
            <a:r>
              <a:rPr lang="en-US" sz="3141" spc="197" dirty="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ID: 251311032</a:t>
            </a:r>
          </a:p>
          <a:p>
            <a:pPr algn="ctr">
              <a:lnSpc>
                <a:spcPts val="3267"/>
              </a:lnSpc>
            </a:pPr>
            <a:r>
              <a:rPr lang="en-US" sz="3141" b="1" spc="197" dirty="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        </a:t>
            </a:r>
          </a:p>
          <a:p>
            <a:pPr algn="ctr">
              <a:lnSpc>
                <a:spcPts val="3267"/>
              </a:lnSpc>
            </a:pPr>
            <a:endParaRPr lang="en-US" sz="3141" b="1" spc="197" dirty="0">
              <a:solidFill>
                <a:srgbClr val="000000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  <a:p>
            <a:pPr algn="ctr">
              <a:lnSpc>
                <a:spcPts val="3267"/>
              </a:lnSpc>
            </a:pPr>
            <a:r>
              <a:rPr lang="en-US" sz="3141" b="1" spc="197" dirty="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PRESNETED TO: </a:t>
            </a:r>
          </a:p>
          <a:p>
            <a:pPr algn="ctr">
              <a:lnSpc>
                <a:spcPts val="3267"/>
              </a:lnSpc>
            </a:pPr>
            <a:r>
              <a:rPr lang="en-US" sz="3141" spc="197" dirty="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Sanjoy Kumar Chakravarty</a:t>
            </a:r>
          </a:p>
          <a:p>
            <a:pPr algn="ctr">
              <a:lnSpc>
                <a:spcPts val="3267"/>
              </a:lnSpc>
            </a:pPr>
            <a:r>
              <a:rPr lang="en-US" sz="3141" spc="197" dirty="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Associate Professor</a:t>
            </a:r>
          </a:p>
          <a:p>
            <a:pPr algn="ctr">
              <a:lnSpc>
                <a:spcPts val="3267"/>
              </a:lnSpc>
            </a:pPr>
            <a:r>
              <a:rPr lang="en-US" sz="3141" spc="197" dirty="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Dept. of CSE</a:t>
            </a:r>
          </a:p>
          <a:p>
            <a:pPr algn="ctr">
              <a:lnSpc>
                <a:spcPts val="3267"/>
              </a:lnSpc>
            </a:pPr>
            <a:r>
              <a:rPr lang="en-US" sz="3141" spc="197" dirty="0" err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Rajshahi</a:t>
            </a:r>
            <a:r>
              <a:rPr lang="en-US" sz="3141" spc="197" dirty="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University</a:t>
            </a:r>
          </a:p>
          <a:p>
            <a:pPr algn="ctr">
              <a:lnSpc>
                <a:spcPts val="3267"/>
              </a:lnSpc>
            </a:pPr>
            <a:r>
              <a:rPr lang="en-US" sz="3141" b="1" spc="197" dirty="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                               </a:t>
            </a:r>
          </a:p>
          <a:p>
            <a:pPr algn="ctr">
              <a:lnSpc>
                <a:spcPts val="3267"/>
              </a:lnSpc>
            </a:pPr>
            <a:endParaRPr lang="en-US" sz="3141" b="1" spc="197" dirty="0">
              <a:solidFill>
                <a:srgbClr val="000000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  <a:p>
            <a:pPr marL="0" lvl="0" indent="0" algn="ctr">
              <a:lnSpc>
                <a:spcPts val="3267"/>
              </a:lnSpc>
              <a:spcBef>
                <a:spcPct val="0"/>
              </a:spcBef>
            </a:pPr>
            <a:endParaRPr lang="en-US" sz="3141" b="1" spc="197" dirty="0">
              <a:solidFill>
                <a:srgbClr val="000000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  <p:sp>
        <p:nvSpPr>
          <p:cNvPr id="16" name="Freeform 16"/>
          <p:cNvSpPr/>
          <p:nvPr/>
        </p:nvSpPr>
        <p:spPr>
          <a:xfrm rot="-6823717">
            <a:off x="3465231" y="5693825"/>
            <a:ext cx="2770524" cy="1664799"/>
          </a:xfrm>
          <a:custGeom>
            <a:avLst/>
            <a:gdLst/>
            <a:ahLst/>
            <a:cxnLst/>
            <a:rect l="l" t="t" r="r" b="b"/>
            <a:pathLst>
              <a:path w="2770524" h="1664799">
                <a:moveTo>
                  <a:pt x="0" y="0"/>
                </a:moveTo>
                <a:lnTo>
                  <a:pt x="2770524" y="0"/>
                </a:lnTo>
                <a:lnTo>
                  <a:pt x="2770524" y="1664799"/>
                </a:lnTo>
                <a:lnTo>
                  <a:pt x="0" y="166479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888393" y="5911904"/>
            <a:ext cx="1136665" cy="1228640"/>
          </a:xfrm>
          <a:custGeom>
            <a:avLst/>
            <a:gdLst/>
            <a:ahLst/>
            <a:cxnLst/>
            <a:rect l="l" t="t" r="r" b="b"/>
            <a:pathLst>
              <a:path w="1140143" h="1228640">
                <a:moveTo>
                  <a:pt x="0" y="0"/>
                </a:moveTo>
                <a:lnTo>
                  <a:pt x="1140143" y="0"/>
                </a:lnTo>
                <a:lnTo>
                  <a:pt x="1140143" y="1228640"/>
                </a:lnTo>
                <a:lnTo>
                  <a:pt x="0" y="122864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5184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50341" y="5600700"/>
            <a:ext cx="8435223" cy="124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10000" spc="-600" dirty="0">
                <a:latin typeface="Rustic Printed"/>
                <a:ea typeface="Rustic Printed"/>
                <a:cs typeface="Rustic Printed"/>
                <a:sym typeface="Rustic Printed"/>
              </a:rPr>
              <a:t>KEY TOPICS: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5963" y="6714908"/>
            <a:ext cx="7643911" cy="308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74"/>
              </a:lnSpc>
            </a:pPr>
            <a:r>
              <a:rPr lang="en-US" sz="4499" b="1" spc="269" dirty="0">
                <a:solidFill>
                  <a:srgbClr val="0B4E7C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•Truth table</a:t>
            </a:r>
          </a:p>
          <a:p>
            <a:pPr algn="l">
              <a:lnSpc>
                <a:spcPts val="6074"/>
              </a:lnSpc>
            </a:pPr>
            <a:r>
              <a:rPr lang="en-US" sz="4499" b="1" spc="269" dirty="0">
                <a:solidFill>
                  <a:srgbClr val="0B4E7C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•Tautology</a:t>
            </a:r>
          </a:p>
          <a:p>
            <a:pPr>
              <a:lnSpc>
                <a:spcPts val="6074"/>
              </a:lnSpc>
            </a:pPr>
            <a:r>
              <a:rPr lang="en-US" sz="4499" b="1" spc="269" dirty="0">
                <a:solidFill>
                  <a:srgbClr val="0B4E7C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•Contradiction  </a:t>
            </a:r>
          </a:p>
          <a:p>
            <a:pPr>
              <a:lnSpc>
                <a:spcPts val="6074"/>
              </a:lnSpc>
            </a:pPr>
            <a:r>
              <a:rPr lang="en-US" sz="4499" b="1" spc="269" dirty="0">
                <a:solidFill>
                  <a:srgbClr val="0B4E7C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• Contingency</a:t>
            </a:r>
          </a:p>
        </p:txBody>
      </p:sp>
      <p:sp>
        <p:nvSpPr>
          <p:cNvPr id="5" name="Freeform 5"/>
          <p:cNvSpPr/>
          <p:nvPr/>
        </p:nvSpPr>
        <p:spPr>
          <a:xfrm>
            <a:off x="9928978" y="4133044"/>
            <a:ext cx="6273391" cy="5862769"/>
          </a:xfrm>
          <a:custGeom>
            <a:avLst/>
            <a:gdLst/>
            <a:ahLst/>
            <a:cxnLst/>
            <a:rect l="l" t="t" r="r" b="b"/>
            <a:pathLst>
              <a:path w="6273391" h="5862769">
                <a:moveTo>
                  <a:pt x="0" y="0"/>
                </a:moveTo>
                <a:lnTo>
                  <a:pt x="6273391" y="0"/>
                </a:lnTo>
                <a:lnTo>
                  <a:pt x="6273391" y="5862768"/>
                </a:lnTo>
                <a:lnTo>
                  <a:pt x="0" y="58627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D0D0C77C-9CB6-4459-9B42-1C9FE09342B8}"/>
              </a:ext>
            </a:extLst>
          </p:cNvPr>
          <p:cNvSpPr txBox="1"/>
          <p:nvPr/>
        </p:nvSpPr>
        <p:spPr>
          <a:xfrm>
            <a:off x="743414" y="260014"/>
            <a:ext cx="16306800" cy="48152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10000" spc="-600" dirty="0">
                <a:latin typeface="Rustic Printed"/>
                <a:ea typeface="Rustic Printed"/>
                <a:cs typeface="Rustic Printed"/>
                <a:sym typeface="Rustic Printed"/>
              </a:rPr>
              <a:t>KEY TASK: </a:t>
            </a:r>
          </a:p>
          <a:p>
            <a:pPr marL="0" lvl="0" indent="0" algn="l">
              <a:lnSpc>
                <a:spcPts val="9600"/>
              </a:lnSpc>
            </a:pPr>
            <a:r>
              <a:rPr lang="en-US" sz="6000" spc="-600" dirty="0">
                <a:solidFill>
                  <a:srgbClr val="0B4E7C"/>
                </a:solidFill>
                <a:latin typeface="Canva Sans Medium" panose="020B0604020202020204" charset="0"/>
                <a:ea typeface="Rustic Printed"/>
                <a:cs typeface="Arial" panose="020B0604020202020204" pitchFamily="34" charset="0"/>
                <a:sym typeface="Rustic Printed"/>
              </a:rPr>
              <a:t>Making  truth table for complex compound propositions  and  to prove  tautology, contradiction and contingency using truth table.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2573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0494" y="0"/>
                  </a:moveTo>
                  <a:lnTo>
                    <a:pt x="4264232" y="0"/>
                  </a:lnTo>
                  <a:cubicBezTo>
                    <a:pt x="4270028" y="0"/>
                    <a:pt x="4274726" y="4698"/>
                    <a:pt x="4274726" y="10494"/>
                  </a:cubicBezTo>
                  <a:lnTo>
                    <a:pt x="4274726" y="2156973"/>
                  </a:lnTo>
                  <a:cubicBezTo>
                    <a:pt x="4274726" y="2162768"/>
                    <a:pt x="4270028" y="2167467"/>
                    <a:pt x="4264232" y="2167467"/>
                  </a:cubicBezTo>
                  <a:lnTo>
                    <a:pt x="10494" y="2167467"/>
                  </a:lnTo>
                  <a:cubicBezTo>
                    <a:pt x="7711" y="2167467"/>
                    <a:pt x="5042" y="2166361"/>
                    <a:pt x="3074" y="2164393"/>
                  </a:cubicBezTo>
                  <a:cubicBezTo>
                    <a:pt x="1106" y="2162425"/>
                    <a:pt x="0" y="2159756"/>
                    <a:pt x="0" y="2156973"/>
                  </a:cubicBezTo>
                  <a:lnTo>
                    <a:pt x="0" y="10494"/>
                  </a:lnTo>
                  <a:cubicBezTo>
                    <a:pt x="0" y="4698"/>
                    <a:pt x="4698" y="0"/>
                    <a:pt x="10494" y="0"/>
                  </a:cubicBezTo>
                  <a:close/>
                </a:path>
              </a:pathLst>
            </a:custGeom>
            <a:solidFill>
              <a:srgbClr val="155C9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519557" y="2260320"/>
            <a:ext cx="11248885" cy="1247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</a:pPr>
            <a:r>
              <a:rPr lang="en-US" sz="10000" spc="-600" dirty="0">
                <a:latin typeface="Rustic Printed"/>
                <a:ea typeface="Rustic Printed"/>
                <a:cs typeface="Rustic Printed"/>
                <a:sym typeface="Rustic Printed"/>
              </a:rPr>
              <a:t>WHAT IS A TRUTH TABLE?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92986" y="4540530"/>
            <a:ext cx="11840716" cy="4114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4"/>
              </a:lnSpc>
            </a:pPr>
            <a:r>
              <a:rPr lang="en-US" sz="3499" b="1" spc="209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• A truth table is a mathematical table used in logic.</a:t>
            </a:r>
          </a:p>
          <a:p>
            <a:pPr algn="ctr">
              <a:lnSpc>
                <a:spcPts val="4724"/>
              </a:lnSpc>
            </a:pPr>
            <a:r>
              <a:rPr lang="en-US" sz="3499" b="1" spc="209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• It shows the truth values of compound       propositions for all possible truth values of their components.</a:t>
            </a:r>
          </a:p>
          <a:p>
            <a:pPr algn="ctr">
              <a:lnSpc>
                <a:spcPts val="4724"/>
              </a:lnSpc>
            </a:pPr>
            <a:endParaRPr lang="en-US" sz="3499" b="1" spc="209" dirty="0">
              <a:solidFill>
                <a:srgbClr val="FFFFFF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  <a:p>
            <a:pPr marL="0" lvl="0" indent="0" algn="ctr">
              <a:lnSpc>
                <a:spcPts val="4724"/>
              </a:lnSpc>
              <a:spcBef>
                <a:spcPct val="0"/>
              </a:spcBef>
            </a:pPr>
            <a:endParaRPr lang="en-US" sz="3499" b="1" spc="209" dirty="0">
              <a:solidFill>
                <a:srgbClr val="FFFFFF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5555" b="-5555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124462"/>
              </p:ext>
            </p:extLst>
          </p:nvPr>
        </p:nvGraphicFramePr>
        <p:xfrm>
          <a:off x="1066800" y="2247900"/>
          <a:ext cx="15206332" cy="641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1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1583">
                  <a:extLst>
                    <a:ext uri="{9D8B030D-6E8A-4147-A177-3AD203B41FA5}">
                      <a16:colId xmlns:a16="http://schemas.microsoft.com/office/drawing/2014/main" val="167788449"/>
                    </a:ext>
                  </a:extLst>
                </a:gridCol>
                <a:gridCol w="3801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1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8270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400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400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4000" dirty="0">
                          <a:solidFill>
                            <a:schemeClr val="tx1"/>
                          </a:solidFill>
                        </a:rPr>
                        <a:t>P ∧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4000" dirty="0">
                          <a:solidFill>
                            <a:schemeClr val="tx1"/>
                          </a:solidFill>
                        </a:rPr>
                        <a:t>(P ∧ Q) → 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2700"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185542"/>
                  </a:ext>
                </a:extLst>
              </a:tr>
              <a:tr h="1282700"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423916"/>
                  </a:ext>
                </a:extLst>
              </a:tr>
              <a:tr h="1282700"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2700"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Arrow: Chevron 4">
            <a:extLst>
              <a:ext uri="{FF2B5EF4-FFF2-40B4-BE49-F238E27FC236}">
                <a16:creationId xmlns:a16="http://schemas.microsoft.com/office/drawing/2014/main" id="{2CBDFA9D-BB8E-474E-BE7F-03359D68D33A}"/>
              </a:ext>
            </a:extLst>
          </p:cNvPr>
          <p:cNvSpPr/>
          <p:nvPr/>
        </p:nvSpPr>
        <p:spPr>
          <a:xfrm>
            <a:off x="27708" y="390236"/>
            <a:ext cx="7363691" cy="1219200"/>
          </a:xfrm>
          <a:prstGeom prst="chevr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3C9601C-8617-4C65-82C2-437DAEFC1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1891"/>
            <a:ext cx="8001000" cy="780473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(P ∧ Q) → P Truth Table</a:t>
            </a:r>
          </a:p>
        </p:txBody>
      </p:sp>
    </p:spTree>
    <p:extLst>
      <p:ext uri="{BB962C8B-B14F-4D97-AF65-F5344CB8AC3E}">
        <p14:creationId xmlns:p14="http://schemas.microsoft.com/office/powerpoint/2010/main" val="82784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2573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0494" y="0"/>
                  </a:moveTo>
                  <a:lnTo>
                    <a:pt x="4264232" y="0"/>
                  </a:lnTo>
                  <a:cubicBezTo>
                    <a:pt x="4270028" y="0"/>
                    <a:pt x="4274726" y="4698"/>
                    <a:pt x="4274726" y="10494"/>
                  </a:cubicBezTo>
                  <a:lnTo>
                    <a:pt x="4274726" y="2156973"/>
                  </a:lnTo>
                  <a:cubicBezTo>
                    <a:pt x="4274726" y="2162768"/>
                    <a:pt x="4270028" y="2167467"/>
                    <a:pt x="4264232" y="2167467"/>
                  </a:cubicBezTo>
                  <a:lnTo>
                    <a:pt x="10494" y="2167467"/>
                  </a:lnTo>
                  <a:cubicBezTo>
                    <a:pt x="7711" y="2167467"/>
                    <a:pt x="5042" y="2166361"/>
                    <a:pt x="3074" y="2164393"/>
                  </a:cubicBezTo>
                  <a:cubicBezTo>
                    <a:pt x="1106" y="2162425"/>
                    <a:pt x="0" y="2159756"/>
                    <a:pt x="0" y="2156973"/>
                  </a:cubicBezTo>
                  <a:lnTo>
                    <a:pt x="0" y="10494"/>
                  </a:lnTo>
                  <a:cubicBezTo>
                    <a:pt x="0" y="4698"/>
                    <a:pt x="4698" y="0"/>
                    <a:pt x="10494" y="0"/>
                  </a:cubicBezTo>
                  <a:close/>
                </a:path>
              </a:pathLst>
            </a:custGeom>
            <a:solidFill>
              <a:srgbClr val="155C9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b="1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519557" y="1660628"/>
            <a:ext cx="11248885" cy="254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</a:pPr>
            <a:r>
              <a:rPr lang="en-US" sz="9600" b="1" dirty="0"/>
              <a:t>Types of Compound Propositions</a:t>
            </a:r>
            <a:endParaRPr lang="en-US" sz="10000" b="1" spc="-600" dirty="0">
              <a:solidFill>
                <a:srgbClr val="FFFFFF"/>
              </a:solidFill>
              <a:latin typeface="Rustic Printed"/>
              <a:ea typeface="Rustic Printed"/>
              <a:cs typeface="Rustic Printed"/>
              <a:sym typeface="Rustic Printe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192986" y="4540530"/>
            <a:ext cx="11840716" cy="4261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• Tautology</a:t>
            </a:r>
          </a:p>
          <a:p>
            <a:r>
              <a:rPr lang="en-US" sz="6000" dirty="0">
                <a:solidFill>
                  <a:schemeClr val="bg1"/>
                </a:solidFill>
              </a:rPr>
              <a:t>• Contradiction</a:t>
            </a:r>
          </a:p>
          <a:p>
            <a:r>
              <a:rPr lang="en-US" sz="6000" dirty="0">
                <a:solidFill>
                  <a:schemeClr val="bg1"/>
                </a:solidFill>
              </a:rPr>
              <a:t>• Contingency</a:t>
            </a:r>
          </a:p>
          <a:p>
            <a:endParaRPr lang="en-US" sz="6000" dirty="0">
              <a:solidFill>
                <a:schemeClr val="bg1"/>
              </a:solidFill>
            </a:endParaRPr>
          </a:p>
          <a:p>
            <a:pPr marL="0" lvl="0" indent="0" algn="ctr">
              <a:lnSpc>
                <a:spcPts val="4724"/>
              </a:lnSpc>
              <a:spcBef>
                <a:spcPct val="0"/>
              </a:spcBef>
            </a:pPr>
            <a:endParaRPr lang="en-US" sz="3600" b="1" spc="209" dirty="0">
              <a:solidFill>
                <a:schemeClr val="bg1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056441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0278" y="2483848"/>
            <a:ext cx="7494739" cy="6622624"/>
          </a:xfrm>
          <a:custGeom>
            <a:avLst/>
            <a:gdLst/>
            <a:ahLst/>
            <a:cxnLst/>
            <a:rect l="l" t="t" r="r" b="b"/>
            <a:pathLst>
              <a:path w="7494739" h="6622624">
                <a:moveTo>
                  <a:pt x="0" y="0"/>
                </a:moveTo>
                <a:lnTo>
                  <a:pt x="7494739" y="0"/>
                </a:lnTo>
                <a:lnTo>
                  <a:pt x="7494739" y="6622623"/>
                </a:lnTo>
                <a:lnTo>
                  <a:pt x="0" y="66226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9292983" y="2483848"/>
            <a:ext cx="7494739" cy="6622624"/>
          </a:xfrm>
          <a:custGeom>
            <a:avLst/>
            <a:gdLst/>
            <a:ahLst/>
            <a:cxnLst/>
            <a:rect l="l" t="t" r="r" b="b"/>
            <a:pathLst>
              <a:path w="7494739" h="6622624">
                <a:moveTo>
                  <a:pt x="0" y="0"/>
                </a:moveTo>
                <a:lnTo>
                  <a:pt x="7494739" y="0"/>
                </a:lnTo>
                <a:lnTo>
                  <a:pt x="7494739" y="6622623"/>
                </a:lnTo>
                <a:lnTo>
                  <a:pt x="0" y="6622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5737167" y="229889"/>
            <a:ext cx="6813667" cy="2253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54"/>
              </a:lnSpc>
            </a:pPr>
            <a:r>
              <a:rPr lang="en-US" sz="8077" spc="-484">
                <a:solidFill>
                  <a:srgbClr val="0B4E7C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PROOF WITH TRUTH TABLES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23830" y="2926080"/>
            <a:ext cx="4247635" cy="209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4"/>
              </a:lnSpc>
            </a:pPr>
            <a:r>
              <a:rPr lang="en-US" sz="7504" spc="-450">
                <a:solidFill>
                  <a:srgbClr val="FFFFFF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TAUTOLOGY</a:t>
            </a:r>
          </a:p>
          <a:p>
            <a:pPr marL="0" lvl="0" indent="0" algn="ctr">
              <a:lnSpc>
                <a:spcPts val="7204"/>
              </a:lnSpc>
              <a:spcBef>
                <a:spcPct val="0"/>
              </a:spcBef>
            </a:pPr>
            <a:endParaRPr lang="en-US" sz="7504" spc="-450">
              <a:solidFill>
                <a:srgbClr val="FFFFFF"/>
              </a:solidFill>
              <a:latin typeface="Rustic Printed"/>
              <a:ea typeface="Rustic Printed"/>
              <a:cs typeface="Rustic Printed"/>
              <a:sym typeface="Rustic Printe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38551" y="4440294"/>
            <a:ext cx="6454074" cy="4186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39"/>
              </a:lnSpc>
            </a:pPr>
            <a:r>
              <a:rPr lang="en-US" sz="3873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 tautology is a compound proposition that is always true, no matter what the truth values of its individual components are.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8859" y="2909138"/>
            <a:ext cx="4440326" cy="117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99"/>
              </a:lnSpc>
              <a:spcBef>
                <a:spcPct val="0"/>
              </a:spcBef>
            </a:pPr>
            <a:r>
              <a:rPr lang="en-US" sz="7499" spc="-449" dirty="0">
                <a:solidFill>
                  <a:srgbClr val="FFFFFF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EXAMPLE: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83401" y="4936345"/>
            <a:ext cx="6513902" cy="136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25"/>
              </a:lnSpc>
            </a:pPr>
            <a:r>
              <a:rPr lang="en-US" sz="3864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• P ∨ ¬P (Always True)</a:t>
            </a:r>
          </a:p>
          <a:p>
            <a:pPr algn="just">
              <a:lnSpc>
                <a:spcPts val="5525"/>
              </a:lnSpc>
            </a:pPr>
            <a:endParaRPr lang="en-US" sz="3864" b="1" dirty="0">
              <a:solidFill>
                <a:srgbClr val="FFFFFF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5555" b="-5555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95300"/>
            <a:ext cx="8229600" cy="1592262"/>
          </a:xfrm>
        </p:spPr>
        <p:txBody>
          <a:bodyPr>
            <a:normAutofit/>
          </a:bodyPr>
          <a:lstStyle/>
          <a:p>
            <a:r>
              <a:rPr sz="6600" dirty="0">
                <a:solidFill>
                  <a:schemeClr val="tx1"/>
                </a:solidFill>
              </a:rPr>
              <a:t>Tautology: P ∨ ¬P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104814"/>
              </p:ext>
            </p:extLst>
          </p:nvPr>
        </p:nvGraphicFramePr>
        <p:xfrm>
          <a:off x="609600" y="2552700"/>
          <a:ext cx="15206331" cy="384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8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8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8270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2700" dirty="0"/>
                        <a:t>P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2700" dirty="0"/>
                        <a:t>¬P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2700"/>
                        <a:t>P ∨ ¬P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2700">
                <a:tc>
                  <a:txBody>
                    <a:bodyPr/>
                    <a:lstStyle/>
                    <a:p>
                      <a:pPr algn="ctr"/>
                      <a:r>
                        <a:rPr sz="2700" dirty="0"/>
                        <a:t>T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dirty="0"/>
                        <a:t>F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dirty="0"/>
                        <a:t>T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2700">
                <a:tc>
                  <a:txBody>
                    <a:bodyPr/>
                    <a:lstStyle/>
                    <a:p>
                      <a:pPr algn="ctr"/>
                      <a:r>
                        <a:rPr sz="2700"/>
                        <a:t>F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dirty="0"/>
                        <a:t>T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dirty="0"/>
                        <a:t>T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Arrow: Chevron 4">
            <a:extLst>
              <a:ext uri="{FF2B5EF4-FFF2-40B4-BE49-F238E27FC236}">
                <a16:creationId xmlns:a16="http://schemas.microsoft.com/office/drawing/2014/main" id="{2CBDFA9D-BB8E-474E-BE7F-03359D68D33A}"/>
              </a:ext>
            </a:extLst>
          </p:cNvPr>
          <p:cNvSpPr/>
          <p:nvPr/>
        </p:nvSpPr>
        <p:spPr>
          <a:xfrm>
            <a:off x="304800" y="495300"/>
            <a:ext cx="7581900" cy="1219200"/>
          </a:xfrm>
          <a:prstGeom prst="chevr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0278" y="2483848"/>
            <a:ext cx="7494739" cy="6622624"/>
          </a:xfrm>
          <a:custGeom>
            <a:avLst/>
            <a:gdLst/>
            <a:ahLst/>
            <a:cxnLst/>
            <a:rect l="l" t="t" r="r" b="b"/>
            <a:pathLst>
              <a:path w="7494739" h="6622624">
                <a:moveTo>
                  <a:pt x="0" y="0"/>
                </a:moveTo>
                <a:lnTo>
                  <a:pt x="7494739" y="0"/>
                </a:lnTo>
                <a:lnTo>
                  <a:pt x="7494739" y="6622623"/>
                </a:lnTo>
                <a:lnTo>
                  <a:pt x="0" y="66226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9292983" y="2483848"/>
            <a:ext cx="7494739" cy="6622624"/>
          </a:xfrm>
          <a:custGeom>
            <a:avLst/>
            <a:gdLst/>
            <a:ahLst/>
            <a:cxnLst/>
            <a:rect l="l" t="t" r="r" b="b"/>
            <a:pathLst>
              <a:path w="7494739" h="6622624">
                <a:moveTo>
                  <a:pt x="0" y="0"/>
                </a:moveTo>
                <a:lnTo>
                  <a:pt x="7494739" y="0"/>
                </a:lnTo>
                <a:lnTo>
                  <a:pt x="7494739" y="6622623"/>
                </a:lnTo>
                <a:lnTo>
                  <a:pt x="0" y="6622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5737167" y="229889"/>
            <a:ext cx="6813667" cy="2253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54"/>
              </a:lnSpc>
            </a:pPr>
            <a:r>
              <a:rPr lang="en-US" sz="8077" spc="-484">
                <a:solidFill>
                  <a:srgbClr val="0B4E7C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PROOF WITH TRUTH TABLES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25116" y="2926080"/>
            <a:ext cx="5853278" cy="2084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4"/>
              </a:lnSpc>
            </a:pPr>
            <a:r>
              <a:rPr lang="en-US" sz="7504" spc="-450">
                <a:solidFill>
                  <a:srgbClr val="FFFFFF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CONTRADICTION</a:t>
            </a:r>
          </a:p>
          <a:p>
            <a:pPr marL="0" lvl="0" indent="0" algn="ctr">
              <a:lnSpc>
                <a:spcPts val="7108"/>
              </a:lnSpc>
              <a:spcBef>
                <a:spcPct val="0"/>
              </a:spcBef>
            </a:pPr>
            <a:endParaRPr lang="en-US" sz="7504" spc="-450">
              <a:solidFill>
                <a:srgbClr val="FFFFFF"/>
              </a:solidFill>
              <a:latin typeface="Rustic Printed"/>
              <a:ea typeface="Rustic Printed"/>
              <a:cs typeface="Rustic Printed"/>
              <a:sym typeface="Rustic Printe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38551" y="4440294"/>
            <a:ext cx="6454074" cy="5590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39"/>
              </a:lnSpc>
            </a:pPr>
            <a:r>
              <a:rPr lang="en-US" sz="3873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 contradiction is a compound proposition that is always false, no matter what the truth values of its components are. </a:t>
            </a:r>
          </a:p>
          <a:p>
            <a:pPr algn="just">
              <a:lnSpc>
                <a:spcPts val="5539"/>
              </a:lnSpc>
            </a:pPr>
            <a:r>
              <a:rPr lang="en-US" sz="3873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•</a:t>
            </a:r>
          </a:p>
          <a:p>
            <a:pPr algn="just">
              <a:lnSpc>
                <a:spcPts val="5539"/>
              </a:lnSpc>
            </a:pPr>
            <a:endParaRPr lang="en-US" sz="3873" b="1" dirty="0">
              <a:solidFill>
                <a:srgbClr val="FFFFFF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488859" y="2909138"/>
            <a:ext cx="4440326" cy="117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99"/>
              </a:lnSpc>
              <a:spcBef>
                <a:spcPct val="0"/>
              </a:spcBef>
            </a:pPr>
            <a:r>
              <a:rPr lang="en-US" sz="7499" spc="-449" dirty="0">
                <a:solidFill>
                  <a:srgbClr val="FFFFFF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EXAMPLE: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83401" y="4936345"/>
            <a:ext cx="6513902" cy="205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25"/>
              </a:lnSpc>
            </a:pPr>
            <a:r>
              <a:rPr lang="en-US" sz="3864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• P∧¬P (Always False)</a:t>
            </a:r>
          </a:p>
          <a:p>
            <a:pPr algn="just">
              <a:lnSpc>
                <a:spcPts val="5525"/>
              </a:lnSpc>
            </a:pPr>
            <a:endParaRPr lang="en-US" sz="3864" b="1" dirty="0">
              <a:solidFill>
                <a:srgbClr val="FFFFFF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  <a:p>
            <a:pPr algn="just">
              <a:lnSpc>
                <a:spcPts val="5525"/>
              </a:lnSpc>
            </a:pPr>
            <a:endParaRPr lang="en-US" sz="3864" b="1" dirty="0">
              <a:solidFill>
                <a:srgbClr val="FFFFFF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5555" b="-5555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03238"/>
            <a:ext cx="9372600" cy="1592262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tx1"/>
                </a:solidFill>
              </a:rPr>
              <a:t>Contradiction: P ∧ ¬P</a:t>
            </a:r>
            <a:endParaRPr sz="6600" dirty="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2CBDFA9D-BB8E-474E-BE7F-03359D68D33A}"/>
              </a:ext>
            </a:extLst>
          </p:cNvPr>
          <p:cNvSpPr/>
          <p:nvPr/>
        </p:nvSpPr>
        <p:spPr>
          <a:xfrm>
            <a:off x="96981" y="495300"/>
            <a:ext cx="9372600" cy="1143000"/>
          </a:xfrm>
          <a:prstGeom prst="chevr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BD66EE-2CFF-4F88-9A45-1BFEDBD29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953215"/>
              </p:ext>
            </p:extLst>
          </p:nvPr>
        </p:nvGraphicFramePr>
        <p:xfrm>
          <a:off x="571500" y="2552700"/>
          <a:ext cx="17145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7000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40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4000"/>
                        <a:t>¬P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4000"/>
                        <a:t>P ∧ ¬P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algn="ctr"/>
                      <a:r>
                        <a:rPr sz="4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336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0278" y="2483848"/>
            <a:ext cx="7494739" cy="6622624"/>
          </a:xfrm>
          <a:custGeom>
            <a:avLst/>
            <a:gdLst/>
            <a:ahLst/>
            <a:cxnLst/>
            <a:rect l="l" t="t" r="r" b="b"/>
            <a:pathLst>
              <a:path w="7494739" h="6622624">
                <a:moveTo>
                  <a:pt x="0" y="0"/>
                </a:moveTo>
                <a:lnTo>
                  <a:pt x="7494739" y="0"/>
                </a:lnTo>
                <a:lnTo>
                  <a:pt x="7494739" y="6622623"/>
                </a:lnTo>
                <a:lnTo>
                  <a:pt x="0" y="66226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9292983" y="2483848"/>
            <a:ext cx="7494739" cy="6622624"/>
          </a:xfrm>
          <a:custGeom>
            <a:avLst/>
            <a:gdLst/>
            <a:ahLst/>
            <a:cxnLst/>
            <a:rect l="l" t="t" r="r" b="b"/>
            <a:pathLst>
              <a:path w="7494739" h="6622624">
                <a:moveTo>
                  <a:pt x="0" y="0"/>
                </a:moveTo>
                <a:lnTo>
                  <a:pt x="7494739" y="0"/>
                </a:lnTo>
                <a:lnTo>
                  <a:pt x="7494739" y="6622623"/>
                </a:lnTo>
                <a:lnTo>
                  <a:pt x="0" y="6622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5737167" y="229889"/>
            <a:ext cx="6813667" cy="2253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54"/>
              </a:lnSpc>
            </a:pPr>
            <a:r>
              <a:rPr lang="en-US" sz="8077" spc="-484">
                <a:solidFill>
                  <a:srgbClr val="0B4E7C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PROOF WITH TRUTH TABLES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21009" y="2764635"/>
            <a:ext cx="5853278" cy="1159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08"/>
              </a:lnSpc>
              <a:spcBef>
                <a:spcPct val="0"/>
              </a:spcBef>
            </a:pPr>
            <a:r>
              <a:rPr lang="en-US" sz="7404" spc="-444">
                <a:solidFill>
                  <a:srgbClr val="FFFFFF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CONTINGENCY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20611" y="4156952"/>
            <a:ext cx="6454074" cy="5590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39"/>
              </a:lnSpc>
            </a:pPr>
            <a:r>
              <a:rPr lang="en-US" sz="3873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 contingency is a compound proposition that is sometimes true and sometimes false, depending on the truth values of its components.</a:t>
            </a:r>
          </a:p>
          <a:p>
            <a:pPr algn="just">
              <a:lnSpc>
                <a:spcPts val="5539"/>
              </a:lnSpc>
            </a:pPr>
            <a:endParaRPr lang="en-US" sz="3873" b="1" dirty="0">
              <a:solidFill>
                <a:srgbClr val="FFFFFF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  <a:p>
            <a:pPr algn="just">
              <a:lnSpc>
                <a:spcPts val="5539"/>
              </a:lnSpc>
            </a:pPr>
            <a:endParaRPr lang="en-US" sz="3873" b="1" dirty="0">
              <a:solidFill>
                <a:srgbClr val="FFFFFF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488859" y="2909138"/>
            <a:ext cx="4440326" cy="117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99"/>
              </a:lnSpc>
              <a:spcBef>
                <a:spcPct val="0"/>
              </a:spcBef>
            </a:pPr>
            <a:r>
              <a:rPr lang="en-US" sz="7499" spc="-449" dirty="0">
                <a:solidFill>
                  <a:srgbClr val="FFFFFF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EXAMPLE: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83401" y="4936345"/>
            <a:ext cx="6513902" cy="275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25"/>
              </a:lnSpc>
            </a:pPr>
            <a:r>
              <a:rPr lang="en-US" sz="3864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•P → Q (Sometimes True and Sometimes False)</a:t>
            </a:r>
          </a:p>
          <a:p>
            <a:pPr algn="just">
              <a:lnSpc>
                <a:spcPts val="5525"/>
              </a:lnSpc>
            </a:pPr>
            <a:r>
              <a:rPr lang="en-US" sz="3864" b="1" dirty="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•</a:t>
            </a:r>
          </a:p>
          <a:p>
            <a:pPr algn="just">
              <a:lnSpc>
                <a:spcPts val="5525"/>
              </a:lnSpc>
            </a:pPr>
            <a:endParaRPr lang="en-US" sz="3864" b="1" dirty="0">
              <a:solidFill>
                <a:srgbClr val="FFFFFF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5555" b="-5555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209" y="438150"/>
            <a:ext cx="9372600" cy="1592262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tx1"/>
                </a:solidFill>
              </a:rPr>
              <a:t>Contingency: P → Q</a:t>
            </a:r>
            <a:endParaRPr sz="6600" dirty="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2CBDFA9D-BB8E-474E-BE7F-03359D68D33A}"/>
              </a:ext>
            </a:extLst>
          </p:cNvPr>
          <p:cNvSpPr/>
          <p:nvPr/>
        </p:nvSpPr>
        <p:spPr>
          <a:xfrm>
            <a:off x="-13855" y="469323"/>
            <a:ext cx="8929255" cy="1143000"/>
          </a:xfrm>
          <a:prstGeom prst="chevron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BD66EE-2CFF-4F88-9A45-1BFEDBD29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799624"/>
              </p:ext>
            </p:extLst>
          </p:nvPr>
        </p:nvGraphicFramePr>
        <p:xfrm>
          <a:off x="571500" y="2552700"/>
          <a:ext cx="17145000" cy="63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7000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40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400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rPr sz="4000"/>
                        <a:t>P → 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algn="ctr"/>
                      <a:r>
                        <a:rPr sz="4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902683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algn="ctr"/>
                      <a:r>
                        <a:rPr sz="4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588415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40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90913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63162" y="-789039"/>
            <a:ext cx="2875332" cy="3635478"/>
          </a:xfrm>
          <a:custGeom>
            <a:avLst/>
            <a:gdLst/>
            <a:ahLst/>
            <a:cxnLst/>
            <a:rect l="l" t="t" r="r" b="b"/>
            <a:pathLst>
              <a:path w="2875332" h="3635478">
                <a:moveTo>
                  <a:pt x="0" y="0"/>
                </a:moveTo>
                <a:lnTo>
                  <a:pt x="2875333" y="0"/>
                </a:lnTo>
                <a:lnTo>
                  <a:pt x="2875333" y="3635478"/>
                </a:lnTo>
                <a:lnTo>
                  <a:pt x="0" y="36354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044801" y="9258300"/>
            <a:ext cx="5315394" cy="1913542"/>
          </a:xfrm>
          <a:custGeom>
            <a:avLst/>
            <a:gdLst/>
            <a:ahLst/>
            <a:cxnLst/>
            <a:rect l="l" t="t" r="r" b="b"/>
            <a:pathLst>
              <a:path w="5315394" h="1913542">
                <a:moveTo>
                  <a:pt x="0" y="0"/>
                </a:moveTo>
                <a:lnTo>
                  <a:pt x="5315394" y="0"/>
                </a:lnTo>
                <a:lnTo>
                  <a:pt x="5315394" y="1913542"/>
                </a:lnTo>
                <a:lnTo>
                  <a:pt x="0" y="19135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5157161" y="1818354"/>
            <a:ext cx="7973677" cy="6764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866"/>
              </a:lnSpc>
            </a:pPr>
            <a:r>
              <a:rPr lang="en-US" sz="18888" spc="-1133">
                <a:solidFill>
                  <a:srgbClr val="0B4E7C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THANK YOU VERY MUCH!</a:t>
            </a:r>
          </a:p>
        </p:txBody>
      </p:sp>
      <p:sp>
        <p:nvSpPr>
          <p:cNvPr id="6" name="Freeform 6"/>
          <p:cNvSpPr/>
          <p:nvPr/>
        </p:nvSpPr>
        <p:spPr>
          <a:xfrm rot="2830164">
            <a:off x="5322070" y="8801780"/>
            <a:ext cx="3550978" cy="3705954"/>
          </a:xfrm>
          <a:custGeom>
            <a:avLst/>
            <a:gdLst/>
            <a:ahLst/>
            <a:cxnLst/>
            <a:rect l="l" t="t" r="r" b="b"/>
            <a:pathLst>
              <a:path w="3550978" h="3705954">
                <a:moveTo>
                  <a:pt x="0" y="0"/>
                </a:moveTo>
                <a:lnTo>
                  <a:pt x="3550978" y="0"/>
                </a:lnTo>
                <a:lnTo>
                  <a:pt x="3550978" y="3705955"/>
                </a:lnTo>
                <a:lnTo>
                  <a:pt x="0" y="3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950933">
            <a:off x="-2582731" y="3638336"/>
            <a:ext cx="4236628" cy="4828066"/>
          </a:xfrm>
          <a:custGeom>
            <a:avLst/>
            <a:gdLst/>
            <a:ahLst/>
            <a:cxnLst/>
            <a:rect l="l" t="t" r="r" b="b"/>
            <a:pathLst>
              <a:path w="4236628" h="4828066">
                <a:moveTo>
                  <a:pt x="0" y="0"/>
                </a:moveTo>
                <a:lnTo>
                  <a:pt x="4236628" y="0"/>
                </a:lnTo>
                <a:lnTo>
                  <a:pt x="4236628" y="4828066"/>
                </a:lnTo>
                <a:lnTo>
                  <a:pt x="0" y="48280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584336" y="-1920382"/>
            <a:ext cx="4623736" cy="3907057"/>
          </a:xfrm>
          <a:custGeom>
            <a:avLst/>
            <a:gdLst/>
            <a:ahLst/>
            <a:cxnLst/>
            <a:rect l="l" t="t" r="r" b="b"/>
            <a:pathLst>
              <a:path w="4623736" h="3907057">
                <a:moveTo>
                  <a:pt x="0" y="0"/>
                </a:moveTo>
                <a:lnTo>
                  <a:pt x="4623735" y="0"/>
                </a:lnTo>
                <a:lnTo>
                  <a:pt x="4623735" y="3907057"/>
                </a:lnTo>
                <a:lnTo>
                  <a:pt x="0" y="39070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-366315">
            <a:off x="16272866" y="2044607"/>
            <a:ext cx="3659690" cy="4299195"/>
          </a:xfrm>
          <a:custGeom>
            <a:avLst/>
            <a:gdLst/>
            <a:ahLst/>
            <a:cxnLst/>
            <a:rect l="l" t="t" r="r" b="b"/>
            <a:pathLst>
              <a:path w="3659690" h="4299195">
                <a:moveTo>
                  <a:pt x="0" y="0"/>
                </a:moveTo>
                <a:lnTo>
                  <a:pt x="3659690" y="0"/>
                </a:lnTo>
                <a:lnTo>
                  <a:pt x="3659690" y="4299195"/>
                </a:lnTo>
                <a:lnTo>
                  <a:pt x="0" y="429919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624977" y="-3611469"/>
            <a:ext cx="4567505" cy="4720935"/>
          </a:xfrm>
          <a:custGeom>
            <a:avLst/>
            <a:gdLst/>
            <a:ahLst/>
            <a:cxnLst/>
            <a:rect l="l" t="t" r="r" b="b"/>
            <a:pathLst>
              <a:path w="4567505" h="4720935">
                <a:moveTo>
                  <a:pt x="0" y="0"/>
                </a:moveTo>
                <a:lnTo>
                  <a:pt x="4567505" y="0"/>
                </a:lnTo>
                <a:lnTo>
                  <a:pt x="4567505" y="4720935"/>
                </a:lnTo>
                <a:lnTo>
                  <a:pt x="0" y="47209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9924524" y="8931997"/>
            <a:ext cx="5331561" cy="3445521"/>
          </a:xfrm>
          <a:custGeom>
            <a:avLst/>
            <a:gdLst/>
            <a:ahLst/>
            <a:cxnLst/>
            <a:rect l="l" t="t" r="r" b="b"/>
            <a:pathLst>
              <a:path w="5331561" h="3445521">
                <a:moveTo>
                  <a:pt x="0" y="0"/>
                </a:moveTo>
                <a:lnTo>
                  <a:pt x="5331562" y="0"/>
                </a:lnTo>
                <a:lnTo>
                  <a:pt x="5331562" y="3445521"/>
                </a:lnTo>
                <a:lnTo>
                  <a:pt x="0" y="344552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5513261" y="7125624"/>
            <a:ext cx="3869837" cy="4265352"/>
          </a:xfrm>
          <a:custGeom>
            <a:avLst/>
            <a:gdLst/>
            <a:ahLst/>
            <a:cxnLst/>
            <a:rect l="l" t="t" r="r" b="b"/>
            <a:pathLst>
              <a:path w="3869837" h="4265352">
                <a:moveTo>
                  <a:pt x="0" y="0"/>
                </a:moveTo>
                <a:lnTo>
                  <a:pt x="3869837" y="0"/>
                </a:lnTo>
                <a:lnTo>
                  <a:pt x="3869837" y="4265352"/>
                </a:lnTo>
                <a:lnTo>
                  <a:pt x="0" y="426535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10800000">
            <a:off x="9144000" y="-1365351"/>
            <a:ext cx="6660247" cy="2730701"/>
          </a:xfrm>
          <a:custGeom>
            <a:avLst/>
            <a:gdLst/>
            <a:ahLst/>
            <a:cxnLst/>
            <a:rect l="l" t="t" r="r" b="b"/>
            <a:pathLst>
              <a:path w="6660247" h="2730701">
                <a:moveTo>
                  <a:pt x="0" y="0"/>
                </a:moveTo>
                <a:lnTo>
                  <a:pt x="6660247" y="0"/>
                </a:lnTo>
                <a:lnTo>
                  <a:pt x="6660247" y="2730702"/>
                </a:lnTo>
                <a:lnTo>
                  <a:pt x="0" y="273070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-2611628">
            <a:off x="1608356" y="-1969747"/>
            <a:ext cx="4007991" cy="3041063"/>
          </a:xfrm>
          <a:custGeom>
            <a:avLst/>
            <a:gdLst/>
            <a:ahLst/>
            <a:cxnLst/>
            <a:rect l="l" t="t" r="r" b="b"/>
            <a:pathLst>
              <a:path w="4007991" h="3041063">
                <a:moveTo>
                  <a:pt x="0" y="0"/>
                </a:moveTo>
                <a:lnTo>
                  <a:pt x="4007991" y="0"/>
                </a:lnTo>
                <a:lnTo>
                  <a:pt x="4007991" y="3041063"/>
                </a:lnTo>
                <a:lnTo>
                  <a:pt x="0" y="304106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 rot="3439542">
            <a:off x="12477745" y="2571123"/>
            <a:ext cx="2770524" cy="1664799"/>
          </a:xfrm>
          <a:custGeom>
            <a:avLst/>
            <a:gdLst/>
            <a:ahLst/>
            <a:cxnLst/>
            <a:rect l="l" t="t" r="r" b="b"/>
            <a:pathLst>
              <a:path w="2770524" h="1664799">
                <a:moveTo>
                  <a:pt x="0" y="0"/>
                </a:moveTo>
                <a:lnTo>
                  <a:pt x="2770524" y="0"/>
                </a:lnTo>
                <a:lnTo>
                  <a:pt x="2770524" y="1664800"/>
                </a:lnTo>
                <a:lnTo>
                  <a:pt x="0" y="166480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7235282">
            <a:off x="3033323" y="6293225"/>
            <a:ext cx="2770524" cy="1664799"/>
          </a:xfrm>
          <a:custGeom>
            <a:avLst/>
            <a:gdLst/>
            <a:ahLst/>
            <a:cxnLst/>
            <a:rect l="l" t="t" r="r" b="b"/>
            <a:pathLst>
              <a:path w="2770524" h="1664799">
                <a:moveTo>
                  <a:pt x="0" y="0"/>
                </a:moveTo>
                <a:lnTo>
                  <a:pt x="2770524" y="0"/>
                </a:lnTo>
                <a:lnTo>
                  <a:pt x="2770524" y="1664799"/>
                </a:lnTo>
                <a:lnTo>
                  <a:pt x="0" y="166479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>
            <a:off x="4270593" y="2757734"/>
            <a:ext cx="1198548" cy="1291578"/>
          </a:xfrm>
          <a:custGeom>
            <a:avLst/>
            <a:gdLst/>
            <a:ahLst/>
            <a:cxnLst/>
            <a:rect l="l" t="t" r="r" b="b"/>
            <a:pathLst>
              <a:path w="1198548" h="1291578">
                <a:moveTo>
                  <a:pt x="1198548" y="0"/>
                </a:moveTo>
                <a:lnTo>
                  <a:pt x="0" y="0"/>
                </a:lnTo>
                <a:lnTo>
                  <a:pt x="0" y="1291578"/>
                </a:lnTo>
                <a:lnTo>
                  <a:pt x="1198548" y="1291578"/>
                </a:lnTo>
                <a:lnTo>
                  <a:pt x="1198548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12722864" y="6511304"/>
            <a:ext cx="1140143" cy="1228640"/>
          </a:xfrm>
          <a:custGeom>
            <a:avLst/>
            <a:gdLst/>
            <a:ahLst/>
            <a:cxnLst/>
            <a:rect l="l" t="t" r="r" b="b"/>
            <a:pathLst>
              <a:path w="1140143" h="1228640">
                <a:moveTo>
                  <a:pt x="0" y="0"/>
                </a:moveTo>
                <a:lnTo>
                  <a:pt x="1140143" y="0"/>
                </a:lnTo>
                <a:lnTo>
                  <a:pt x="1140143" y="1228640"/>
                </a:lnTo>
                <a:lnTo>
                  <a:pt x="0" y="122864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</TotalTime>
  <Words>332</Words>
  <Application>Microsoft Office PowerPoint</Application>
  <PresentationFormat>Custom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Trebuchet MS</vt:lpstr>
      <vt:lpstr>Canva Sans Medium</vt:lpstr>
      <vt:lpstr>Wingdings 3</vt:lpstr>
      <vt:lpstr>Rustic Printed</vt:lpstr>
      <vt:lpstr>Arial</vt:lpstr>
      <vt:lpstr>Facet</vt:lpstr>
      <vt:lpstr>PowerPoint Presentation</vt:lpstr>
      <vt:lpstr>PowerPoint Presentation</vt:lpstr>
      <vt:lpstr>PowerPoint Presentation</vt:lpstr>
      <vt:lpstr>(P ∧ Q) → P Truth Table</vt:lpstr>
      <vt:lpstr>PowerPoint Presentation</vt:lpstr>
      <vt:lpstr>PowerPoint Presentation</vt:lpstr>
      <vt:lpstr>Tautology: P ∨ ¬P</vt:lpstr>
      <vt:lpstr>PowerPoint Presentation</vt:lpstr>
      <vt:lpstr>Contradiction: P ∧ ¬P</vt:lpstr>
      <vt:lpstr>PowerPoint Presentation</vt:lpstr>
      <vt:lpstr>Contingency: P → Q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Project</dc:title>
  <dc:creator>Farhan Mahfuz</dc:creator>
  <cp:lastModifiedBy>Farhan Mahfuz</cp:lastModifiedBy>
  <cp:revision>9</cp:revision>
  <dcterms:created xsi:type="dcterms:W3CDTF">2006-08-16T00:00:00Z</dcterms:created>
  <dcterms:modified xsi:type="dcterms:W3CDTF">2025-09-09T07:30:33Z</dcterms:modified>
  <dc:identifier>DAGyL4UQQdk</dc:identifier>
</cp:coreProperties>
</file>