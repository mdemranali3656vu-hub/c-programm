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6" r:id="rId10"/>
  </p:sldIdLst>
  <p:sldSz cx="18288000" cy="10287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Kalpurush" panose="02000600000000000000" pitchFamily="2" charset="0"/>
      <p:regular r:id="rId13"/>
    </p:embeddedFont>
    <p:embeddedFont>
      <p:font typeface="Pattanakarn Expanded" panose="020B0604020202020204" charset="-3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C830A-5E0F-4006-8FB8-94C3F53EF4B3}" v="1" dt="2025-11-21T06:43:50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thee Hasan" userId="c31ac66af8038231" providerId="LiveId" clId="{C6C6419C-1B41-4AA9-81BB-24A38FF855FB}"/>
    <pc:docChg chg="modSld">
      <pc:chgData name="Preetthee Hasan" userId="c31ac66af8038231" providerId="LiveId" clId="{C6C6419C-1B41-4AA9-81BB-24A38FF855FB}" dt="2025-11-21T06:44:10.353" v="42" actId="20577"/>
      <pc:docMkLst>
        <pc:docMk/>
      </pc:docMkLst>
      <pc:sldChg chg="modSp mod">
        <pc:chgData name="Preetthee Hasan" userId="c31ac66af8038231" providerId="LiveId" clId="{C6C6419C-1B41-4AA9-81BB-24A38FF855FB}" dt="2025-11-21T06:43:25.809" v="31" actId="20577"/>
        <pc:sldMkLst>
          <pc:docMk/>
          <pc:sldMk cId="0" sldId="258"/>
        </pc:sldMkLst>
        <pc:spChg chg="mod">
          <ac:chgData name="Preetthee Hasan" userId="c31ac66af8038231" providerId="LiveId" clId="{C6C6419C-1B41-4AA9-81BB-24A38FF855FB}" dt="2025-11-21T06:43:25.809" v="31" actId="20577"/>
          <ac:spMkLst>
            <pc:docMk/>
            <pc:sldMk cId="0" sldId="258"/>
            <ac:spMk id="55" creationId="{DA35D9DB-1BC6-47E9-9B02-D4C9761A0A8D}"/>
          </ac:spMkLst>
        </pc:spChg>
      </pc:sldChg>
      <pc:sldChg chg="modSp mod">
        <pc:chgData name="Preetthee Hasan" userId="c31ac66af8038231" providerId="LiveId" clId="{C6C6419C-1B41-4AA9-81BB-24A38FF855FB}" dt="2025-11-21T06:44:10.353" v="42" actId="20577"/>
        <pc:sldMkLst>
          <pc:docMk/>
          <pc:sldMk cId="0" sldId="262"/>
        </pc:sldMkLst>
        <pc:spChg chg="mod">
          <ac:chgData name="Preetthee Hasan" userId="c31ac66af8038231" providerId="LiveId" clId="{C6C6419C-1B41-4AA9-81BB-24A38FF855FB}" dt="2025-11-21T06:44:10.353" v="42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">
        <pc:chgData name="Preetthee Hasan" userId="c31ac66af8038231" providerId="LiveId" clId="{C6C6419C-1B41-4AA9-81BB-24A38FF855FB}" dt="2025-11-21T06:43:50.418" v="32" actId="20577"/>
        <pc:sldMkLst>
          <pc:docMk/>
          <pc:sldMk cId="7946394" sldId="267"/>
        </pc:sldMkLst>
        <pc:spChg chg="mod">
          <ac:chgData name="Preetthee Hasan" userId="c31ac66af8038231" providerId="LiveId" clId="{C6C6419C-1B41-4AA9-81BB-24A38FF855FB}" dt="2025-11-21T06:43:50.418" v="32" actId="20577"/>
          <ac:spMkLst>
            <pc:docMk/>
            <pc:sldMk cId="7946394" sldId="267"/>
            <ac:spMk id="5" creationId="{36EDA51D-1015-41A1-8C44-EB7B17C5066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64C0F3-CB2C-4107-AD46-338AB3AE106E}" type="doc">
      <dgm:prSet loTypeId="urn:microsoft.com/office/officeart/2008/layout/HexagonCluster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48F97B-6C03-4B58-9F6A-B0B8E93A35CB}">
      <dgm:prSet phldrT="[Text]"/>
      <dgm:spPr/>
      <dgm:t>
        <a:bodyPr/>
        <a:lstStyle/>
        <a:p>
          <a:r>
            <a:rPr lang="en-US" dirty="0"/>
            <a:t>Conclusion</a:t>
          </a:r>
        </a:p>
      </dgm:t>
    </dgm:pt>
    <dgm:pt modelId="{E05583A8-0AE9-4980-AD2B-8F1F37CD4AF2}" type="parTrans" cxnId="{6BD568E6-72BB-429F-95D3-AD5192D2787E}">
      <dgm:prSet/>
      <dgm:spPr/>
      <dgm:t>
        <a:bodyPr/>
        <a:lstStyle/>
        <a:p>
          <a:endParaRPr lang="en-US"/>
        </a:p>
      </dgm:t>
    </dgm:pt>
    <dgm:pt modelId="{DE827E6A-DB7C-400E-840C-950588B425E9}" type="sibTrans" cxnId="{6BD568E6-72BB-429F-95D3-AD5192D2787E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1BA87326-611D-4752-9528-DEC16CE01AD2}" type="pres">
      <dgm:prSet presAssocID="{DF64C0F3-CB2C-4107-AD46-338AB3AE106E}" presName="Name0" presStyleCnt="0">
        <dgm:presLayoutVars>
          <dgm:chMax val="21"/>
          <dgm:chPref val="21"/>
        </dgm:presLayoutVars>
      </dgm:prSet>
      <dgm:spPr/>
    </dgm:pt>
    <dgm:pt modelId="{2D1BCD0C-FEE1-429E-8DD1-81313FBC6803}" type="pres">
      <dgm:prSet presAssocID="{4D48F97B-6C03-4B58-9F6A-B0B8E93A35CB}" presName="text1" presStyleCnt="0"/>
      <dgm:spPr/>
    </dgm:pt>
    <dgm:pt modelId="{E8EE4EA2-926C-4569-9D8B-FBE2B19E6191}" type="pres">
      <dgm:prSet presAssocID="{4D48F97B-6C03-4B58-9F6A-B0B8E93A35CB}" presName="textRepeatNode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3762A59-60D0-4BFA-AA3D-80AE0DCBCC5D}" type="pres">
      <dgm:prSet presAssocID="{4D48F97B-6C03-4B58-9F6A-B0B8E93A35CB}" presName="textaccent1" presStyleCnt="0"/>
      <dgm:spPr/>
    </dgm:pt>
    <dgm:pt modelId="{249056B6-812B-4F93-970C-DEF231E9A20A}" type="pres">
      <dgm:prSet presAssocID="{4D48F97B-6C03-4B58-9F6A-B0B8E93A35CB}" presName="accentRepeatNode" presStyleLbl="solidAlignAcc1" presStyleIdx="0" presStyleCnt="2"/>
      <dgm:spPr/>
    </dgm:pt>
    <dgm:pt modelId="{62C35AFF-687B-4660-98F7-3D8D4C1C21FE}" type="pres">
      <dgm:prSet presAssocID="{DE827E6A-DB7C-400E-840C-950588B425E9}" presName="image1" presStyleCnt="0"/>
      <dgm:spPr/>
    </dgm:pt>
    <dgm:pt modelId="{2613AF3E-1D80-4926-A49F-46BE401F82CC}" type="pres">
      <dgm:prSet presAssocID="{DE827E6A-DB7C-400E-840C-950588B425E9}" presName="imageRepeatNode" presStyleLbl="alignAcc1" presStyleIdx="0" presStyleCnt="1"/>
      <dgm:spPr/>
    </dgm:pt>
    <dgm:pt modelId="{E987516C-2FE2-4BDE-84D7-7516AEB1483A}" type="pres">
      <dgm:prSet presAssocID="{DE827E6A-DB7C-400E-840C-950588B425E9}" presName="imageaccent1" presStyleCnt="0"/>
      <dgm:spPr/>
    </dgm:pt>
    <dgm:pt modelId="{090F251E-DDDF-47E8-AC6F-9F63F30B5A36}" type="pres">
      <dgm:prSet presAssocID="{DE827E6A-DB7C-400E-840C-950588B425E9}" presName="accentRepeatNode" presStyleLbl="solidAlignAcc1" presStyleIdx="1" presStyleCnt="2"/>
      <dgm:spPr/>
    </dgm:pt>
  </dgm:ptLst>
  <dgm:cxnLst>
    <dgm:cxn modelId="{4D26B80E-85DB-409B-A312-A6D329DAEAD7}" type="presOf" srcId="{DE827E6A-DB7C-400E-840C-950588B425E9}" destId="{2613AF3E-1D80-4926-A49F-46BE401F82CC}" srcOrd="0" destOrd="0" presId="urn:microsoft.com/office/officeart/2008/layout/HexagonCluster"/>
    <dgm:cxn modelId="{31C3125E-6A16-445A-843A-F2C47458D04C}" type="presOf" srcId="{4D48F97B-6C03-4B58-9F6A-B0B8E93A35CB}" destId="{E8EE4EA2-926C-4569-9D8B-FBE2B19E6191}" srcOrd="0" destOrd="0" presId="urn:microsoft.com/office/officeart/2008/layout/HexagonCluster"/>
    <dgm:cxn modelId="{92267894-5622-4E18-A7D3-4D10E510792A}" type="presOf" srcId="{DF64C0F3-CB2C-4107-AD46-338AB3AE106E}" destId="{1BA87326-611D-4752-9528-DEC16CE01AD2}" srcOrd="0" destOrd="0" presId="urn:microsoft.com/office/officeart/2008/layout/HexagonCluster"/>
    <dgm:cxn modelId="{6BD568E6-72BB-429F-95D3-AD5192D2787E}" srcId="{DF64C0F3-CB2C-4107-AD46-338AB3AE106E}" destId="{4D48F97B-6C03-4B58-9F6A-B0B8E93A35CB}" srcOrd="0" destOrd="0" parTransId="{E05583A8-0AE9-4980-AD2B-8F1F37CD4AF2}" sibTransId="{DE827E6A-DB7C-400E-840C-950588B425E9}"/>
    <dgm:cxn modelId="{F17F50B8-A90A-472C-A403-26E5A21B3664}" type="presParOf" srcId="{1BA87326-611D-4752-9528-DEC16CE01AD2}" destId="{2D1BCD0C-FEE1-429E-8DD1-81313FBC6803}" srcOrd="0" destOrd="0" presId="urn:microsoft.com/office/officeart/2008/layout/HexagonCluster"/>
    <dgm:cxn modelId="{2858801C-A082-46A2-BCF3-62454BAC86B8}" type="presParOf" srcId="{2D1BCD0C-FEE1-429E-8DD1-81313FBC6803}" destId="{E8EE4EA2-926C-4569-9D8B-FBE2B19E6191}" srcOrd="0" destOrd="0" presId="urn:microsoft.com/office/officeart/2008/layout/HexagonCluster"/>
    <dgm:cxn modelId="{5DFE12C6-BF72-446B-AE02-60725FA37B2B}" type="presParOf" srcId="{1BA87326-611D-4752-9528-DEC16CE01AD2}" destId="{53762A59-60D0-4BFA-AA3D-80AE0DCBCC5D}" srcOrd="1" destOrd="0" presId="urn:microsoft.com/office/officeart/2008/layout/HexagonCluster"/>
    <dgm:cxn modelId="{E2707A5A-98BD-4549-9031-96A3D2A3F71D}" type="presParOf" srcId="{53762A59-60D0-4BFA-AA3D-80AE0DCBCC5D}" destId="{249056B6-812B-4F93-970C-DEF231E9A20A}" srcOrd="0" destOrd="0" presId="urn:microsoft.com/office/officeart/2008/layout/HexagonCluster"/>
    <dgm:cxn modelId="{699B3B40-3AF9-49AB-B2BC-947D0EBBF372}" type="presParOf" srcId="{1BA87326-611D-4752-9528-DEC16CE01AD2}" destId="{62C35AFF-687B-4660-98F7-3D8D4C1C21FE}" srcOrd="2" destOrd="0" presId="urn:microsoft.com/office/officeart/2008/layout/HexagonCluster"/>
    <dgm:cxn modelId="{524BAB53-7ABF-41B3-A8A7-B04AC423F0DD}" type="presParOf" srcId="{62C35AFF-687B-4660-98F7-3D8D4C1C21FE}" destId="{2613AF3E-1D80-4926-A49F-46BE401F82CC}" srcOrd="0" destOrd="0" presId="urn:microsoft.com/office/officeart/2008/layout/HexagonCluster"/>
    <dgm:cxn modelId="{0C652259-FA7E-4B00-A88B-C74C0E01F6FF}" type="presParOf" srcId="{1BA87326-611D-4752-9528-DEC16CE01AD2}" destId="{E987516C-2FE2-4BDE-84D7-7516AEB1483A}" srcOrd="3" destOrd="0" presId="urn:microsoft.com/office/officeart/2008/layout/HexagonCluster"/>
    <dgm:cxn modelId="{D4835818-7E07-49AA-8FA0-5B2AF0AC23F6}" type="presParOf" srcId="{E987516C-2FE2-4BDE-84D7-7516AEB1483A}" destId="{090F251E-DDDF-47E8-AC6F-9F63F30B5A36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E4EA2-926C-4569-9D8B-FBE2B19E6191}">
      <dsp:nvSpPr>
        <dsp:cNvPr id="0" name=""/>
        <dsp:cNvSpPr/>
      </dsp:nvSpPr>
      <dsp:spPr>
        <a:xfrm>
          <a:off x="2317089" y="1991811"/>
          <a:ext cx="2803550" cy="2414316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3180" rIns="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Conclusion</a:t>
          </a:r>
        </a:p>
      </dsp:txBody>
      <dsp:txXfrm>
        <a:off x="2751911" y="2366264"/>
        <a:ext cx="1933906" cy="1665410"/>
      </dsp:txXfrm>
    </dsp:sp>
    <dsp:sp modelId="{249056B6-812B-4F93-970C-DEF231E9A20A}">
      <dsp:nvSpPr>
        <dsp:cNvPr id="0" name=""/>
        <dsp:cNvSpPr/>
      </dsp:nvSpPr>
      <dsp:spPr>
        <a:xfrm>
          <a:off x="2382121" y="3057949"/>
          <a:ext cx="327208" cy="28240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3AF3E-1D80-4926-A49F-46BE401F82CC}">
      <dsp:nvSpPr>
        <dsp:cNvPr id="0" name=""/>
        <dsp:cNvSpPr/>
      </dsp:nvSpPr>
      <dsp:spPr>
        <a:xfrm>
          <a:off x="0" y="714512"/>
          <a:ext cx="2799965" cy="24135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F251E-DDDF-47E8-AC6F-9F63F30B5A36}">
      <dsp:nvSpPr>
        <dsp:cNvPr id="0" name=""/>
        <dsp:cNvSpPr/>
      </dsp:nvSpPr>
      <dsp:spPr>
        <a:xfrm>
          <a:off x="1895660" y="2793999"/>
          <a:ext cx="327208" cy="28240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E9CF2-215A-4C71-89A2-7BA6728E1B21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B05C4-4973-49B3-9475-F6B602479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13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B05C4-4973-49B3-9475-F6B602479E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8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21223" y="733514"/>
            <a:ext cx="13112100" cy="3341038"/>
            <a:chOff x="0" y="0"/>
            <a:chExt cx="10101083" cy="2832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01083" cy="2832864"/>
            </a:xfrm>
            <a:custGeom>
              <a:avLst/>
              <a:gdLst/>
              <a:ahLst/>
              <a:cxnLst/>
              <a:rect l="l" t="t" r="r" b="b"/>
              <a:pathLst>
                <a:path w="10101083" h="2832864">
                  <a:moveTo>
                    <a:pt x="994106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672844"/>
                  </a:lnTo>
                  <a:lnTo>
                    <a:pt x="160020" y="2832864"/>
                  </a:lnTo>
                  <a:lnTo>
                    <a:pt x="9941063" y="2832864"/>
                  </a:lnTo>
                  <a:lnTo>
                    <a:pt x="10101083" y="2672844"/>
                  </a:lnTo>
                  <a:lnTo>
                    <a:pt x="10101083" y="160020"/>
                  </a:lnTo>
                  <a:lnTo>
                    <a:pt x="9941063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25400"/>
              <a:ext cx="9974083" cy="2743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71138" y="358584"/>
            <a:ext cx="13112100" cy="3381829"/>
            <a:chOff x="0" y="0"/>
            <a:chExt cx="10101083" cy="28537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01083" cy="2853730"/>
            </a:xfrm>
            <a:custGeom>
              <a:avLst/>
              <a:gdLst/>
              <a:ahLst/>
              <a:cxnLst/>
              <a:rect l="l" t="t" r="r" b="b"/>
              <a:pathLst>
                <a:path w="10101083" h="2853730">
                  <a:moveTo>
                    <a:pt x="994106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693710"/>
                  </a:lnTo>
                  <a:lnTo>
                    <a:pt x="160020" y="2853730"/>
                  </a:lnTo>
                  <a:lnTo>
                    <a:pt x="9941063" y="2853730"/>
                  </a:lnTo>
                  <a:lnTo>
                    <a:pt x="10101083" y="2693710"/>
                  </a:lnTo>
                  <a:lnTo>
                    <a:pt x="10101083" y="160020"/>
                  </a:lnTo>
                  <a:lnTo>
                    <a:pt x="9941063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9974083" cy="2764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21458" y="1028700"/>
            <a:ext cx="1578698" cy="124472"/>
            <a:chOff x="0" y="0"/>
            <a:chExt cx="7731668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178815" y="1612486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2199785" y="5160818"/>
            <a:ext cx="2577571" cy="0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233506" y="4394746"/>
            <a:ext cx="357033" cy="89258"/>
          </a:xfrm>
          <a:custGeom>
            <a:avLst/>
            <a:gdLst/>
            <a:ahLst/>
            <a:cxnLst/>
            <a:rect l="l" t="t" r="r" b="b"/>
            <a:pathLst>
              <a:path w="357033" h="89258">
                <a:moveTo>
                  <a:pt x="0" y="0"/>
                </a:moveTo>
                <a:lnTo>
                  <a:pt x="357032" y="0"/>
                </a:lnTo>
                <a:lnTo>
                  <a:pt x="357032" y="89258"/>
                </a:lnTo>
                <a:lnTo>
                  <a:pt x="0" y="8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581330" y="976914"/>
            <a:ext cx="10957242" cy="1740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926"/>
              </a:lnSpc>
              <a:spcBef>
                <a:spcPct val="0"/>
              </a:spcBef>
            </a:pPr>
            <a:r>
              <a:rPr lang="en-US" sz="80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Predicate</a:t>
            </a:r>
            <a:r>
              <a:rPr lang="en-US" sz="8000" dirty="0">
                <a:solidFill>
                  <a:schemeClr val="bg1"/>
                </a:solidFill>
              </a:rPr>
              <a:t> and Quantifier</a:t>
            </a:r>
            <a:endParaRPr lang="en-US" sz="80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199785" y="5522303"/>
            <a:ext cx="5648815" cy="1036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A. N. M. </a:t>
            </a:r>
            <a:r>
              <a:rPr lang="en-US" sz="3600" dirty="0" err="1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Mahiuddin</a:t>
            </a: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 Bin Jalil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251311041</a:t>
            </a: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5B44392C-70E8-473F-99E9-D5D710E80D50}"/>
              </a:ext>
            </a:extLst>
          </p:cNvPr>
          <p:cNvSpPr/>
          <p:nvPr/>
        </p:nvSpPr>
        <p:spPr>
          <a:xfrm>
            <a:off x="11864483" y="4285564"/>
            <a:ext cx="357033" cy="89258"/>
          </a:xfrm>
          <a:custGeom>
            <a:avLst/>
            <a:gdLst/>
            <a:ahLst/>
            <a:cxnLst/>
            <a:rect l="l" t="t" r="r" b="b"/>
            <a:pathLst>
              <a:path w="357033" h="89258">
                <a:moveTo>
                  <a:pt x="0" y="0"/>
                </a:moveTo>
                <a:lnTo>
                  <a:pt x="357032" y="0"/>
                </a:lnTo>
                <a:lnTo>
                  <a:pt x="357032" y="89258"/>
                </a:lnTo>
                <a:lnTo>
                  <a:pt x="0" y="8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AutoShape 17">
            <a:extLst>
              <a:ext uri="{FF2B5EF4-FFF2-40B4-BE49-F238E27FC236}">
                <a16:creationId xmlns:a16="http://schemas.microsoft.com/office/drawing/2014/main" id="{CF9FE6C0-1319-46F6-A00D-CD13AD61A02B}"/>
              </a:ext>
            </a:extLst>
          </p:cNvPr>
          <p:cNvSpPr/>
          <p:nvPr/>
        </p:nvSpPr>
        <p:spPr>
          <a:xfrm>
            <a:off x="10754215" y="5034318"/>
            <a:ext cx="2577571" cy="0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16">
            <a:extLst>
              <a:ext uri="{FF2B5EF4-FFF2-40B4-BE49-F238E27FC236}">
                <a16:creationId xmlns:a16="http://schemas.microsoft.com/office/drawing/2014/main" id="{58256DDE-38F1-4E06-9F9F-3D5C798786A1}"/>
              </a:ext>
            </a:extLst>
          </p:cNvPr>
          <p:cNvSpPr/>
          <p:nvPr/>
        </p:nvSpPr>
        <p:spPr>
          <a:xfrm>
            <a:off x="2170069" y="6667500"/>
            <a:ext cx="2577571" cy="0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0CA9AA2D-C050-4226-BF9C-096D5BB4D00D}"/>
              </a:ext>
            </a:extLst>
          </p:cNvPr>
          <p:cNvSpPr txBox="1"/>
          <p:nvPr/>
        </p:nvSpPr>
        <p:spPr>
          <a:xfrm>
            <a:off x="2170069" y="4735075"/>
            <a:ext cx="2808995" cy="40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Presented By</a:t>
            </a: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6FA11AF4-3DA6-41B6-8224-E57FD3CB5EF6}"/>
              </a:ext>
            </a:extLst>
          </p:cNvPr>
          <p:cNvSpPr txBox="1"/>
          <p:nvPr/>
        </p:nvSpPr>
        <p:spPr>
          <a:xfrm>
            <a:off x="10754215" y="4606114"/>
            <a:ext cx="2808995" cy="40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Presented To</a:t>
            </a: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A5FE2D2C-F77B-4B3E-8D8A-800A6814EC90}"/>
              </a:ext>
            </a:extLst>
          </p:cNvPr>
          <p:cNvSpPr txBox="1"/>
          <p:nvPr/>
        </p:nvSpPr>
        <p:spPr>
          <a:xfrm>
            <a:off x="2170068" y="6937908"/>
            <a:ext cx="2808995" cy="40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2</a:t>
            </a:r>
            <a:r>
              <a:rPr lang="en-US" sz="3600" baseline="300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nd</a:t>
            </a:r>
            <a:r>
              <a:rPr lang="en-US" sz="3600" dirty="0">
                <a:solidFill>
                  <a:srgbClr val="FFFFFF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 Semester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7AADD-2BAD-42D8-AA3E-2701343E2266}"/>
              </a:ext>
            </a:extLst>
          </p:cNvPr>
          <p:cNvSpPr txBox="1"/>
          <p:nvPr/>
        </p:nvSpPr>
        <p:spPr>
          <a:xfrm>
            <a:off x="2170068" y="7345712"/>
            <a:ext cx="641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Dept. of CSE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E0B4B-90EE-46BD-80D7-47B87FDC92C7}"/>
              </a:ext>
            </a:extLst>
          </p:cNvPr>
          <p:cNvSpPr txBox="1"/>
          <p:nvPr/>
        </p:nvSpPr>
        <p:spPr>
          <a:xfrm>
            <a:off x="10754215" y="5160818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Sanjoy Kumar Chakravarty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89856-D7A8-4924-BF79-1CAC0CE9B706}"/>
              </a:ext>
            </a:extLst>
          </p:cNvPr>
          <p:cNvSpPr txBox="1"/>
          <p:nvPr/>
        </p:nvSpPr>
        <p:spPr>
          <a:xfrm>
            <a:off x="10722715" y="5959578"/>
            <a:ext cx="5178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Associate Professor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09A822-3368-449F-9FB1-1E497FE990CB}"/>
              </a:ext>
            </a:extLst>
          </p:cNvPr>
          <p:cNvSpPr txBox="1"/>
          <p:nvPr/>
        </p:nvSpPr>
        <p:spPr>
          <a:xfrm>
            <a:off x="10754215" y="6752769"/>
            <a:ext cx="641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6" grpId="0" animBg="1"/>
      <p:bldP spid="30" grpId="0"/>
      <p:bldP spid="31" grpId="0"/>
      <p:bldP spid="32" grpId="0"/>
      <p:bldP spid="11" grpId="0"/>
      <p:bldP spid="12" grpId="0"/>
      <p:bldP spid="14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91178" y="1028700"/>
            <a:ext cx="6268122" cy="8229600"/>
            <a:chOff x="0" y="0"/>
            <a:chExt cx="5517355" cy="724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17355" cy="7243896"/>
            </a:xfrm>
            <a:custGeom>
              <a:avLst/>
              <a:gdLst/>
              <a:ahLst/>
              <a:cxnLst/>
              <a:rect l="l" t="t" r="r" b="b"/>
              <a:pathLst>
                <a:path w="5517355" h="7243896">
                  <a:moveTo>
                    <a:pt x="535733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083876"/>
                  </a:lnTo>
                  <a:lnTo>
                    <a:pt x="160020" y="7243896"/>
                  </a:lnTo>
                  <a:lnTo>
                    <a:pt x="5357335" y="7243896"/>
                  </a:lnTo>
                  <a:lnTo>
                    <a:pt x="5517355" y="7083876"/>
                  </a:lnTo>
                  <a:lnTo>
                    <a:pt x="5517355" y="160020"/>
                  </a:lnTo>
                  <a:lnTo>
                    <a:pt x="5357335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25400"/>
              <a:ext cx="5390355" cy="7154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1178" y="1028700"/>
            <a:ext cx="6268122" cy="7993961"/>
            <a:chOff x="0" y="0"/>
            <a:chExt cx="5517355" cy="70364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7355" cy="7036481"/>
            </a:xfrm>
            <a:custGeom>
              <a:avLst/>
              <a:gdLst/>
              <a:ahLst/>
              <a:cxnLst/>
              <a:rect l="l" t="t" r="r" b="b"/>
              <a:pathLst>
                <a:path w="5517355" h="7036481">
                  <a:moveTo>
                    <a:pt x="535733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876461"/>
                  </a:lnTo>
                  <a:lnTo>
                    <a:pt x="160020" y="7036481"/>
                  </a:lnTo>
                  <a:lnTo>
                    <a:pt x="5357335" y="7036481"/>
                  </a:lnTo>
                  <a:lnTo>
                    <a:pt x="5517355" y="6876461"/>
                  </a:lnTo>
                  <a:lnTo>
                    <a:pt x="5517355" y="160020"/>
                  </a:lnTo>
                  <a:lnTo>
                    <a:pt x="5357335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5390355" cy="6947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35890" y="1028700"/>
            <a:ext cx="1578698" cy="124472"/>
            <a:chOff x="0" y="0"/>
            <a:chExt cx="7731668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2705" y="3069844"/>
            <a:ext cx="996247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200" dirty="0">
                <a:solidFill>
                  <a:schemeClr val="bg1"/>
                </a:solidFill>
              </a:rPr>
              <a:t>Logic is the foundation of mathematics and computer science</a:t>
            </a:r>
            <a:endParaRPr lang="en-US" sz="32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55" name="AutoShape 10">
            <a:extLst>
              <a:ext uri="{FF2B5EF4-FFF2-40B4-BE49-F238E27FC236}">
                <a16:creationId xmlns:a16="http://schemas.microsoft.com/office/drawing/2014/main" id="{10A160AD-A5B3-4810-8380-0C6B109F06B3}"/>
              </a:ext>
            </a:extLst>
          </p:cNvPr>
          <p:cNvSpPr/>
          <p:nvPr/>
        </p:nvSpPr>
        <p:spPr>
          <a:xfrm>
            <a:off x="948839" y="4678165"/>
            <a:ext cx="8502280" cy="0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15">
            <a:extLst>
              <a:ext uri="{FF2B5EF4-FFF2-40B4-BE49-F238E27FC236}">
                <a16:creationId xmlns:a16="http://schemas.microsoft.com/office/drawing/2014/main" id="{690E7C61-CEB3-441B-9E25-96855034A314}"/>
              </a:ext>
            </a:extLst>
          </p:cNvPr>
          <p:cNvSpPr/>
          <p:nvPr/>
        </p:nvSpPr>
        <p:spPr>
          <a:xfrm>
            <a:off x="948839" y="6887965"/>
            <a:ext cx="8502280" cy="0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B698E4A8-C237-439A-9CAF-17C9CC78448D}"/>
              </a:ext>
            </a:extLst>
          </p:cNvPr>
          <p:cNvSpPr txBox="1"/>
          <p:nvPr/>
        </p:nvSpPr>
        <p:spPr>
          <a:xfrm>
            <a:off x="942705" y="5627717"/>
            <a:ext cx="8508414" cy="109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en-US" sz="2800" b="0" i="0" dirty="0">
                <a:solidFill>
                  <a:schemeClr val="bg1"/>
                </a:solidFill>
                <a:effectLst/>
                <a:latin typeface="Kalpurush" panose="02000600000000000000" pitchFamily="2" charset="0"/>
                <a:cs typeface="Kalpurush" panose="02000600000000000000" pitchFamily="2" charset="0"/>
              </a:rPr>
              <a:t> Predicate is </a:t>
            </a:r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a sentence containing one or more variables that becomes a true or false statement when specific values are substituted for those variables</a:t>
            </a:r>
            <a:endParaRPr lang="en-US" sz="28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D7ADA209-8B76-4012-A085-10A22F9FDF75}"/>
              </a:ext>
            </a:extLst>
          </p:cNvPr>
          <p:cNvSpPr txBox="1"/>
          <p:nvPr/>
        </p:nvSpPr>
        <p:spPr>
          <a:xfrm>
            <a:off x="1100046" y="7304831"/>
            <a:ext cx="850228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what is quantifier?</a:t>
            </a:r>
          </a:p>
        </p:txBody>
      </p:sp>
      <p:sp>
        <p:nvSpPr>
          <p:cNvPr id="62" name="TextBox 22">
            <a:extLst>
              <a:ext uri="{FF2B5EF4-FFF2-40B4-BE49-F238E27FC236}">
                <a16:creationId xmlns:a16="http://schemas.microsoft.com/office/drawing/2014/main" id="{B8637A59-ACB1-4F96-90E1-C603D6C8460F}"/>
              </a:ext>
            </a:extLst>
          </p:cNvPr>
          <p:cNvSpPr txBox="1"/>
          <p:nvPr/>
        </p:nvSpPr>
        <p:spPr>
          <a:xfrm>
            <a:off x="942705" y="7995495"/>
            <a:ext cx="850228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Q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Kalpurush" panose="02000600000000000000" pitchFamily="2" charset="0"/>
                <a:cs typeface="Kalpurush" panose="02000600000000000000" pitchFamily="2" charset="0"/>
              </a:rPr>
              <a:t>uantifier </a:t>
            </a:r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specifies the quantity or extent to which a predicate (a statement with a variable) is true for a given set of elements</a:t>
            </a:r>
            <a:endParaRPr lang="en-US" sz="28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308A2886-3EB9-4EE1-9F40-34BB03E4775B}"/>
              </a:ext>
            </a:extLst>
          </p:cNvPr>
          <p:cNvSpPr txBox="1"/>
          <p:nvPr/>
        </p:nvSpPr>
        <p:spPr>
          <a:xfrm>
            <a:off x="948839" y="5091982"/>
            <a:ext cx="850841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What is </a:t>
            </a:r>
            <a:r>
              <a:rPr lang="en-US" sz="40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Predicate</a:t>
            </a:r>
            <a:r>
              <a:rPr lang="en-US" sz="4000" dirty="0">
                <a:solidFill>
                  <a:schemeClr val="bg1"/>
                </a:solidFill>
                <a:latin typeface="Kalpurush" panose="02000600000000000000" pitchFamily="2" charset="0"/>
                <a:ea typeface="Pattanakarn Expanded"/>
                <a:cs typeface="Kalpurush" panose="02000600000000000000" pitchFamily="2" charset="0"/>
                <a:sym typeface="Pattanakarn Expanded"/>
              </a:rPr>
              <a:t>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5CCE2-C6E6-4023-ACAD-B810C523B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250" y="5933579"/>
            <a:ext cx="4239977" cy="2174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F40708-49A6-46BA-90B4-1B8D4FE98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884" y="2179420"/>
            <a:ext cx="3656710" cy="27657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3E1994-97EB-4AE7-98E4-419011B1BE31}"/>
              </a:ext>
            </a:extLst>
          </p:cNvPr>
          <p:cNvSpPr txBox="1"/>
          <p:nvPr/>
        </p:nvSpPr>
        <p:spPr>
          <a:xfrm>
            <a:off x="12153900" y="1433294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Quantifier: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349F8-40E0-4F2D-8AD2-5D4FD349E61E}"/>
              </a:ext>
            </a:extLst>
          </p:cNvPr>
          <p:cNvSpPr txBox="1"/>
          <p:nvPr/>
        </p:nvSpPr>
        <p:spPr>
          <a:xfrm>
            <a:off x="12040197" y="5182866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Predicate: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1CB27-9242-41C6-9EDA-ECDE8DF9D668}"/>
              </a:ext>
            </a:extLst>
          </p:cNvPr>
          <p:cNvSpPr txBox="1"/>
          <p:nvPr/>
        </p:nvSpPr>
        <p:spPr>
          <a:xfrm>
            <a:off x="942705" y="1433294"/>
            <a:ext cx="5229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Introduction: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35743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743200" y="2448838"/>
            <a:ext cx="13296248" cy="3591493"/>
            <a:chOff x="0" y="0"/>
            <a:chExt cx="5347182" cy="12144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47182" cy="1214403"/>
            </a:xfrm>
            <a:custGeom>
              <a:avLst/>
              <a:gdLst/>
              <a:ahLst/>
              <a:cxnLst/>
              <a:rect l="l" t="t" r="r" b="b"/>
              <a:pathLst>
                <a:path w="5347182" h="1214403">
                  <a:moveTo>
                    <a:pt x="518716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54383"/>
                  </a:lnTo>
                  <a:lnTo>
                    <a:pt x="160020" y="1214403"/>
                  </a:lnTo>
                  <a:lnTo>
                    <a:pt x="5187162" y="1214403"/>
                  </a:lnTo>
                  <a:lnTo>
                    <a:pt x="5347182" y="1054383"/>
                  </a:lnTo>
                  <a:lnTo>
                    <a:pt x="5347182" y="160020"/>
                  </a:lnTo>
                  <a:lnTo>
                    <a:pt x="5187162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00" y="25400"/>
              <a:ext cx="5220182" cy="112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43200" y="2261292"/>
            <a:ext cx="13296248" cy="3617946"/>
            <a:chOff x="0" y="0"/>
            <a:chExt cx="5347182" cy="122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47182" cy="1223348"/>
            </a:xfrm>
            <a:custGeom>
              <a:avLst/>
              <a:gdLst/>
              <a:ahLst/>
              <a:cxnLst/>
              <a:rect l="l" t="t" r="r" b="b"/>
              <a:pathLst>
                <a:path w="5347182" h="1223348">
                  <a:moveTo>
                    <a:pt x="518716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63328"/>
                  </a:lnTo>
                  <a:lnTo>
                    <a:pt x="160020" y="1223348"/>
                  </a:lnTo>
                  <a:lnTo>
                    <a:pt x="5187162" y="1223348"/>
                  </a:lnTo>
                  <a:lnTo>
                    <a:pt x="5347182" y="1063328"/>
                  </a:lnTo>
                  <a:lnTo>
                    <a:pt x="5347182" y="160020"/>
                  </a:lnTo>
                  <a:lnTo>
                    <a:pt x="5187162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5220182" cy="1134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5301959" y="1999684"/>
            <a:ext cx="3842041" cy="9525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62129" y="885736"/>
            <a:ext cx="9289484" cy="109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4"/>
              </a:lnSpc>
              <a:spcBef>
                <a:spcPct val="0"/>
              </a:spcBef>
            </a:pPr>
            <a:r>
              <a:rPr lang="en-US" sz="80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Predicate:</a:t>
            </a:r>
            <a:endParaRPr lang="en-US" sz="753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505047" y="2261292"/>
            <a:ext cx="3024119" cy="283582"/>
            <a:chOff x="0" y="0"/>
            <a:chExt cx="7731668" cy="6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93637" y="3138354"/>
            <a:ext cx="109953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</a:rPr>
              <a:t>A </a:t>
            </a:r>
            <a:r>
              <a:rPr lang="en-US" sz="4000" b="1" dirty="0">
                <a:solidFill>
                  <a:schemeClr val="bg1"/>
                </a:solidFill>
              </a:rPr>
              <a:t>predicate</a:t>
            </a:r>
            <a:r>
              <a:rPr lang="en-US" sz="4000" dirty="0">
                <a:solidFill>
                  <a:schemeClr val="bg1"/>
                </a:solidFill>
              </a:rPr>
              <a:t> is a statement involving variables.</a:t>
            </a:r>
            <a:endParaRPr lang="en-US" sz="40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2743200" y="6531771"/>
            <a:ext cx="13296248" cy="3346626"/>
            <a:chOff x="0" y="0"/>
            <a:chExt cx="5347182" cy="12144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47182" cy="1214403"/>
            </a:xfrm>
            <a:custGeom>
              <a:avLst/>
              <a:gdLst/>
              <a:ahLst/>
              <a:cxnLst/>
              <a:rect l="l" t="t" r="r" b="b"/>
              <a:pathLst>
                <a:path w="5347182" h="1214403">
                  <a:moveTo>
                    <a:pt x="518716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54383"/>
                  </a:lnTo>
                  <a:lnTo>
                    <a:pt x="160020" y="1214403"/>
                  </a:lnTo>
                  <a:lnTo>
                    <a:pt x="5187162" y="1214403"/>
                  </a:lnTo>
                  <a:lnTo>
                    <a:pt x="5347182" y="1054383"/>
                  </a:lnTo>
                  <a:lnTo>
                    <a:pt x="5347182" y="160020"/>
                  </a:lnTo>
                  <a:lnTo>
                    <a:pt x="5187162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00" y="25400"/>
              <a:ext cx="5220182" cy="112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43200" y="6344224"/>
            <a:ext cx="13296248" cy="3371275"/>
            <a:chOff x="0" y="0"/>
            <a:chExt cx="5347182" cy="12233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47182" cy="1223348"/>
            </a:xfrm>
            <a:custGeom>
              <a:avLst/>
              <a:gdLst/>
              <a:ahLst/>
              <a:cxnLst/>
              <a:rect l="l" t="t" r="r" b="b"/>
              <a:pathLst>
                <a:path w="5347182" h="1223348">
                  <a:moveTo>
                    <a:pt x="518716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63328"/>
                  </a:lnTo>
                  <a:lnTo>
                    <a:pt x="160020" y="1223348"/>
                  </a:lnTo>
                  <a:lnTo>
                    <a:pt x="5187162" y="1223348"/>
                  </a:lnTo>
                  <a:lnTo>
                    <a:pt x="5347182" y="1063328"/>
                  </a:lnTo>
                  <a:lnTo>
                    <a:pt x="5347182" y="160020"/>
                  </a:lnTo>
                  <a:lnTo>
                    <a:pt x="5187162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00" y="25400"/>
              <a:ext cx="5220182" cy="1134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05047" y="6344225"/>
            <a:ext cx="3024119" cy="264248"/>
            <a:chOff x="0" y="0"/>
            <a:chExt cx="7731668" cy="609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893636" y="3988473"/>
            <a:ext cx="109953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</a:rPr>
              <a:t>It becomes </a:t>
            </a:r>
            <a:r>
              <a:rPr lang="en-US" sz="4000" b="1" dirty="0">
                <a:solidFill>
                  <a:schemeClr val="bg1"/>
                </a:solidFill>
              </a:rPr>
              <a:t>true</a:t>
            </a:r>
            <a:r>
              <a:rPr lang="en-US" sz="4000" dirty="0">
                <a:solidFill>
                  <a:schemeClr val="bg1"/>
                </a:solidFill>
              </a:rPr>
              <a:t> or </a:t>
            </a:r>
            <a:r>
              <a:rPr lang="en-US" sz="4000" b="1" dirty="0">
                <a:solidFill>
                  <a:schemeClr val="bg1"/>
                </a:solidFill>
              </a:rPr>
              <a:t>false</a:t>
            </a:r>
            <a:r>
              <a:rPr lang="en-US" sz="4000" dirty="0">
                <a:solidFill>
                  <a:schemeClr val="bg1"/>
                </a:solidFill>
              </a:rPr>
              <a:t> when the variable is replaced with a specific value.</a:t>
            </a:r>
            <a:endParaRPr lang="en-US" sz="40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55" name="TextBox 18">
            <a:extLst>
              <a:ext uri="{FF2B5EF4-FFF2-40B4-BE49-F238E27FC236}">
                <a16:creationId xmlns:a16="http://schemas.microsoft.com/office/drawing/2014/main" id="{DA35D9DB-1BC6-47E9-9B02-D4C9761A0A8D}"/>
              </a:ext>
            </a:extLst>
          </p:cNvPr>
          <p:cNvSpPr txBox="1"/>
          <p:nvPr/>
        </p:nvSpPr>
        <p:spPr>
          <a:xfrm>
            <a:off x="3893636" y="7739271"/>
            <a:ext cx="1099537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P(x):x&gt;5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If x=7, then P(7) = True.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If x=3, then P(3) = False.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E6625-C284-4B80-8C22-D2F265EEFE47}"/>
              </a:ext>
            </a:extLst>
          </p:cNvPr>
          <p:cNvSpPr txBox="1"/>
          <p:nvPr/>
        </p:nvSpPr>
        <p:spPr>
          <a:xfrm>
            <a:off x="3893636" y="6796019"/>
            <a:ext cx="4793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Example: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14800" y="1028700"/>
            <a:ext cx="10363200" cy="3167530"/>
            <a:chOff x="0" y="0"/>
            <a:chExt cx="6367595" cy="2440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7595" cy="2440149"/>
            </a:xfrm>
            <a:custGeom>
              <a:avLst/>
              <a:gdLst/>
              <a:ahLst/>
              <a:cxnLst/>
              <a:rect l="l" t="t" r="r" b="b"/>
              <a:pathLst>
                <a:path w="6367595" h="2440149">
                  <a:moveTo>
                    <a:pt x="62075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80129"/>
                  </a:lnTo>
                  <a:lnTo>
                    <a:pt x="160020" y="2440149"/>
                  </a:lnTo>
                  <a:lnTo>
                    <a:pt x="6207575" y="2440149"/>
                  </a:lnTo>
                  <a:lnTo>
                    <a:pt x="6367595" y="2280129"/>
                  </a:lnTo>
                  <a:lnTo>
                    <a:pt x="6367595" y="160020"/>
                  </a:lnTo>
                  <a:lnTo>
                    <a:pt x="6207575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25400"/>
              <a:ext cx="6240595" cy="2351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14800" y="651857"/>
            <a:ext cx="10363200" cy="3190861"/>
            <a:chOff x="0" y="0"/>
            <a:chExt cx="6367595" cy="24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67595" cy="2458123"/>
            </a:xfrm>
            <a:custGeom>
              <a:avLst/>
              <a:gdLst/>
              <a:ahLst/>
              <a:cxnLst/>
              <a:rect l="l" t="t" r="r" b="b"/>
              <a:pathLst>
                <a:path w="6367595" h="2458123">
                  <a:moveTo>
                    <a:pt x="62075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98103"/>
                  </a:lnTo>
                  <a:lnTo>
                    <a:pt x="160020" y="2458123"/>
                  </a:lnTo>
                  <a:lnTo>
                    <a:pt x="6207575" y="2458123"/>
                  </a:lnTo>
                  <a:lnTo>
                    <a:pt x="6367595" y="2298103"/>
                  </a:lnTo>
                  <a:lnTo>
                    <a:pt x="6367595" y="160020"/>
                  </a:lnTo>
                  <a:lnTo>
                    <a:pt x="6207575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6240595" cy="2369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60463" y="1644558"/>
            <a:ext cx="8981698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80"/>
              </a:lnSpc>
              <a:spcBef>
                <a:spcPct val="0"/>
              </a:spcBef>
            </a:pPr>
            <a:r>
              <a:rPr lang="en-US" sz="72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Quantifiers</a:t>
            </a:r>
            <a:endParaRPr lang="en-US" sz="72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458301" y="645205"/>
            <a:ext cx="1979307" cy="124472"/>
            <a:chOff x="0" y="0"/>
            <a:chExt cx="7731668" cy="6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13">
            <a:extLst>
              <a:ext uri="{FF2B5EF4-FFF2-40B4-BE49-F238E27FC236}">
                <a16:creationId xmlns:a16="http://schemas.microsoft.com/office/drawing/2014/main" id="{583089CD-766F-4D5E-A766-347A4931A787}"/>
              </a:ext>
            </a:extLst>
          </p:cNvPr>
          <p:cNvSpPr/>
          <p:nvPr/>
        </p:nvSpPr>
        <p:spPr>
          <a:xfrm>
            <a:off x="3776010" y="4862874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2E05ED4C-A684-4833-9D6C-D6E07628A189}"/>
              </a:ext>
            </a:extLst>
          </p:cNvPr>
          <p:cNvSpPr/>
          <p:nvPr/>
        </p:nvSpPr>
        <p:spPr>
          <a:xfrm>
            <a:off x="9906692" y="7594605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9539AD6F-E564-4F48-BAD8-62E2EE375A24}"/>
              </a:ext>
            </a:extLst>
          </p:cNvPr>
          <p:cNvSpPr/>
          <p:nvPr/>
        </p:nvSpPr>
        <p:spPr>
          <a:xfrm>
            <a:off x="9899765" y="6363158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14E266-6BA2-458B-9D23-D995253BB94C}"/>
              </a:ext>
            </a:extLst>
          </p:cNvPr>
          <p:cNvSpPr txBox="1"/>
          <p:nvPr/>
        </p:nvSpPr>
        <p:spPr>
          <a:xfrm>
            <a:off x="4101952" y="4657138"/>
            <a:ext cx="946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Quantifiers specify the scope of a predicate.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0954DB-C30A-4A8A-BC36-1911739499B8}"/>
              </a:ext>
            </a:extLst>
          </p:cNvPr>
          <p:cNvSpPr txBox="1"/>
          <p:nvPr/>
        </p:nvSpPr>
        <p:spPr>
          <a:xfrm>
            <a:off x="6538653" y="5237093"/>
            <a:ext cx="4302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Two main types: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1790E6-3C31-4422-8625-30C076764AF3}"/>
              </a:ext>
            </a:extLst>
          </p:cNvPr>
          <p:cNvSpPr txBox="1"/>
          <p:nvPr/>
        </p:nvSpPr>
        <p:spPr>
          <a:xfrm>
            <a:off x="10141550" y="6184586"/>
            <a:ext cx="799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Universal Quantifier ( ∀ )</a:t>
            </a:r>
            <a:r>
              <a:rPr lang="en-US" sz="36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 → “For all”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6F6298-E850-4E67-9004-F92FD9C93168}"/>
              </a:ext>
            </a:extLst>
          </p:cNvPr>
          <p:cNvSpPr txBox="1"/>
          <p:nvPr/>
        </p:nvSpPr>
        <p:spPr>
          <a:xfrm>
            <a:off x="10141550" y="7397164"/>
            <a:ext cx="7613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Existential Quantifier ( ∃ )</a:t>
            </a:r>
            <a:r>
              <a:rPr lang="en-US" sz="36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 → “There exists”</a:t>
            </a:r>
          </a:p>
        </p:txBody>
      </p:sp>
      <p:sp>
        <p:nvSpPr>
          <p:cNvPr id="39" name="Freeform 13">
            <a:extLst>
              <a:ext uri="{FF2B5EF4-FFF2-40B4-BE49-F238E27FC236}">
                <a16:creationId xmlns:a16="http://schemas.microsoft.com/office/drawing/2014/main" id="{EBF1082F-EDC7-4E3C-9404-69DA4CF2665B}"/>
              </a:ext>
            </a:extLst>
          </p:cNvPr>
          <p:cNvSpPr/>
          <p:nvPr/>
        </p:nvSpPr>
        <p:spPr>
          <a:xfrm>
            <a:off x="6303795" y="5442829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2438400" y="2400300"/>
            <a:ext cx="9765889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9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</a:rPr>
              <a:t>Universal Quantifier ( ∀ )</a:t>
            </a:r>
            <a:endParaRPr lang="en-US" sz="6000" dirty="0">
              <a:solidFill>
                <a:schemeClr val="bg1"/>
              </a:solidFill>
              <a:latin typeface="Kalpurush" panose="02000600000000000000" pitchFamily="2" charset="0"/>
              <a:ea typeface="Pattanakarn Expanded"/>
              <a:cs typeface="Kalpurush" panose="02000600000000000000" pitchFamily="2" charset="0"/>
              <a:sym typeface="Pattanakarn Expanded"/>
            </a:endParaRPr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F86ED831-5233-428B-BBB7-AA29F9EF7338}"/>
              </a:ext>
            </a:extLst>
          </p:cNvPr>
          <p:cNvSpPr/>
          <p:nvPr/>
        </p:nvSpPr>
        <p:spPr>
          <a:xfrm>
            <a:off x="2590800" y="4541975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DB13057D-B052-46AF-A457-A16FDC6EAB87}"/>
              </a:ext>
            </a:extLst>
          </p:cNvPr>
          <p:cNvSpPr/>
          <p:nvPr/>
        </p:nvSpPr>
        <p:spPr>
          <a:xfrm>
            <a:off x="2590800" y="5567546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B6A4F2-6823-4CE1-B347-D8F350567D5E}"/>
              </a:ext>
            </a:extLst>
          </p:cNvPr>
          <p:cNvSpPr txBox="1"/>
          <p:nvPr/>
        </p:nvSpPr>
        <p:spPr>
          <a:xfrm>
            <a:off x="3048000" y="4317281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Symbol: 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D9016-E0F2-4CB0-9B67-29080734DB12}"/>
              </a:ext>
            </a:extLst>
          </p:cNvPr>
          <p:cNvSpPr txBox="1"/>
          <p:nvPr/>
        </p:nvSpPr>
        <p:spPr>
          <a:xfrm>
            <a:off x="3048000" y="5323388"/>
            <a:ext cx="111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Meaning: Statement is true for </a:t>
            </a:r>
            <a:r>
              <a:rPr lang="en-US" sz="3600" b="1" dirty="0">
                <a:solidFill>
                  <a:schemeClr val="bg1"/>
                </a:solidFill>
              </a:rPr>
              <a:t>every value</a:t>
            </a:r>
            <a:r>
              <a:rPr lang="en-US" sz="3600" dirty="0">
                <a:solidFill>
                  <a:schemeClr val="bg1"/>
                </a:solidFill>
              </a:rPr>
              <a:t> in the domain.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0657F2-3FF1-46FF-990E-63B565BB5D36}"/>
              </a:ext>
            </a:extLst>
          </p:cNvPr>
          <p:cNvSpPr txBox="1"/>
          <p:nvPr/>
        </p:nvSpPr>
        <p:spPr>
          <a:xfrm>
            <a:off x="3048000" y="6334776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Example:</a:t>
            </a: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E92A1AC3-5839-47C3-BA34-4E096EB27716}"/>
              </a:ext>
            </a:extLst>
          </p:cNvPr>
          <p:cNvSpPr/>
          <p:nvPr/>
        </p:nvSpPr>
        <p:spPr>
          <a:xfrm>
            <a:off x="2590800" y="7564752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4A7A6F-9E71-48C4-913C-FD8C2E6A25F8}"/>
              </a:ext>
            </a:extLst>
          </p:cNvPr>
          <p:cNvSpPr txBox="1"/>
          <p:nvPr/>
        </p:nvSpPr>
        <p:spPr>
          <a:xfrm>
            <a:off x="3048000" y="7564752"/>
            <a:ext cx="1242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∀x∈N,x+0=x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CF0B9-3A52-469C-87C7-A339D441C372}"/>
              </a:ext>
            </a:extLst>
          </p:cNvPr>
          <p:cNvSpPr txBox="1"/>
          <p:nvPr/>
        </p:nvSpPr>
        <p:spPr>
          <a:xfrm>
            <a:off x="2209800" y="1866900"/>
            <a:ext cx="922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Existential Quantifier ( ∃ 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16402F-4AD1-4864-9286-FA606E442645}"/>
              </a:ext>
            </a:extLst>
          </p:cNvPr>
          <p:cNvSpPr txBox="1"/>
          <p:nvPr/>
        </p:nvSpPr>
        <p:spPr>
          <a:xfrm>
            <a:off x="2743200" y="3771900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Symbol: ∃</a:t>
            </a:r>
          </a:p>
          <a:p>
            <a:r>
              <a:rPr lang="en-US" sz="3600" dirty="0">
                <a:solidFill>
                  <a:schemeClr val="bg1"/>
                </a:solidFill>
              </a:rPr>
              <a:t>Meaning: Statement is true for </a:t>
            </a:r>
            <a:r>
              <a:rPr lang="en-US" sz="3600" b="1" dirty="0">
                <a:solidFill>
                  <a:schemeClr val="bg1"/>
                </a:solidFill>
              </a:rPr>
              <a:t>at least one value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00AAE2-41A3-475C-BCEB-B4954A91C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Symbol: 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Statement is true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 value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4E4E410-909E-4C9A-A87B-7D663A98E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Symbol: 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Statement is true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 value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7631730A-D0B8-438E-9A43-E181DDC64D77}"/>
              </a:ext>
            </a:extLst>
          </p:cNvPr>
          <p:cNvSpPr/>
          <p:nvPr/>
        </p:nvSpPr>
        <p:spPr>
          <a:xfrm>
            <a:off x="2508342" y="4000500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BE7DB11A-0052-43E5-9E31-EC364C3B1E94}"/>
              </a:ext>
            </a:extLst>
          </p:cNvPr>
          <p:cNvSpPr/>
          <p:nvPr/>
        </p:nvSpPr>
        <p:spPr>
          <a:xfrm>
            <a:off x="2508342" y="4505730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EDA51D-1015-41A1-8C44-EB7B17C50663}"/>
                  </a:ext>
                </a:extLst>
              </p:cNvPr>
              <p:cNvSpPr txBox="1"/>
              <p:nvPr/>
            </p:nvSpPr>
            <p:spPr>
              <a:xfrm>
                <a:off x="2625771" y="5676900"/>
                <a:ext cx="1040442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</a:rPr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bg1"/>
                    </a:solidFill>
                  </a:rPr>
                  <a:t>∃</a:t>
                </a:r>
                <a:r>
                  <a:rPr lang="en-US" sz="3600" dirty="0" err="1">
                    <a:solidFill>
                      <a:schemeClr val="bg1"/>
                    </a:solidFill>
                  </a:rPr>
                  <a:t>x∈N,</a:t>
                </a:r>
                <a:r>
                  <a:rPr lang="en-US" sz="3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chemeClr val="bg1"/>
                    </a:solidFill>
                  </a:rPr>
                  <a:t>=9</a:t>
                </a:r>
              </a:p>
              <a:p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EDA51D-1015-41A1-8C44-EB7B17C50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1" y="5676900"/>
                <a:ext cx="10404429" cy="1754326"/>
              </a:xfrm>
              <a:prstGeom prst="rect">
                <a:avLst/>
              </a:prstGeom>
              <a:blipFill>
                <a:blip r:embed="rId4"/>
                <a:stretch>
                  <a:fillRect l="-1816" t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35743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03437" y="1006777"/>
            <a:ext cx="205029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7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0849" y="5259307"/>
            <a:ext cx="10390325" cy="4313727"/>
            <a:chOff x="0" y="0"/>
            <a:chExt cx="13210599" cy="48705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10598" cy="4870506"/>
            </a:xfrm>
            <a:custGeom>
              <a:avLst/>
              <a:gdLst/>
              <a:ahLst/>
              <a:cxnLst/>
              <a:rect l="l" t="t" r="r" b="b"/>
              <a:pathLst>
                <a:path w="13210598" h="4870506">
                  <a:moveTo>
                    <a:pt x="130505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710486"/>
                  </a:lnTo>
                  <a:lnTo>
                    <a:pt x="160020" y="4870506"/>
                  </a:lnTo>
                  <a:lnTo>
                    <a:pt x="13050579" y="4870506"/>
                  </a:lnTo>
                  <a:lnTo>
                    <a:pt x="13210598" y="4710486"/>
                  </a:lnTo>
                  <a:lnTo>
                    <a:pt x="13210598" y="160020"/>
                  </a:lnTo>
                  <a:lnTo>
                    <a:pt x="13050579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00" y="25400"/>
              <a:ext cx="13083599" cy="4781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0849" y="4881373"/>
            <a:ext cx="10390325" cy="4345501"/>
            <a:chOff x="0" y="0"/>
            <a:chExt cx="13210599" cy="49063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10598" cy="4906381"/>
            </a:xfrm>
            <a:custGeom>
              <a:avLst/>
              <a:gdLst/>
              <a:ahLst/>
              <a:cxnLst/>
              <a:rect l="l" t="t" r="r" b="b"/>
              <a:pathLst>
                <a:path w="13210598" h="4906381">
                  <a:moveTo>
                    <a:pt x="130505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746361"/>
                  </a:lnTo>
                  <a:lnTo>
                    <a:pt x="160020" y="4906381"/>
                  </a:lnTo>
                  <a:lnTo>
                    <a:pt x="13050579" y="4906381"/>
                  </a:lnTo>
                  <a:lnTo>
                    <a:pt x="13210598" y="4746361"/>
                  </a:lnTo>
                  <a:lnTo>
                    <a:pt x="13210598" y="160020"/>
                  </a:lnTo>
                  <a:lnTo>
                    <a:pt x="13050579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13083599" cy="481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08314" y="5924473"/>
            <a:ext cx="9312086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Quantifiers: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Universal</a:t>
            </a:r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: ∀x, P(x) → “Every person is a student in this class.”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Existential</a:t>
            </a:r>
            <a:r>
              <a:rPr lang="en-US" sz="2800" dirty="0">
                <a:solidFill>
                  <a:schemeClr val="bg1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: ∃x, P(x) → “There is at least one student in this class.”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5017901" y="4455263"/>
            <a:ext cx="4423614" cy="4762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017901" y="1533823"/>
            <a:ext cx="8850352" cy="1642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2"/>
              </a:lnSpc>
              <a:spcBef>
                <a:spcPct val="0"/>
              </a:spcBef>
            </a:pPr>
            <a:r>
              <a:rPr lang="en-US" sz="9600" dirty="0">
                <a:solidFill>
                  <a:schemeClr val="bg1"/>
                </a:solidFill>
              </a:rPr>
              <a:t>Example </a:t>
            </a:r>
            <a:r>
              <a:rPr lang="en-US" sz="2800" dirty="0">
                <a:solidFill>
                  <a:schemeClr val="bg1"/>
                </a:solidFill>
              </a:rPr>
              <a:t>in</a:t>
            </a:r>
            <a:endParaRPr lang="en-US" sz="2800" dirty="0">
              <a:solidFill>
                <a:schemeClr val="bg1"/>
              </a:solidFill>
              <a:latin typeface="Pattanakarn Expanded"/>
              <a:ea typeface="Pattanakarn Expanded"/>
              <a:cs typeface="Pattanakarn Expanded"/>
              <a:sym typeface="Pattanakarn Expande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08314" y="5431299"/>
            <a:ext cx="8931091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Predicate: P(x): “x is a student in this class.”</a:t>
            </a:r>
            <a:endParaRPr lang="en-US" sz="2800" dirty="0">
              <a:solidFill>
                <a:schemeClr val="bg1"/>
              </a:solidFill>
              <a:latin typeface="Pattanakarn Expanded"/>
              <a:ea typeface="Pattanakarn Expanded"/>
              <a:cs typeface="Pattanakarn Expanded"/>
              <a:sym typeface="Pattanakarn Expande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76941" y="3144231"/>
            <a:ext cx="6342084" cy="1023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6"/>
              </a:lnSpc>
              <a:spcBef>
                <a:spcPct val="0"/>
              </a:spcBef>
            </a:pPr>
            <a:r>
              <a:rPr lang="en-US" sz="9600" dirty="0">
                <a:solidFill>
                  <a:srgbClr val="5CE1E6"/>
                </a:solidFill>
              </a:rPr>
              <a:t>Real-Life</a:t>
            </a:r>
            <a:endParaRPr lang="en-US" sz="9600" dirty="0">
              <a:solidFill>
                <a:srgbClr val="5CE1E6"/>
              </a:solidFill>
              <a:latin typeface="Pattanakarn Expanded"/>
              <a:ea typeface="Pattanakarn Expanded"/>
              <a:cs typeface="Pattanakarn Expanded"/>
              <a:sym typeface="Pattanakarn Expande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4426792" y="4970386"/>
            <a:ext cx="1949786" cy="173114"/>
            <a:chOff x="0" y="0"/>
            <a:chExt cx="7731668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5066525" y="1023938"/>
            <a:ext cx="7239624" cy="4762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28700" y="3873577"/>
            <a:ext cx="581686" cy="581686"/>
          </a:xfrm>
          <a:custGeom>
            <a:avLst/>
            <a:gdLst/>
            <a:ahLst/>
            <a:cxnLst/>
            <a:rect l="l" t="t" r="r" b="b"/>
            <a:pathLst>
              <a:path w="581686" h="581686">
                <a:moveTo>
                  <a:pt x="0" y="0"/>
                </a:moveTo>
                <a:lnTo>
                  <a:pt x="581686" y="0"/>
                </a:lnTo>
                <a:lnTo>
                  <a:pt x="581686" y="581686"/>
                </a:lnTo>
                <a:lnTo>
                  <a:pt x="0" y="581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508314" y="8633120"/>
            <a:ext cx="2432964" cy="6623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42A86E4-1AFF-4F36-A6E1-9B9E5B85B2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218" y="4903869"/>
            <a:ext cx="6274982" cy="42667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7D74291-BA80-4BEF-9421-D81F2E6D330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7949" y="1533823"/>
            <a:ext cx="2876859" cy="1917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split orient="vert"/>
      </p:transition>
    </mc:Choice>
    <mc:Fallback xmlns="">
      <p:transition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081575"/>
            <a:ext cx="7962618" cy="2597508"/>
            <a:chOff x="0" y="0"/>
            <a:chExt cx="6134110" cy="2001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34110" cy="2001025"/>
            </a:xfrm>
            <a:custGeom>
              <a:avLst/>
              <a:gdLst/>
              <a:ahLst/>
              <a:cxnLst/>
              <a:rect l="l" t="t" r="r" b="b"/>
              <a:pathLst>
                <a:path w="6134110" h="2001025">
                  <a:moveTo>
                    <a:pt x="59740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005"/>
                  </a:lnTo>
                  <a:lnTo>
                    <a:pt x="160020" y="2001025"/>
                  </a:lnTo>
                  <a:lnTo>
                    <a:pt x="5974090" y="2001025"/>
                  </a:lnTo>
                  <a:lnTo>
                    <a:pt x="6134110" y="1841005"/>
                  </a:lnTo>
                  <a:lnTo>
                    <a:pt x="6134110" y="160020"/>
                  </a:lnTo>
                  <a:lnTo>
                    <a:pt x="5974090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25400"/>
              <a:ext cx="6007110" cy="1912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2956971"/>
            <a:ext cx="7962618" cy="2307613"/>
            <a:chOff x="0" y="0"/>
            <a:chExt cx="6134110" cy="17777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34110" cy="1777701"/>
            </a:xfrm>
            <a:custGeom>
              <a:avLst/>
              <a:gdLst/>
              <a:ahLst/>
              <a:cxnLst/>
              <a:rect l="l" t="t" r="r" b="b"/>
              <a:pathLst>
                <a:path w="6134110" h="1777701">
                  <a:moveTo>
                    <a:pt x="59740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17681"/>
                  </a:lnTo>
                  <a:lnTo>
                    <a:pt x="160020" y="1777701"/>
                  </a:lnTo>
                  <a:lnTo>
                    <a:pt x="5974090" y="1777701"/>
                  </a:lnTo>
                  <a:lnTo>
                    <a:pt x="6134110" y="1617681"/>
                  </a:lnTo>
                  <a:lnTo>
                    <a:pt x="6134110" y="160020"/>
                  </a:lnTo>
                  <a:lnTo>
                    <a:pt x="5974090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6007110" cy="1688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1183878" y="6643262"/>
            <a:ext cx="6600825" cy="5768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609907" y="6975332"/>
            <a:ext cx="6790371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chemeClr val="bg1"/>
                </a:solidFill>
              </a:rPr>
              <a:t>Together, they form the basis of </a:t>
            </a:r>
            <a:r>
              <a:rPr lang="en-US" sz="3200" b="1" dirty="0">
                <a:solidFill>
                  <a:schemeClr val="bg1"/>
                </a:solidFill>
              </a:rPr>
              <a:t>mathematical reasoning and logic.</a:t>
            </a:r>
            <a:endParaRPr lang="en-US" sz="3200" dirty="0">
              <a:solidFill>
                <a:schemeClr val="bg1"/>
              </a:solidFill>
              <a:latin typeface="Pattanakarn Expanded"/>
              <a:ea typeface="Pattanakarn Expanded"/>
              <a:cs typeface="Pattanakarn Expanded"/>
              <a:sym typeface="Pattanakarn Expande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0" y="1921759"/>
            <a:ext cx="811530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Turning Information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39763" y="1029090"/>
            <a:ext cx="1578698" cy="124472"/>
            <a:chOff x="0" y="0"/>
            <a:chExt cx="7731668" cy="6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641578" y="3225630"/>
            <a:ext cx="7533614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400" b="1" dirty="0">
                <a:solidFill>
                  <a:schemeClr val="bg1"/>
                </a:solidFill>
              </a:rPr>
              <a:t>Predicate</a:t>
            </a:r>
            <a:r>
              <a:rPr lang="en-US" sz="4400" dirty="0">
                <a:solidFill>
                  <a:schemeClr val="bg1"/>
                </a:solidFill>
              </a:rPr>
              <a:t> → </a:t>
            </a:r>
          </a:p>
          <a:p>
            <a:pPr algn="l"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</a:rPr>
              <a:t>Logical statement with variables.</a:t>
            </a:r>
            <a:endParaRPr lang="en-US" sz="4400" dirty="0">
              <a:solidFill>
                <a:schemeClr val="bg1"/>
              </a:solidFill>
              <a:latin typeface="Pattanakarn Expanded"/>
              <a:ea typeface="Pattanakarn Expanded"/>
              <a:cs typeface="Pattanakarn Expanded"/>
              <a:sym typeface="Pattanakarn Expanded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144000" y="1028700"/>
            <a:ext cx="581686" cy="581686"/>
          </a:xfrm>
          <a:custGeom>
            <a:avLst/>
            <a:gdLst/>
            <a:ahLst/>
            <a:cxnLst/>
            <a:rect l="l" t="t" r="r" b="b"/>
            <a:pathLst>
              <a:path w="581686" h="581686">
                <a:moveTo>
                  <a:pt x="0" y="0"/>
                </a:moveTo>
                <a:lnTo>
                  <a:pt x="581686" y="0"/>
                </a:lnTo>
                <a:lnTo>
                  <a:pt x="581686" y="581686"/>
                </a:lnTo>
                <a:lnTo>
                  <a:pt x="0" y="581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667859" y="5980956"/>
            <a:ext cx="7962618" cy="2597508"/>
            <a:chOff x="0" y="0"/>
            <a:chExt cx="6134110" cy="2001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34110" cy="2001025"/>
            </a:xfrm>
            <a:custGeom>
              <a:avLst/>
              <a:gdLst/>
              <a:ahLst/>
              <a:cxnLst/>
              <a:rect l="l" t="t" r="r" b="b"/>
              <a:pathLst>
                <a:path w="6134110" h="2001025">
                  <a:moveTo>
                    <a:pt x="59740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005"/>
                  </a:lnTo>
                  <a:lnTo>
                    <a:pt x="160020" y="2001025"/>
                  </a:lnTo>
                  <a:lnTo>
                    <a:pt x="5974090" y="2001025"/>
                  </a:lnTo>
                  <a:lnTo>
                    <a:pt x="6134110" y="1841005"/>
                  </a:lnTo>
                  <a:lnTo>
                    <a:pt x="6134110" y="160020"/>
                  </a:lnTo>
                  <a:lnTo>
                    <a:pt x="5974090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00" y="25400"/>
              <a:ext cx="6007110" cy="1912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67859" y="5980956"/>
            <a:ext cx="7962618" cy="2307613"/>
            <a:chOff x="0" y="0"/>
            <a:chExt cx="6134110" cy="177770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34110" cy="1777701"/>
            </a:xfrm>
            <a:custGeom>
              <a:avLst/>
              <a:gdLst/>
              <a:ahLst/>
              <a:cxnLst/>
              <a:rect l="l" t="t" r="r" b="b"/>
              <a:pathLst>
                <a:path w="6134110" h="1777701">
                  <a:moveTo>
                    <a:pt x="59740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17681"/>
                  </a:lnTo>
                  <a:lnTo>
                    <a:pt x="160020" y="1777701"/>
                  </a:lnTo>
                  <a:lnTo>
                    <a:pt x="5974090" y="1777701"/>
                  </a:lnTo>
                  <a:lnTo>
                    <a:pt x="6134110" y="1617681"/>
                  </a:lnTo>
                  <a:lnTo>
                    <a:pt x="6134110" y="160020"/>
                  </a:lnTo>
                  <a:lnTo>
                    <a:pt x="5974090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00" y="25400"/>
              <a:ext cx="6007110" cy="1688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282907" y="6216029"/>
            <a:ext cx="7178806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Quantifiers</a:t>
            </a:r>
            <a:r>
              <a:rPr lang="en-US" sz="4400" dirty="0">
                <a:solidFill>
                  <a:schemeClr val="bg1"/>
                </a:solidFill>
              </a:rPr>
              <a:t> → Define scope: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∀ (all values)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∃ (some values)</a:t>
            </a:r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BFA4A190-FABE-475C-B3FC-24402BC178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738024"/>
              </p:ext>
            </p:extLst>
          </p:nvPr>
        </p:nvGraphicFramePr>
        <p:xfrm>
          <a:off x="2254431" y="1021310"/>
          <a:ext cx="512064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31" grpId="0"/>
      <p:bldGraphic spid="3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35743"/>
            <a:ext cx="234858" cy="234858"/>
          </a:xfrm>
          <a:custGeom>
            <a:avLst/>
            <a:gdLst/>
            <a:ahLst/>
            <a:cxnLst/>
            <a:rect l="l" t="t" r="r" b="b"/>
            <a:pathLst>
              <a:path w="234858" h="234858">
                <a:moveTo>
                  <a:pt x="0" y="0"/>
                </a:moveTo>
                <a:lnTo>
                  <a:pt x="234858" y="0"/>
                </a:lnTo>
                <a:lnTo>
                  <a:pt x="234858" y="234858"/>
                </a:lnTo>
                <a:lnTo>
                  <a:pt x="0" y="23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03437" y="1006777"/>
            <a:ext cx="205029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CSE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374729" y="2162903"/>
            <a:ext cx="8684671" cy="7118446"/>
            <a:chOff x="0" y="0"/>
            <a:chExt cx="7253398" cy="5665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53398" cy="5665727"/>
            </a:xfrm>
            <a:custGeom>
              <a:avLst/>
              <a:gdLst/>
              <a:ahLst/>
              <a:cxnLst/>
              <a:rect l="l" t="t" r="r" b="b"/>
              <a:pathLst>
                <a:path w="7253398" h="5665727">
                  <a:moveTo>
                    <a:pt x="709337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05708"/>
                  </a:lnTo>
                  <a:lnTo>
                    <a:pt x="160020" y="5665727"/>
                  </a:lnTo>
                  <a:lnTo>
                    <a:pt x="7093378" y="5665727"/>
                  </a:lnTo>
                  <a:lnTo>
                    <a:pt x="7253398" y="5505708"/>
                  </a:lnTo>
                  <a:lnTo>
                    <a:pt x="7253398" y="160020"/>
                  </a:lnTo>
                  <a:lnTo>
                    <a:pt x="7093378" y="0"/>
                  </a:lnTo>
                  <a:close/>
                </a:path>
              </a:pathLst>
            </a:custGeom>
            <a:solidFill>
              <a:srgbClr val="5CE1E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00" y="25400"/>
              <a:ext cx="7126398" cy="5576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74729" y="1287919"/>
            <a:ext cx="8684671" cy="7582022"/>
            <a:chOff x="0" y="0"/>
            <a:chExt cx="7253398" cy="60346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53398" cy="6034697"/>
            </a:xfrm>
            <a:custGeom>
              <a:avLst/>
              <a:gdLst/>
              <a:ahLst/>
              <a:cxnLst/>
              <a:rect l="l" t="t" r="r" b="b"/>
              <a:pathLst>
                <a:path w="7253398" h="6034697">
                  <a:moveTo>
                    <a:pt x="709337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874677"/>
                  </a:lnTo>
                  <a:lnTo>
                    <a:pt x="160020" y="6034697"/>
                  </a:lnTo>
                  <a:lnTo>
                    <a:pt x="7093378" y="6034697"/>
                  </a:lnTo>
                  <a:lnTo>
                    <a:pt x="7253398" y="5874677"/>
                  </a:lnTo>
                  <a:lnTo>
                    <a:pt x="7253398" y="160020"/>
                  </a:lnTo>
                  <a:lnTo>
                    <a:pt x="7093378" y="0"/>
                  </a:lnTo>
                  <a:close/>
                </a:path>
              </a:pathLst>
            </a:custGeom>
            <a:solidFill>
              <a:srgbClr val="161616"/>
            </a:solidFill>
            <a:ln w="9525" cap="sq">
              <a:solidFill>
                <a:srgbClr val="5CE1E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7126398" cy="5945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0638677" y="5165017"/>
            <a:ext cx="1559798" cy="3633"/>
          </a:xfrm>
          <a:prstGeom prst="line">
            <a:avLst/>
          </a:prstGeom>
          <a:ln w="9525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638676" y="3128074"/>
            <a:ext cx="6684215" cy="212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612"/>
              </a:lnSpc>
              <a:spcBef>
                <a:spcPct val="0"/>
              </a:spcBef>
            </a:pPr>
            <a:r>
              <a:rPr lang="en-US" sz="11866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THANK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38676" y="5094897"/>
            <a:ext cx="4789849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06"/>
              </a:lnSpc>
              <a:spcBef>
                <a:spcPct val="0"/>
              </a:spcBef>
            </a:pPr>
            <a:r>
              <a:rPr lang="en-US" sz="5933" dirty="0">
                <a:solidFill>
                  <a:srgbClr val="5CE1E6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YOU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465700" y="1287919"/>
            <a:ext cx="1719347" cy="142251"/>
            <a:chOff x="0" y="0"/>
            <a:chExt cx="7731668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31668" cy="609600"/>
            </a:xfrm>
            <a:custGeom>
              <a:avLst/>
              <a:gdLst/>
              <a:ahLst/>
              <a:cxnLst/>
              <a:rect l="l" t="t" r="r" b="b"/>
              <a:pathLst>
                <a:path w="7731668" h="609600">
                  <a:moveTo>
                    <a:pt x="203200" y="609600"/>
                  </a:moveTo>
                  <a:lnTo>
                    <a:pt x="7528468" y="609600"/>
                  </a:lnTo>
                  <a:lnTo>
                    <a:pt x="7731668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-38100"/>
              <a:ext cx="747766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0EEE354-32A1-4B1D-89A6-B43A734BD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74" y="1500350"/>
            <a:ext cx="7780999" cy="778099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67931EB-4D5A-448B-8C2B-C2739965B793}"/>
              </a:ext>
            </a:extLst>
          </p:cNvPr>
          <p:cNvSpPr txBox="1"/>
          <p:nvPr/>
        </p:nvSpPr>
        <p:spPr>
          <a:xfrm>
            <a:off x="11891068" y="5743104"/>
            <a:ext cx="421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EVERYONE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391</Words>
  <Application>Microsoft Office PowerPoint</Application>
  <PresentationFormat>Custom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 Math</vt:lpstr>
      <vt:lpstr>Kalpurush</vt:lpstr>
      <vt:lpstr>Pattanakarn Expanded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Cyan and Black Futuristic IT Services Presentation</dc:title>
  <cp:lastModifiedBy>Preetthee Hasan</cp:lastModifiedBy>
  <cp:revision>3</cp:revision>
  <dcterms:created xsi:type="dcterms:W3CDTF">2006-08-16T00:00:00Z</dcterms:created>
  <dcterms:modified xsi:type="dcterms:W3CDTF">2025-11-21T06:44:20Z</dcterms:modified>
  <dc:identifier>DAGyINQIYo8</dc:identifier>
</cp:coreProperties>
</file>