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6" r:id="rId4"/>
    <p:sldId id="267" r:id="rId5"/>
    <p:sldId id="264" r:id="rId6"/>
    <p:sldId id="261" r:id="rId7"/>
    <p:sldId id="262" r:id="rId8"/>
    <p:sldId id="263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r Rahman Sahid" userId="ab2c257f5486d2f9" providerId="LiveId" clId="{9F5E06BC-F83F-43DE-AB8F-C27477434096}"/>
    <pc:docChg chg="modSld sldOrd">
      <pc:chgData name="Abdur Rahman Sahid" userId="ab2c257f5486d2f9" providerId="LiveId" clId="{9F5E06BC-F83F-43DE-AB8F-C27477434096}" dt="2025-11-20T13:23:54.027" v="8" actId="729"/>
      <pc:docMkLst>
        <pc:docMk/>
      </pc:docMkLst>
      <pc:sldChg chg="mod ord modShow">
        <pc:chgData name="Abdur Rahman Sahid" userId="ab2c257f5486d2f9" providerId="LiveId" clId="{9F5E06BC-F83F-43DE-AB8F-C27477434096}" dt="2025-11-20T13:23:50.934" v="7" actId="729"/>
        <pc:sldMkLst>
          <pc:docMk/>
          <pc:sldMk cId="1435691162" sldId="261"/>
        </pc:sldMkLst>
      </pc:sldChg>
      <pc:sldChg chg="mod ord modShow">
        <pc:chgData name="Abdur Rahman Sahid" userId="ab2c257f5486d2f9" providerId="LiveId" clId="{9F5E06BC-F83F-43DE-AB8F-C27477434096}" dt="2025-11-20T13:23:48.134" v="6" actId="729"/>
        <pc:sldMkLst>
          <pc:docMk/>
          <pc:sldMk cId="2837899561" sldId="262"/>
        </pc:sldMkLst>
      </pc:sldChg>
      <pc:sldChg chg="mod ord modShow">
        <pc:chgData name="Abdur Rahman Sahid" userId="ab2c257f5486d2f9" providerId="LiveId" clId="{9F5E06BC-F83F-43DE-AB8F-C27477434096}" dt="2025-11-20T13:23:54.027" v="8" actId="729"/>
        <pc:sldMkLst>
          <pc:docMk/>
          <pc:sldMk cId="1224630776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348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782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3225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250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1642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857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735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865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609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631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42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999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4118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4675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3455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463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17C1D-B04A-426E-AFBB-E486ADAF565D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871D1AF-DC5A-4EAE-BAE8-3F183B7458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92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B012-92A9-E3A8-B4F0-C8B4FE15C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589810"/>
            <a:ext cx="8915399" cy="1591435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Proposition &amp; Types of Proposition</a:t>
            </a:r>
            <a:endParaRPr lang="en-ID" sz="5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E90EC-E0DF-766C-637C-8D29B12E8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312227"/>
            <a:ext cx="8915399" cy="1591435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Name : Abdur Rahman Sahid</a:t>
            </a:r>
          </a:p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 : 251311001</a:t>
            </a:r>
          </a:p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Section : A</a:t>
            </a:r>
            <a:endParaRPr lang="en-ID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72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006A-16CA-9F2D-AA15-6D76CB52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6708"/>
          </a:xfrm>
        </p:spPr>
        <p:txBody>
          <a:bodyPr/>
          <a:lstStyle/>
          <a:p>
            <a:r>
              <a:rPr lang="en-US" sz="4000" b="1" dirty="0"/>
              <a:t>Proposition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953F4-DCC8-A753-DCEA-48874AF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23554"/>
            <a:ext cx="8915400" cy="522305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/>
              <a:t> A </a:t>
            </a:r>
            <a:r>
              <a:rPr lang="en-US" sz="2200" b="1" dirty="0"/>
              <a:t>proposition</a:t>
            </a:r>
            <a:r>
              <a:rPr lang="en-US" sz="2200" dirty="0"/>
              <a:t> is a </a:t>
            </a:r>
            <a:r>
              <a:rPr lang="en-US" sz="2200" b="1" dirty="0"/>
              <a:t>declarative sentence </a:t>
            </a:r>
            <a:r>
              <a:rPr lang="en-US" sz="2200" dirty="0"/>
              <a:t>(a sentence that is declaring a fact or stating an arguments) which can be either </a:t>
            </a:r>
            <a:r>
              <a:rPr lang="en-US" sz="2200" b="1" dirty="0"/>
              <a:t>TRUE</a:t>
            </a:r>
            <a:r>
              <a:rPr lang="en-US" sz="2200" dirty="0"/>
              <a:t> or </a:t>
            </a:r>
            <a:r>
              <a:rPr lang="en-US" sz="2200" b="1" dirty="0"/>
              <a:t>FALSE</a:t>
            </a:r>
            <a:r>
              <a:rPr lang="en-US" sz="2200" dirty="0"/>
              <a:t> but cannot be both.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200" b="1" dirty="0"/>
              <a:t>For Example </a:t>
            </a:r>
            <a:r>
              <a:rPr lang="en-US" sz="2200" dirty="0"/>
              <a:t>:</a:t>
            </a:r>
            <a:endParaRPr lang="en-ID" sz="2200" dirty="0"/>
          </a:p>
          <a:p>
            <a:pPr>
              <a:buFont typeface="+mj-lt"/>
              <a:buAutoNum type="arabicParenR"/>
            </a:pPr>
            <a:r>
              <a:rPr lang="en-US" sz="2200" dirty="0"/>
              <a:t>Dhaka is the capital of Bangladesh.</a:t>
            </a:r>
          </a:p>
          <a:p>
            <a:pPr>
              <a:buFont typeface="+mj-lt"/>
              <a:buAutoNum type="arabicParenR"/>
            </a:pPr>
            <a:r>
              <a:rPr lang="en-US" sz="2200" dirty="0"/>
              <a:t>The Sun rises in the west.</a:t>
            </a:r>
          </a:p>
          <a:p>
            <a:pPr>
              <a:buFont typeface="+mj-lt"/>
              <a:buAutoNum type="arabicParenR"/>
            </a:pPr>
            <a:r>
              <a:rPr lang="en-US" sz="2200" dirty="0"/>
              <a:t>4 + 4 = 8</a:t>
            </a:r>
          </a:p>
          <a:p>
            <a:pPr marL="0" indent="0">
              <a:buNone/>
            </a:pPr>
            <a:endParaRPr lang="en-US" sz="1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</a:rPr>
              <a:t>Sentences which are not propositions </a:t>
            </a:r>
            <a:r>
              <a:rPr lang="en-US" sz="2200" dirty="0"/>
              <a:t>:</a:t>
            </a:r>
          </a:p>
          <a:p>
            <a:pPr>
              <a:buFont typeface="+mj-lt"/>
              <a:buAutoNum type="arabicParenR"/>
            </a:pPr>
            <a:r>
              <a:rPr lang="en-US" sz="2200" dirty="0"/>
              <a:t>What time is it ? </a:t>
            </a:r>
          </a:p>
          <a:p>
            <a:pPr>
              <a:buFont typeface="+mj-lt"/>
              <a:buAutoNum type="arabicParenR"/>
            </a:pPr>
            <a:r>
              <a:rPr lang="en-US" sz="2200" dirty="0"/>
              <a:t>X + 1 = 2  (can be both TRUE or FALSE)</a:t>
            </a:r>
          </a:p>
          <a:p>
            <a:pPr>
              <a:buFont typeface="+mj-lt"/>
              <a:buAutoNum type="arabicParenR"/>
            </a:pPr>
            <a:r>
              <a:rPr lang="en-US" sz="2200" dirty="0"/>
              <a:t>Please stand up. </a:t>
            </a:r>
          </a:p>
        </p:txBody>
      </p:sp>
    </p:spTree>
    <p:extLst>
      <p:ext uri="{BB962C8B-B14F-4D97-AF65-F5344CB8AC3E}">
        <p14:creationId xmlns:p14="http://schemas.microsoft.com/office/powerpoint/2010/main" val="51686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5663-3E9B-8E32-922C-26C75CA7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624110"/>
            <a:ext cx="8915400" cy="872181"/>
          </a:xfrm>
        </p:spPr>
        <p:txBody>
          <a:bodyPr>
            <a:normAutofit/>
          </a:bodyPr>
          <a:lstStyle/>
          <a:p>
            <a:r>
              <a:rPr lang="en-US" sz="4000" b="1" dirty="0"/>
              <a:t>Types of Proposition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01A82-925D-0EAE-ACAD-77DBAC34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1579418"/>
            <a:ext cx="8915400" cy="489411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D" sz="2200" dirty="0"/>
              <a:t>There are two types of proposition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D" sz="2200" dirty="0"/>
              <a:t>Simple </a:t>
            </a:r>
            <a:r>
              <a:rPr lang="en-US" sz="2200" dirty="0"/>
              <a:t>Proposition</a:t>
            </a:r>
            <a:r>
              <a:rPr lang="en-ID" sz="2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D" sz="2200" dirty="0"/>
              <a:t>Compound </a:t>
            </a:r>
            <a:r>
              <a:rPr lang="en-US" sz="2200" dirty="0"/>
              <a:t>Proposition.</a:t>
            </a:r>
            <a:endParaRPr lang="en-ID" sz="2200" b="1" dirty="0"/>
          </a:p>
          <a:p>
            <a:pPr marL="0" indent="0">
              <a:buNone/>
            </a:pPr>
            <a:endParaRPr lang="en-ID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ID" sz="2200" b="1" dirty="0"/>
              <a:t>Simple Proposition </a:t>
            </a:r>
            <a:r>
              <a:rPr lang="en-ID" sz="2200" dirty="0"/>
              <a:t>: </a:t>
            </a:r>
            <a:r>
              <a:rPr lang="en-US" sz="2200" dirty="0"/>
              <a:t>A simple proposition  is a declarative sentence that expresses a single idea and cannot be broken into smaller propositions.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sz="2200" dirty="0"/>
              <a:t>For Example :</a:t>
            </a:r>
          </a:p>
          <a:p>
            <a:pPr>
              <a:buFont typeface="+mj-lt"/>
              <a:buAutoNum type="arabicParenR"/>
            </a:pPr>
            <a:r>
              <a:rPr lang="en-ID" sz="2200" dirty="0"/>
              <a:t>The Earth is round.</a:t>
            </a:r>
          </a:p>
          <a:p>
            <a:pPr>
              <a:buFont typeface="+mj-lt"/>
              <a:buAutoNum type="arabicParenR"/>
            </a:pPr>
            <a:r>
              <a:rPr lang="en-ID" sz="2200" dirty="0"/>
              <a:t>The sky is blue.</a:t>
            </a:r>
          </a:p>
        </p:txBody>
      </p:sp>
    </p:spTree>
    <p:extLst>
      <p:ext uri="{BB962C8B-B14F-4D97-AF65-F5344CB8AC3E}">
        <p14:creationId xmlns:p14="http://schemas.microsoft.com/office/powerpoint/2010/main" val="216361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C527-2A57-8E46-7C0D-FE430181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0617"/>
          </a:xfrm>
        </p:spPr>
        <p:txBody>
          <a:bodyPr>
            <a:normAutofit/>
          </a:bodyPr>
          <a:lstStyle/>
          <a:p>
            <a:r>
              <a:rPr lang="en-US" sz="4000" b="1" dirty="0"/>
              <a:t>Compound proposition: 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D0C3D-F9C3-C2E2-F464-7BDD3EE4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558635"/>
            <a:ext cx="8911687" cy="4852556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D" sz="8800" b="1" dirty="0"/>
              <a:t>Compound Proposition </a:t>
            </a:r>
            <a:r>
              <a:rPr lang="en-ID" sz="8800" dirty="0"/>
              <a:t>: </a:t>
            </a:r>
            <a:r>
              <a:rPr lang="en-US" sz="8800" dirty="0"/>
              <a:t>A compound proposition is a declarative statement that is formed by combining two or more simple propositions using logical connectives.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8800" b="1" dirty="0">
                <a:solidFill>
                  <a:schemeClr val="tx1"/>
                </a:solidFill>
              </a:rPr>
              <a:t>For Example </a:t>
            </a:r>
            <a:r>
              <a:rPr lang="en-US" sz="8800" dirty="0"/>
              <a:t>: </a:t>
            </a:r>
          </a:p>
          <a:p>
            <a:pPr>
              <a:buFont typeface="+mj-lt"/>
              <a:buAutoNum type="arabicParenR"/>
            </a:pPr>
            <a:r>
              <a:rPr lang="en-US" sz="8800" dirty="0"/>
              <a:t>It is raining </a:t>
            </a:r>
            <a:r>
              <a:rPr lang="en-US" sz="8800" b="1" dirty="0"/>
              <a:t>and</a:t>
            </a:r>
            <a:r>
              <a:rPr lang="en-US" sz="8800" dirty="0"/>
              <a:t> I have an umbrella.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8800" dirty="0"/>
              <a:t>p = “</a:t>
            </a:r>
            <a:r>
              <a:rPr lang="en-US" sz="8800" dirty="0"/>
              <a:t>It is raining”  </a:t>
            </a:r>
            <a:endParaRPr lang="en-ID" sz="8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8800" dirty="0"/>
              <a:t>q = “I have an umbrella”</a:t>
            </a:r>
          </a:p>
          <a:p>
            <a:pPr marL="0" indent="0">
              <a:buNone/>
            </a:pPr>
            <a:endParaRPr lang="en-US" sz="7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8800" dirty="0"/>
              <a:t>There are 6 logical operators :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8800" dirty="0"/>
              <a:t>Negation (NOT)                   </a:t>
            </a:r>
            <a:r>
              <a:rPr lang="en-US" sz="8800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en-US" sz="8800" dirty="0"/>
              <a:t>Exclusive OR</a:t>
            </a:r>
          </a:p>
          <a:p>
            <a:pPr>
              <a:buFont typeface="+mj-lt"/>
              <a:buAutoNum type="arabicPeriod"/>
            </a:pPr>
            <a:r>
              <a:rPr lang="en-US" sz="8800" dirty="0"/>
              <a:t>Conjunction(AND)              </a:t>
            </a:r>
            <a:r>
              <a:rPr lang="en-US" sz="8800" dirty="0">
                <a:solidFill>
                  <a:schemeClr val="accent1">
                    <a:lumMod val="75000"/>
                  </a:schemeClr>
                </a:solidFill>
              </a:rPr>
              <a:t>5. </a:t>
            </a:r>
            <a:r>
              <a:rPr lang="en-US" sz="8800" b="1" dirty="0">
                <a:solidFill>
                  <a:srgbClr val="FF0000"/>
                </a:solidFill>
              </a:rPr>
              <a:t>Conditional </a:t>
            </a:r>
          </a:p>
          <a:p>
            <a:pPr>
              <a:buFont typeface="+mj-lt"/>
              <a:buAutoNum type="arabicPeriod"/>
            </a:pPr>
            <a:r>
              <a:rPr lang="en-US" sz="8800" dirty="0"/>
              <a:t>Disjunction (OR)                  </a:t>
            </a:r>
            <a:r>
              <a:rPr lang="en-US" sz="8800" dirty="0">
                <a:solidFill>
                  <a:schemeClr val="accent1">
                    <a:lumMod val="75000"/>
                  </a:schemeClr>
                </a:solidFill>
              </a:rPr>
              <a:t>6. </a:t>
            </a:r>
            <a:r>
              <a:rPr lang="en-US" sz="8800" b="1" dirty="0">
                <a:solidFill>
                  <a:srgbClr val="FF0000"/>
                </a:solidFill>
              </a:rPr>
              <a:t>Bi – conditional </a:t>
            </a:r>
            <a:endParaRPr lang="en-ID" sz="8800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4695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6B25-7065-2BB3-0186-C53DD46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68272"/>
          </a:xfrm>
        </p:spPr>
        <p:txBody>
          <a:bodyPr>
            <a:normAutofit/>
          </a:bodyPr>
          <a:lstStyle/>
          <a:p>
            <a:r>
              <a:rPr lang="en-US" sz="4000" b="1" dirty="0"/>
              <a:t>Negation (NOR)</a:t>
            </a:r>
            <a:endParaRPr lang="en-ID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683C2-28A0-4879-E711-F45C8D3F4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58636"/>
            <a:ext cx="8915400" cy="43525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b="1" dirty="0"/>
              <a:t>Negation is the opposite of a statement </a:t>
            </a:r>
            <a:r>
              <a:rPr lang="en-ID" sz="2200" dirty="0"/>
              <a:t>. Let p is a proposition. If p is true  then ¬p is false. If p is false then ¬p is true.</a:t>
            </a:r>
          </a:p>
          <a:p>
            <a:pPr marL="0" indent="0">
              <a:buNone/>
            </a:pPr>
            <a:endParaRPr lang="en-ID" sz="2200" dirty="0"/>
          </a:p>
          <a:p>
            <a:r>
              <a:rPr lang="en-ID" sz="2200" b="1" dirty="0"/>
              <a:t>For Example :</a:t>
            </a:r>
          </a:p>
          <a:p>
            <a:pPr marL="0" indent="0">
              <a:buNone/>
            </a:pPr>
            <a:r>
              <a:rPr lang="en-ID" sz="2200" dirty="0"/>
              <a:t>     p = “The grass is green.”</a:t>
            </a:r>
          </a:p>
          <a:p>
            <a:pPr marL="0" indent="0">
              <a:buNone/>
            </a:pPr>
            <a:r>
              <a:rPr lang="en-ID" sz="2200" dirty="0"/>
              <a:t>     ¬p = “The grass is not green.”</a:t>
            </a:r>
          </a:p>
          <a:p>
            <a:pPr marL="0" indent="0">
              <a:buNone/>
            </a:pPr>
            <a:r>
              <a:rPr lang="en-ID" sz="2200" dirty="0"/>
              <a:t>    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2463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5369-D91A-CDD2-F5E3-C9977870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68272"/>
          </a:xfrm>
        </p:spPr>
        <p:txBody>
          <a:bodyPr>
            <a:normAutofit/>
          </a:bodyPr>
          <a:lstStyle/>
          <a:p>
            <a:r>
              <a:rPr lang="en-US" sz="4000" b="1" dirty="0"/>
              <a:t>Conjunction (AND)</a:t>
            </a:r>
            <a:endParaRPr lang="en-ID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AEE7D-28EF-5B62-BF6A-A95B37747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00200"/>
            <a:ext cx="8915400" cy="46336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b="1" dirty="0"/>
              <a:t>A conjunction is only true if both statements are true</a:t>
            </a:r>
            <a:r>
              <a:rPr lang="en-US" sz="2200" dirty="0"/>
              <a:t>. It is often represented by the symbol </a:t>
            </a:r>
            <a:r>
              <a:rPr lang="en-US" sz="2200" b="1" dirty="0"/>
              <a:t>∧</a:t>
            </a:r>
            <a:r>
              <a:rPr lang="en-US" sz="2200" dirty="0"/>
              <a:t> (AND) . Conjunction of p and q is denoted by </a:t>
            </a:r>
            <a:r>
              <a:rPr lang="en-US" sz="2200" b="1" dirty="0"/>
              <a:t>p ^ q.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b="1" dirty="0"/>
              <a:t>For Example : </a:t>
            </a:r>
          </a:p>
          <a:p>
            <a:pPr marL="0" indent="0">
              <a:buNone/>
            </a:pPr>
            <a:r>
              <a:rPr lang="en-US" sz="2200" dirty="0"/>
              <a:t>    p = “12 is divisible by 3.”           “</a:t>
            </a:r>
            <a:r>
              <a:rPr lang="en-US" sz="2200" b="1" dirty="0"/>
              <a:t>TRUE</a:t>
            </a:r>
            <a:r>
              <a:rPr lang="en-US" sz="2200" dirty="0"/>
              <a:t>”</a:t>
            </a:r>
          </a:p>
          <a:p>
            <a:pPr marL="0" indent="0">
              <a:buNone/>
            </a:pPr>
            <a:r>
              <a:rPr lang="en-ID" sz="2200" dirty="0"/>
              <a:t>    q = “3 is a prime number.”            “</a:t>
            </a:r>
            <a:r>
              <a:rPr lang="en-ID" sz="2200" b="1" dirty="0"/>
              <a:t>TRUE</a:t>
            </a:r>
            <a:r>
              <a:rPr lang="en-ID" sz="2200" dirty="0"/>
              <a:t>”</a:t>
            </a:r>
          </a:p>
          <a:p>
            <a:pPr marL="0" indent="0">
              <a:buNone/>
            </a:pPr>
            <a:endParaRPr lang="en-ID" sz="2200" dirty="0"/>
          </a:p>
          <a:p>
            <a:pPr marL="0" indent="0">
              <a:buNone/>
            </a:pPr>
            <a:r>
              <a:rPr lang="en-ID" sz="2200" dirty="0"/>
              <a:t>    p ^ q = “</a:t>
            </a:r>
            <a:r>
              <a:rPr lang="en-US" sz="2200" dirty="0"/>
              <a:t>12 is divisible by 3 </a:t>
            </a:r>
            <a:r>
              <a:rPr lang="en-US" sz="2200" b="1" dirty="0"/>
              <a:t>and </a:t>
            </a:r>
            <a:r>
              <a:rPr lang="en-ID" sz="2200" dirty="0"/>
              <a:t>3 is a prime number.”</a:t>
            </a:r>
          </a:p>
          <a:p>
            <a:pPr marL="0" indent="0">
              <a:buNone/>
            </a:pPr>
            <a:r>
              <a:rPr lang="en-ID" sz="2200" dirty="0"/>
              <a:t>    p ^ q          “</a:t>
            </a:r>
            <a:r>
              <a:rPr lang="en-ID" sz="2200" b="1" dirty="0"/>
              <a:t>TRUE</a:t>
            </a:r>
            <a:r>
              <a:rPr lang="en-ID" sz="2200" dirty="0"/>
              <a:t>”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89F233C-483A-762A-88A0-1239EA752B22}"/>
              </a:ext>
            </a:extLst>
          </p:cNvPr>
          <p:cNvSpPr/>
          <p:nvPr/>
        </p:nvSpPr>
        <p:spPr>
          <a:xfrm>
            <a:off x="6307282" y="3755711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DEBA163-BF3E-4C24-9A8E-C44635150828}"/>
              </a:ext>
            </a:extLst>
          </p:cNvPr>
          <p:cNvSpPr/>
          <p:nvPr/>
        </p:nvSpPr>
        <p:spPr>
          <a:xfrm>
            <a:off x="6747163" y="4218709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8E0D2A3-C07E-C335-CF89-B7601A1B05E6}"/>
              </a:ext>
            </a:extLst>
          </p:cNvPr>
          <p:cNvSpPr/>
          <p:nvPr/>
        </p:nvSpPr>
        <p:spPr>
          <a:xfrm>
            <a:off x="3930221" y="5609973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69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1427-54DB-8019-01CF-B9485C34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09835"/>
          </a:xfrm>
        </p:spPr>
        <p:txBody>
          <a:bodyPr>
            <a:normAutofit/>
          </a:bodyPr>
          <a:lstStyle/>
          <a:p>
            <a:r>
              <a:rPr lang="en-US" sz="4000" b="1" dirty="0"/>
              <a:t>Disjunction(OR)</a:t>
            </a:r>
            <a:endParaRPr lang="en-ID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E50B5-44EB-B97E-1EC8-42272FD9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2756" y="1579417"/>
            <a:ext cx="8911687" cy="479188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200" b="1" dirty="0"/>
              <a:t>A disjunction is true if at least one of the statements is true</a:t>
            </a:r>
            <a:r>
              <a:rPr lang="en-US" sz="2200" dirty="0"/>
              <a:t>. It is often represented by the symbol </a:t>
            </a:r>
            <a:r>
              <a:rPr lang="en-US" sz="2200" b="1" dirty="0"/>
              <a:t>∨</a:t>
            </a:r>
            <a:r>
              <a:rPr lang="en-US" sz="2200" dirty="0"/>
              <a:t> (OR). Disjunction of p and q is denoted by </a:t>
            </a:r>
            <a:r>
              <a:rPr lang="en-US" sz="2200" b="1" dirty="0"/>
              <a:t>p ∨ q.</a:t>
            </a:r>
          </a:p>
          <a:p>
            <a:pPr marL="0" indent="0" algn="just">
              <a:buNone/>
            </a:pPr>
            <a:endParaRPr lang="en-US" sz="2200" b="1" dirty="0"/>
          </a:p>
          <a:p>
            <a:pPr algn="just"/>
            <a:r>
              <a:rPr lang="en-US" sz="2200" b="1" dirty="0"/>
              <a:t>For Example : </a:t>
            </a:r>
          </a:p>
          <a:p>
            <a:pPr marL="0" indent="0" algn="just">
              <a:buNone/>
            </a:pPr>
            <a:r>
              <a:rPr lang="en-US" sz="2200" b="1" dirty="0"/>
              <a:t>     </a:t>
            </a:r>
            <a:r>
              <a:rPr lang="en-US" sz="2200" dirty="0"/>
              <a:t>p = </a:t>
            </a:r>
            <a:r>
              <a:rPr lang="en-US" sz="2200" i="1" dirty="0"/>
              <a:t>“4 is an odd number.”          “</a:t>
            </a:r>
            <a:r>
              <a:rPr lang="en-US" sz="2200" b="1" i="1" dirty="0"/>
              <a:t>FALSE</a:t>
            </a:r>
            <a:r>
              <a:rPr lang="en-US" sz="2200" i="1" dirty="0"/>
              <a:t>”</a:t>
            </a:r>
          </a:p>
          <a:p>
            <a:pPr marL="0" indent="0" algn="just">
              <a:buNone/>
            </a:pPr>
            <a:r>
              <a:rPr lang="en-US" sz="2200" b="1" i="1" dirty="0"/>
              <a:t>     </a:t>
            </a:r>
            <a:r>
              <a:rPr lang="en-US" sz="2200" dirty="0"/>
              <a:t>q = “5 </a:t>
            </a:r>
            <a:r>
              <a:rPr lang="en-ID" sz="2200" i="1" dirty="0"/>
              <a:t>is a prime number.</a:t>
            </a:r>
            <a:r>
              <a:rPr lang="en-US" sz="2200" dirty="0"/>
              <a:t>”          “</a:t>
            </a:r>
            <a:r>
              <a:rPr lang="en-US" sz="2200" b="1" dirty="0"/>
              <a:t>TRUE</a:t>
            </a:r>
            <a:r>
              <a:rPr lang="en-US" sz="2200" dirty="0"/>
              <a:t>”</a:t>
            </a:r>
          </a:p>
          <a:p>
            <a:pPr marL="0" indent="0" algn="just">
              <a:buNone/>
            </a:pPr>
            <a:endParaRPr lang="en-US" sz="2200" b="1" dirty="0"/>
          </a:p>
          <a:p>
            <a:pPr marL="0" indent="0" algn="just">
              <a:buNone/>
            </a:pPr>
            <a:r>
              <a:rPr lang="en-US" sz="2200" b="1" dirty="0"/>
              <a:t>     </a:t>
            </a:r>
            <a:r>
              <a:rPr lang="en-US" sz="2200" dirty="0"/>
              <a:t>p v q = “</a:t>
            </a:r>
            <a:r>
              <a:rPr lang="en-US" sz="2200" i="1" dirty="0"/>
              <a:t>4 is an odd number or </a:t>
            </a:r>
            <a:r>
              <a:rPr lang="en-US" sz="2200" dirty="0"/>
              <a:t>5 </a:t>
            </a:r>
            <a:r>
              <a:rPr lang="en-ID" sz="2200" i="1" dirty="0"/>
              <a:t>is a prime number.</a:t>
            </a:r>
            <a:r>
              <a:rPr lang="en-US" sz="2200" dirty="0"/>
              <a:t>” </a:t>
            </a:r>
            <a:endParaRPr lang="en-US" sz="2200" b="1" dirty="0"/>
          </a:p>
          <a:p>
            <a:pPr marL="0" indent="0" algn="just">
              <a:buNone/>
            </a:pPr>
            <a:r>
              <a:rPr lang="en-US" sz="2200" b="1" dirty="0"/>
              <a:t>     </a:t>
            </a:r>
            <a:r>
              <a:rPr lang="en-US" sz="2200" dirty="0"/>
              <a:t>p v q          “</a:t>
            </a:r>
            <a:r>
              <a:rPr lang="en-US" sz="2200" b="1" dirty="0"/>
              <a:t>TRUE</a:t>
            </a:r>
            <a:r>
              <a:rPr lang="en-US" sz="2200" dirty="0"/>
              <a:t>”</a:t>
            </a:r>
            <a:endParaRPr lang="en-US" sz="2200" b="1" dirty="0"/>
          </a:p>
          <a:p>
            <a:pPr marL="0" indent="0" algn="just">
              <a:buNone/>
            </a:pPr>
            <a:endParaRPr lang="en-ID" sz="2200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3CDE621-1290-8E90-6830-E813F5DD5225}"/>
              </a:ext>
            </a:extLst>
          </p:cNvPr>
          <p:cNvSpPr/>
          <p:nvPr/>
        </p:nvSpPr>
        <p:spPr>
          <a:xfrm>
            <a:off x="6743700" y="3745320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4B96057-1F82-A36F-CFB8-19E58E1D0B24}"/>
              </a:ext>
            </a:extLst>
          </p:cNvPr>
          <p:cNvSpPr/>
          <p:nvPr/>
        </p:nvSpPr>
        <p:spPr>
          <a:xfrm>
            <a:off x="6743699" y="4192129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C08037C-7837-DC7E-C654-387DC6E71009}"/>
              </a:ext>
            </a:extLst>
          </p:cNvPr>
          <p:cNvSpPr/>
          <p:nvPr/>
        </p:nvSpPr>
        <p:spPr>
          <a:xfrm>
            <a:off x="3966087" y="5579036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89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1B2D-DA89-4843-8549-66A342D96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624110"/>
            <a:ext cx="8915400" cy="851399"/>
          </a:xfrm>
        </p:spPr>
        <p:txBody>
          <a:bodyPr/>
          <a:lstStyle/>
          <a:p>
            <a:r>
              <a:rPr lang="en-US" sz="4000" b="1" dirty="0"/>
              <a:t>Conditional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3EEAB-7356-DF71-19AE-D0CD9C83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8245"/>
            <a:ext cx="8915400" cy="478372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Let p and q are propositions. The conditional statement </a:t>
            </a:r>
            <a:r>
              <a:rPr lang="en-US" sz="2000" b="1" dirty="0" err="1"/>
              <a:t>p→q</a:t>
            </a:r>
            <a:r>
              <a:rPr lang="en-US" sz="2000" b="1" dirty="0"/>
              <a:t> </a:t>
            </a:r>
            <a:r>
              <a:rPr lang="en-US" sz="2000" dirty="0"/>
              <a:t>is the proposition “if p, then q.” </a:t>
            </a:r>
            <a:r>
              <a:rPr lang="en-US" sz="2000" b="1" dirty="0"/>
              <a:t>The conditional statement </a:t>
            </a:r>
            <a:r>
              <a:rPr lang="en-US" sz="2000" b="1" dirty="0" err="1">
                <a:solidFill>
                  <a:schemeClr val="tx1"/>
                </a:solidFill>
              </a:rPr>
              <a:t>p→q</a:t>
            </a:r>
            <a:r>
              <a:rPr lang="en-US" sz="2000" b="1" dirty="0">
                <a:solidFill>
                  <a:schemeClr val="tx1"/>
                </a:solidFill>
              </a:rPr>
              <a:t> is false when p is true and q is false,</a:t>
            </a:r>
            <a:r>
              <a:rPr lang="en-US" sz="2000" b="1" dirty="0"/>
              <a:t> and otherwise true</a:t>
            </a:r>
            <a:r>
              <a:rPr lang="en-US" sz="2000" dirty="0"/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p is called hypothesis (or </a:t>
            </a:r>
            <a:r>
              <a:rPr lang="en-US" sz="2000" b="1" dirty="0"/>
              <a:t>premise</a:t>
            </a:r>
            <a:r>
              <a:rPr lang="en-US" sz="2000" dirty="0"/>
              <a:t>) and q is called the </a:t>
            </a:r>
            <a:r>
              <a:rPr lang="en-US" sz="2000" b="1" dirty="0"/>
              <a:t>conclusion</a:t>
            </a:r>
            <a:r>
              <a:rPr lang="en-US" sz="2000" dirty="0"/>
              <a:t> (or consequence) </a:t>
            </a:r>
          </a:p>
          <a:p>
            <a:pPr algn="just"/>
            <a:r>
              <a:rPr lang="en-US" sz="2000" b="1" dirty="0"/>
              <a:t>For Example </a:t>
            </a:r>
            <a:r>
              <a:rPr lang="en-US" sz="2000" dirty="0"/>
              <a:t>: </a:t>
            </a:r>
          </a:p>
          <a:p>
            <a:pPr marL="0" indent="0" algn="just">
              <a:buNone/>
            </a:pPr>
            <a:r>
              <a:rPr lang="en-US" sz="2000" dirty="0"/>
              <a:t>     “If you try hard for your exam , then you will succeed.”</a:t>
            </a:r>
          </a:p>
          <a:p>
            <a:pPr marL="0" indent="0" algn="just">
              <a:buNone/>
            </a:pPr>
            <a:r>
              <a:rPr lang="en-US" sz="2000" dirty="0"/>
              <a:t>     p = “you tried hard for the exam”</a:t>
            </a:r>
          </a:p>
          <a:p>
            <a:pPr marL="0" indent="0" algn="just">
              <a:buNone/>
            </a:pPr>
            <a:r>
              <a:rPr lang="en-US" sz="2000" dirty="0"/>
              <a:t>     q = “you succeed”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D" sz="2000" dirty="0"/>
              <a:t> “you tried hard for the exam” but “you failed.”</a:t>
            </a:r>
          </a:p>
          <a:p>
            <a:pPr marL="0" indent="0" algn="just">
              <a:buNone/>
            </a:pPr>
            <a:r>
              <a:rPr lang="en-ID" sz="2000" dirty="0"/>
              <a:t>                p = “</a:t>
            </a:r>
            <a:r>
              <a:rPr lang="en-ID" sz="2000" b="1" dirty="0"/>
              <a:t>TRUE</a:t>
            </a:r>
            <a:r>
              <a:rPr lang="en-ID" sz="2000" dirty="0"/>
              <a:t>”                                q = “</a:t>
            </a:r>
            <a:r>
              <a:rPr lang="en-ID" sz="2000" b="1" dirty="0"/>
              <a:t>FALSE</a:t>
            </a:r>
            <a:r>
              <a:rPr lang="en-ID" sz="2000" dirty="0"/>
              <a:t>”</a:t>
            </a:r>
          </a:p>
          <a:p>
            <a:pPr marL="0" indent="0" algn="just">
              <a:buNone/>
            </a:pPr>
            <a:r>
              <a:rPr lang="en-ID" sz="2000" dirty="0"/>
              <a:t>                 Compound proposition </a:t>
            </a:r>
            <a:r>
              <a:rPr lang="en-ID" sz="2000" b="1" dirty="0"/>
              <a:t> </a:t>
            </a:r>
            <a:r>
              <a:rPr lang="en-US" sz="2000" dirty="0" err="1"/>
              <a:t>p→q</a:t>
            </a:r>
            <a:r>
              <a:rPr lang="en-US" sz="2000"/>
              <a:t>  is  “</a:t>
            </a:r>
            <a:r>
              <a:rPr lang="en-ID" sz="2000" b="1" dirty="0"/>
              <a:t>FALSE</a:t>
            </a:r>
            <a:r>
              <a:rPr lang="en-US" sz="2000" dirty="0"/>
              <a:t>”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613050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62F7-CC0B-6388-DF25-532836089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624110"/>
            <a:ext cx="8915400" cy="742574"/>
          </a:xfrm>
        </p:spPr>
        <p:txBody>
          <a:bodyPr>
            <a:normAutofit/>
          </a:bodyPr>
          <a:lstStyle/>
          <a:p>
            <a:r>
              <a:rPr lang="en-US" sz="4000" b="1" dirty="0"/>
              <a:t>Bi-conditional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CC6A-F1A1-9CF8-17B5-848A81F2E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3665"/>
            <a:ext cx="8915400" cy="4837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/>
              <a:t>Let p and q are propositions. The biconditional statement </a:t>
            </a:r>
            <a:r>
              <a:rPr lang="en-US" sz="2200" dirty="0" err="1"/>
              <a:t>p↔q</a:t>
            </a:r>
            <a:r>
              <a:rPr lang="en-US" sz="2200" dirty="0"/>
              <a:t> is the proposition “p if and only if q.” </a:t>
            </a:r>
            <a:r>
              <a:rPr lang="en-US" sz="2200" b="1" dirty="0"/>
              <a:t>The biconditional statement </a:t>
            </a:r>
            <a:r>
              <a:rPr lang="en-US" sz="2200" b="1" dirty="0" err="1"/>
              <a:t>p↔q</a:t>
            </a:r>
            <a:r>
              <a:rPr lang="en-US" sz="2200" b="1" dirty="0"/>
              <a:t> is </a:t>
            </a:r>
            <a:r>
              <a:rPr lang="en-US" sz="2200" b="1" dirty="0">
                <a:solidFill>
                  <a:schemeClr val="tx1"/>
                </a:solidFill>
              </a:rPr>
              <a:t>true when p and q have the same truth values and</a:t>
            </a:r>
            <a:r>
              <a:rPr lang="en-US" sz="2200" b="1" dirty="0"/>
              <a:t>  false otherwise.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/>
              <a:t>(</a:t>
            </a:r>
            <a:r>
              <a:rPr lang="en-US" sz="2200" dirty="0" err="1"/>
              <a:t>p→q</a:t>
            </a:r>
            <a:r>
              <a:rPr lang="en-US" sz="2200" dirty="0"/>
              <a:t>) ^ (</a:t>
            </a:r>
            <a:r>
              <a:rPr lang="en-US" sz="2200" dirty="0" err="1"/>
              <a:t>q→p</a:t>
            </a:r>
            <a:r>
              <a:rPr lang="en-US" sz="2200" dirty="0"/>
              <a:t>) ≡  </a:t>
            </a:r>
            <a:r>
              <a:rPr lang="en-US" sz="2200" dirty="0" err="1"/>
              <a:t>p↔q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300" dirty="0"/>
          </a:p>
          <a:p>
            <a:r>
              <a:rPr lang="en-US" sz="2200" b="1" dirty="0"/>
              <a:t>For Example </a:t>
            </a:r>
            <a:r>
              <a:rPr lang="en-US" sz="2200" dirty="0"/>
              <a:t>:  </a:t>
            </a:r>
          </a:p>
          <a:p>
            <a:pPr marL="0" indent="0">
              <a:buNone/>
            </a:pPr>
            <a:r>
              <a:rPr lang="en-US" sz="2200" dirty="0"/>
              <a:t>     p = “You get promoted.”          “</a:t>
            </a:r>
            <a:r>
              <a:rPr lang="en-US" sz="2200" b="1" dirty="0"/>
              <a:t>TRUE</a:t>
            </a:r>
            <a:r>
              <a:rPr lang="en-US" sz="2200" dirty="0"/>
              <a:t>”</a:t>
            </a:r>
          </a:p>
          <a:p>
            <a:pPr marL="0" indent="0">
              <a:buNone/>
            </a:pPr>
            <a:r>
              <a:rPr lang="en-US" sz="2200" dirty="0"/>
              <a:t>     q = “you have connections.”          “</a:t>
            </a:r>
            <a:r>
              <a:rPr lang="en-US" sz="2200" b="1" dirty="0"/>
              <a:t>TRUE</a:t>
            </a:r>
            <a:r>
              <a:rPr lang="en-US" sz="2200" dirty="0"/>
              <a:t>”</a:t>
            </a:r>
          </a:p>
          <a:p>
            <a:pPr marL="0" indent="0">
              <a:buNone/>
            </a:pPr>
            <a:r>
              <a:rPr lang="en-US" sz="2200" dirty="0"/>
              <a:t>     </a:t>
            </a:r>
            <a:r>
              <a:rPr lang="en-US" sz="2200" dirty="0" err="1"/>
              <a:t>p↔q</a:t>
            </a:r>
            <a:r>
              <a:rPr lang="en-US" sz="2200" dirty="0"/>
              <a:t> = “You get promoted if only if you have connections.”</a:t>
            </a:r>
          </a:p>
          <a:p>
            <a:pPr marL="0" indent="0">
              <a:buNone/>
            </a:pPr>
            <a:r>
              <a:rPr lang="en-ID" sz="2200" dirty="0"/>
              <a:t>     </a:t>
            </a:r>
            <a:r>
              <a:rPr lang="en-US" sz="2200" dirty="0" err="1"/>
              <a:t>p↔q</a:t>
            </a:r>
            <a:r>
              <a:rPr lang="en-US" sz="2200" dirty="0"/>
              <a:t>           “</a:t>
            </a:r>
            <a:r>
              <a:rPr lang="en-US" sz="2200" b="1" dirty="0"/>
              <a:t>TRUE</a:t>
            </a:r>
            <a:r>
              <a:rPr lang="en-US" sz="2200" dirty="0"/>
              <a:t>”</a:t>
            </a:r>
            <a:endParaRPr lang="en-ID" sz="2200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A94E508-7380-82B2-670D-E0355F86BC83}"/>
              </a:ext>
            </a:extLst>
          </p:cNvPr>
          <p:cNvSpPr/>
          <p:nvPr/>
        </p:nvSpPr>
        <p:spPr>
          <a:xfrm>
            <a:off x="6631746" y="4198162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E16A9CB-9411-17B4-3B40-07E7AC38B116}"/>
              </a:ext>
            </a:extLst>
          </p:cNvPr>
          <p:cNvSpPr/>
          <p:nvPr/>
        </p:nvSpPr>
        <p:spPr>
          <a:xfrm>
            <a:off x="7071627" y="4656814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56AC787-72BB-BB9A-D319-93D541CCD7B9}"/>
              </a:ext>
            </a:extLst>
          </p:cNvPr>
          <p:cNvSpPr/>
          <p:nvPr/>
        </p:nvSpPr>
        <p:spPr>
          <a:xfrm>
            <a:off x="3922277" y="5584510"/>
            <a:ext cx="439881" cy="301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6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0F3BEC-80DC-A52A-567A-81FD615490EA}"/>
              </a:ext>
            </a:extLst>
          </p:cNvPr>
          <p:cNvSpPr txBox="1"/>
          <p:nvPr/>
        </p:nvSpPr>
        <p:spPr>
          <a:xfrm>
            <a:off x="3401950" y="1973814"/>
            <a:ext cx="66072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925389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390</TotalTime>
  <Words>733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Cascadia Code SemiBold</vt:lpstr>
      <vt:lpstr>Century Gothic</vt:lpstr>
      <vt:lpstr>Wingdings</vt:lpstr>
      <vt:lpstr>Wingdings 3</vt:lpstr>
      <vt:lpstr>Wisp</vt:lpstr>
      <vt:lpstr>Proposition &amp; Types of Proposition</vt:lpstr>
      <vt:lpstr>Proposition</vt:lpstr>
      <vt:lpstr>Types of Proposition</vt:lpstr>
      <vt:lpstr>Compound proposition: </vt:lpstr>
      <vt:lpstr>Negation (NOR)</vt:lpstr>
      <vt:lpstr>Conjunction (AND)</vt:lpstr>
      <vt:lpstr>Disjunction(OR)</vt:lpstr>
      <vt:lpstr>Conditional</vt:lpstr>
      <vt:lpstr>Bi-conditional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Abdur Rahman Sahid</dc:creator>
  <cp:lastModifiedBy>Abdur Rahman Sahid</cp:lastModifiedBy>
  <cp:revision>1</cp:revision>
  <dcterms:created xsi:type="dcterms:W3CDTF">2025-08-20T17:40:20Z</dcterms:created>
  <dcterms:modified xsi:type="dcterms:W3CDTF">2025-11-20T13:23:56Z</dcterms:modified>
</cp:coreProperties>
</file>