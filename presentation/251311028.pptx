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74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14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9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53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5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2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6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6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0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2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95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2760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96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76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73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26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85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B72F0-D6E7-4F5A-A796-D380A45AF576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A30F3-B0BA-4A47-A2E3-27579935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3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0CBDF-B903-F185-4CFE-02EA8ADD0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343" y="576944"/>
            <a:ext cx="9710057" cy="3051557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 Conversion of Sentences into Logical Expressions and Vice Versa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C43A3-B35A-93A6-B7BB-BA3F0C155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7771" y="3993923"/>
            <a:ext cx="9427029" cy="267901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Bodoni MT Black" panose="02070A03080606020203" pitchFamily="18" charset="0"/>
              </a:rPr>
              <a:t>Name: Syed Masrur Hasan</a:t>
            </a:r>
          </a:p>
          <a:p>
            <a:r>
              <a:rPr lang="en-US" sz="2400" dirty="0">
                <a:latin typeface="Bodoni MT Black" panose="02070A03080606020203" pitchFamily="18" charset="0"/>
              </a:rPr>
              <a:t>ID: 251311028</a:t>
            </a:r>
          </a:p>
        </p:txBody>
      </p:sp>
    </p:spTree>
    <p:extLst>
      <p:ext uri="{BB962C8B-B14F-4D97-AF65-F5344CB8AC3E}">
        <p14:creationId xmlns:p14="http://schemas.microsoft.com/office/powerpoint/2010/main" val="295918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C4B2-AF03-FC7A-9F17-3BF7BEFB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6AC8-87CC-CCA0-A81E-F5272BF60F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Bodoni MT" panose="02070603080606020203" pitchFamily="18" charset="0"/>
              </a:rPr>
              <a:t>1.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</a:rPr>
              <a:t> Brief introduction to predicates  P(x), Q(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</a:rPr>
              <a:t>x,y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</a:rPr>
              <a:t>) and quantifiers (∀, ∃).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53E47-248D-7B18-1DE4-57388A9C3C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Bodoni MT" panose="02070603080606020203" pitchFamily="18" charset="0"/>
              </a:rPr>
              <a:t>2.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</a:rPr>
              <a:t> Purpose: Translate natural language to logic for precision and vice versa for interpretation.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989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F31BD-2812-42BD-86F4-EFFF7EA7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Universal Quantifier (∀)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4C60F-E7F9-5C3B-5417-22F0D79D9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971"/>
            <a:ext cx="10515600" cy="4870904"/>
          </a:xfrm>
        </p:spPr>
        <p:txBody>
          <a:bodyPr/>
          <a:lstStyle/>
          <a:p>
            <a:r>
              <a:rPr lang="en-US" sz="2800" dirty="0">
                <a:latin typeface="Bahnschrift Light" panose="020B0502040204020203" pitchFamily="34" charset="0"/>
              </a:rPr>
              <a:t> Universal Quantifier (∀)—”All”</a:t>
            </a:r>
          </a:p>
          <a:p>
            <a:r>
              <a:rPr lang="en-US" sz="2800" b="1" u="sng" dirty="0">
                <a:latin typeface="Bahnschrift Light" panose="020B0502040204020203" pitchFamily="34" charset="0"/>
              </a:rPr>
              <a:t>Example Sentence:</a:t>
            </a:r>
            <a:endParaRPr lang="en-US" sz="2800" u="sng" dirty="0">
              <a:latin typeface="Bahnschrift Light" panose="020B0502040204020203" pitchFamily="34" charset="0"/>
            </a:endParaRPr>
          </a:p>
          <a:p>
            <a:r>
              <a:rPr lang="en-US" sz="2800" dirty="0">
                <a:latin typeface="Bahnschrift Light" panose="020B0502040204020203" pitchFamily="34" charset="0"/>
              </a:rPr>
              <a:t>"All cats are mammals."</a:t>
            </a:r>
            <a:br>
              <a:rPr lang="en-US" sz="2800" dirty="0">
                <a:latin typeface="Bahnschrift Light" panose="020B0502040204020203" pitchFamily="34" charset="0"/>
              </a:rPr>
            </a:br>
            <a:r>
              <a:rPr lang="en-US" sz="2800" b="1" u="sng" dirty="0">
                <a:latin typeface="Bahnschrift Light" panose="020B0502040204020203" pitchFamily="34" charset="0"/>
              </a:rPr>
              <a:t>Logical Expression:</a:t>
            </a:r>
            <a:endParaRPr lang="en-US" sz="2800" u="sng" dirty="0">
              <a:latin typeface="Bahnschrift Light" panose="020B0502040204020203" pitchFamily="34" charset="0"/>
            </a:endParaRPr>
          </a:p>
          <a:p>
            <a:r>
              <a:rPr lang="en-US" sz="2800" dirty="0">
                <a:latin typeface="Bahnschrift Light" panose="020B0502040204020203" pitchFamily="34" charset="0"/>
              </a:rPr>
              <a:t>Let </a:t>
            </a:r>
            <a:r>
              <a:rPr lang="en-US" sz="2800" b="0" i="0" dirty="0">
                <a:solidFill>
                  <a:srgbClr val="F9FAFB"/>
                </a:solidFill>
                <a:effectLst/>
                <a:latin typeface="quote-cjk-patch"/>
              </a:rPr>
              <a:t> If we define C(x) as ‘x is a cat’ and M(x) as ‘x is a mammal,’ the expression becomes ∀x (C(x) → M(x)).</a:t>
            </a:r>
            <a:br>
              <a:rPr lang="en-US" sz="2800" dirty="0"/>
            </a:br>
            <a:r>
              <a:rPr lang="en-US" sz="2800" b="0" i="0" dirty="0">
                <a:solidFill>
                  <a:srgbClr val="F9FAFB"/>
                </a:solidFill>
                <a:effectLst/>
                <a:latin typeface="quote-cjk-patch"/>
              </a:rPr>
              <a:t>In plain terms: ‘For every x, if x is a cat, then x is a mammal.’</a:t>
            </a:r>
            <a:br>
              <a:rPr lang="en-US" sz="2800" dirty="0">
                <a:latin typeface="Bahnschrift Light" panose="020B0502040204020203" pitchFamily="34" charset="0"/>
              </a:rPr>
            </a:br>
            <a:r>
              <a:rPr lang="en-US" sz="2800" b="1" u="sng" dirty="0">
                <a:latin typeface="Bahnschrift Light" panose="020B0502040204020203" pitchFamily="34" charset="0"/>
              </a:rPr>
              <a:t>Vice Versa:</a:t>
            </a:r>
            <a:endParaRPr lang="en-US" sz="2800" u="sng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US" sz="2800" b="0" i="0" dirty="0">
                <a:solidFill>
                  <a:srgbClr val="F9FAFB"/>
                </a:solidFill>
                <a:effectLst/>
                <a:latin typeface="quote-cjk-patch"/>
              </a:rPr>
              <a:t>We can also reverse this. If ∀x (S(x) → P(x)), you might say: ‘Every student S is hardworking P.’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45745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46AC-E3D6-A168-644A-43465E58F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1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Existential Quantifier (∃)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63B76-D8A1-E171-3C15-5D5D00ED2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034143"/>
            <a:ext cx="11636828" cy="545873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ahnschrift Light" panose="020B0502040204020203" pitchFamily="34" charset="0"/>
              </a:rPr>
              <a:t> "Some" → Existential Quantifier (∃)</a:t>
            </a:r>
            <a:br>
              <a:rPr lang="en-US" sz="3200" dirty="0">
                <a:latin typeface="Bahnschrift Light" panose="020B0502040204020203" pitchFamily="34" charset="0"/>
              </a:rPr>
            </a:br>
            <a:r>
              <a:rPr lang="en-US" sz="3200" b="1" u="sng" dirty="0">
                <a:latin typeface="Bahnschrift Light" panose="020B0502040204020203" pitchFamily="34" charset="0"/>
              </a:rPr>
              <a:t>Example Sentence:</a:t>
            </a:r>
            <a:endParaRPr lang="en-US" sz="3200" u="sng" dirty="0">
              <a:latin typeface="Bahnschrift Light" panose="020B0502040204020203" pitchFamily="34" charset="0"/>
            </a:endParaRPr>
          </a:p>
          <a:p>
            <a:r>
              <a:rPr lang="en-US" sz="3200" dirty="0">
                <a:latin typeface="Bahnschrift Light" panose="020B0502040204020203" pitchFamily="34" charset="0"/>
              </a:rPr>
              <a:t>"Some birds cannot fly."</a:t>
            </a:r>
            <a:br>
              <a:rPr lang="en-US" sz="3200" dirty="0">
                <a:latin typeface="Bahnschrift Light" panose="020B0502040204020203" pitchFamily="34" charset="0"/>
              </a:rPr>
            </a:br>
            <a:r>
              <a:rPr lang="en-US" sz="3200" b="1" u="sng" dirty="0">
                <a:latin typeface="Bahnschrift Light" panose="020B0502040204020203" pitchFamily="34" charset="0"/>
              </a:rPr>
              <a:t>Logical Expression:</a:t>
            </a:r>
            <a:endParaRPr lang="en-US" sz="3200" u="sng" dirty="0">
              <a:latin typeface="Bahnschrift Light" panose="020B0502040204020203" pitchFamily="34" charset="0"/>
            </a:endParaRPr>
          </a:p>
          <a:p>
            <a:r>
              <a:rPr lang="en-US" sz="3200" dirty="0">
                <a:latin typeface="Bahnschrift Light" panose="020B0502040204020203" pitchFamily="34" charset="0"/>
              </a:rPr>
              <a:t>Let B(x): "x is a bird," </a:t>
            </a:r>
            <a:r>
              <a:rPr lang="en-US" sz="3200" i="1" dirty="0">
                <a:latin typeface="Bahnschrift Light" panose="020B0502040204020203" pitchFamily="34" charset="0"/>
              </a:rPr>
              <a:t>F</a:t>
            </a:r>
            <a:r>
              <a:rPr lang="en-US" sz="3200" dirty="0">
                <a:latin typeface="Bahnschrift Light" panose="020B0502040204020203" pitchFamily="34" charset="0"/>
              </a:rPr>
              <a:t>(</a:t>
            </a:r>
            <a:r>
              <a:rPr lang="en-US" sz="3200" i="1" dirty="0">
                <a:latin typeface="Bahnschrift Light" panose="020B0502040204020203" pitchFamily="34" charset="0"/>
              </a:rPr>
              <a:t>x</a:t>
            </a:r>
            <a:r>
              <a:rPr lang="en-US" sz="3200" dirty="0">
                <a:latin typeface="Bahnschrift Light" panose="020B0502040204020203" pitchFamily="34" charset="0"/>
              </a:rPr>
              <a:t>): "x can fly."</a:t>
            </a:r>
          </a:p>
          <a:p>
            <a:r>
              <a:rPr lang="en-US" sz="3200" dirty="0">
                <a:latin typeface="Bahnschrift Light" panose="020B0502040204020203" pitchFamily="34" charset="0"/>
              </a:rPr>
              <a:t>∃x(B(x)∧¬F(x)): “ There exists an x where x is a bird AND x cannot fly”.</a:t>
            </a:r>
          </a:p>
          <a:p>
            <a:pPr marL="0" indent="0">
              <a:buNone/>
            </a:pPr>
            <a:br>
              <a:rPr lang="en-US" sz="3200" dirty="0">
                <a:latin typeface="Bahnschrift Light" panose="020B0502040204020203" pitchFamily="34" charset="0"/>
              </a:rPr>
            </a:br>
            <a:r>
              <a:rPr lang="en-US" sz="3200" b="1" u="sng" dirty="0">
                <a:latin typeface="Bahnschrift Light" panose="020B0502040204020203" pitchFamily="34" charset="0"/>
              </a:rPr>
              <a:t>Vice Versa:</a:t>
            </a:r>
            <a:endParaRPr lang="en-US" sz="3200" u="sng" dirty="0">
              <a:latin typeface="Bahnschrift Light" panose="020B0502040204020203" pitchFamily="34" charset="0"/>
            </a:endParaRPr>
          </a:p>
          <a:p>
            <a:r>
              <a:rPr lang="en-US" sz="3200" dirty="0">
                <a:latin typeface="Bahnschrift Light" panose="020B0502040204020203" pitchFamily="34" charset="0"/>
              </a:rPr>
              <a:t>∃x(T(x)∧H(x)): "There is a tall (T) and happy (H) person."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054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BBAFA-481C-D5E3-24B0-CA902B12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95857" cy="82141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Nested Quantifiers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A6289-6284-9001-7CF9-1ECF94CAB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3" y="914400"/>
            <a:ext cx="11636829" cy="5660571"/>
          </a:xfrm>
        </p:spPr>
        <p:txBody>
          <a:bodyPr/>
          <a:lstStyle/>
          <a:p>
            <a:r>
              <a:rPr lang="en-US" sz="2800" dirty="0"/>
              <a:t>Multiple Quantifiers</a:t>
            </a:r>
            <a:br>
              <a:rPr lang="en-US" sz="2800" dirty="0"/>
            </a:br>
            <a:r>
              <a:rPr lang="en-US" sz="2800" b="1" u="sng" dirty="0"/>
              <a:t>Example Sentence:</a:t>
            </a:r>
            <a:endParaRPr lang="en-US" sz="2800" u="sng" dirty="0"/>
          </a:p>
          <a:p>
            <a:r>
              <a:rPr lang="en-US" sz="2800" dirty="0"/>
              <a:t>"Every student loves some book."</a:t>
            </a:r>
            <a:br>
              <a:rPr lang="en-US" sz="2800" dirty="0"/>
            </a:br>
            <a:r>
              <a:rPr lang="en-US" sz="2800" b="1" u="sng" dirty="0"/>
              <a:t>Logical Expression:</a:t>
            </a:r>
            <a:endParaRPr lang="en-US" sz="2800" u="sng" dirty="0"/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9FAFB"/>
                </a:solidFill>
                <a:latin typeface="quote-cjk-patch"/>
              </a:rPr>
              <a:t>Logic:</a:t>
            </a:r>
            <a:r>
              <a:rPr lang="en-US" sz="2800" dirty="0">
                <a:solidFill>
                  <a:srgbClr val="F9FAFB"/>
                </a:solidFill>
                <a:latin typeface="quote-cjk-patch"/>
              </a:rPr>
              <a:t> ∀x (S(x) → ∃y (B(y) ∧ L(</a:t>
            </a:r>
            <a:r>
              <a:rPr lang="en-US" sz="2800" dirty="0" err="1">
                <a:solidFill>
                  <a:srgbClr val="F9FAFB"/>
                </a:solidFill>
                <a:latin typeface="quote-cjk-patch"/>
              </a:rPr>
              <a:t>x,y</a:t>
            </a:r>
            <a:r>
              <a:rPr lang="en-US" sz="2800" dirty="0">
                <a:solidFill>
                  <a:srgbClr val="F9FAFB"/>
                </a:solidFill>
                <a:latin typeface="quote-cjk-patch"/>
              </a:rPr>
              <a:t>))).</a:t>
            </a:r>
            <a:br>
              <a:rPr lang="en-US" sz="2800" dirty="0">
                <a:solidFill>
                  <a:srgbClr val="F9FAFB"/>
                </a:solidFill>
                <a:latin typeface="quote-cjk-patch"/>
              </a:rPr>
            </a:br>
            <a:r>
              <a:rPr lang="en-US" sz="2800" dirty="0">
                <a:solidFill>
                  <a:srgbClr val="F9FAFB"/>
                </a:solidFill>
                <a:latin typeface="quote-cjk-patch"/>
              </a:rPr>
              <a:t>Here, for every student x, there exists a book y that x loves.</a:t>
            </a:r>
          </a:p>
          <a:p>
            <a:pPr marL="0" indent="0">
              <a:spcBef>
                <a:spcPts val="450"/>
              </a:spcBef>
              <a:spcAft>
                <a:spcPts val="1200"/>
              </a:spcAft>
              <a:buNone/>
            </a:pPr>
            <a:br>
              <a:rPr lang="en-US" sz="2800" dirty="0"/>
            </a:br>
            <a:r>
              <a:rPr lang="en-US" sz="2800" b="1" u="sng" dirty="0"/>
              <a:t>Vice Versa:</a:t>
            </a:r>
            <a:endParaRPr lang="en-US" sz="2800" u="sng" dirty="0"/>
          </a:p>
          <a:p>
            <a:r>
              <a:rPr lang="en-US" sz="2800" dirty="0"/>
              <a:t>∃x ∀y (P(x)∧Q(y) → R(</a:t>
            </a:r>
            <a:r>
              <a:rPr lang="en-US" sz="2800" dirty="0" err="1"/>
              <a:t>x,y</a:t>
            </a:r>
            <a:r>
              <a:rPr lang="en-US" sz="2800" dirty="0"/>
              <a:t>)) means: "There is a teacher (P) who teaches all courses (Q)."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19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09EE-AF18-2873-83D0-5E632937E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328945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Negation and Complex Sentences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51679-41CA-D91A-1269-3EAC16FC7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306286"/>
            <a:ext cx="11168743" cy="4963885"/>
          </a:xfrm>
        </p:spPr>
        <p:txBody>
          <a:bodyPr>
            <a:normAutofit/>
          </a:bodyPr>
          <a:lstStyle/>
          <a:p>
            <a:r>
              <a:rPr lang="en-US" sz="2800" b="1" dirty="0"/>
              <a:t>Title:</a:t>
            </a:r>
            <a:r>
              <a:rPr lang="en-US" sz="2800" dirty="0"/>
              <a:t> Handling Negations and Complex Logic</a:t>
            </a:r>
            <a:br>
              <a:rPr lang="en-US" sz="2800" dirty="0"/>
            </a:br>
            <a:r>
              <a:rPr lang="en-US" sz="2800" b="1" u="sng" dirty="0"/>
              <a:t>Example Sentence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dirty="0"/>
              <a:t>"Not all dogs bark."</a:t>
            </a:r>
            <a:br>
              <a:rPr lang="en-US" sz="2800" dirty="0"/>
            </a:br>
            <a:r>
              <a:rPr lang="en-US" sz="2800" b="1" u="sng" dirty="0"/>
              <a:t>Logical Expression</a:t>
            </a:r>
            <a:r>
              <a:rPr lang="en-US" sz="2800" b="1" dirty="0"/>
              <a:t>:</a:t>
            </a:r>
            <a:endParaRPr lang="en-US" sz="2800" dirty="0"/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9FAFB"/>
                </a:solidFill>
                <a:latin typeface="quote-cjk-patch"/>
              </a:rPr>
              <a:t>Logic:</a:t>
            </a:r>
            <a:r>
              <a:rPr lang="en-US" sz="2800" dirty="0">
                <a:solidFill>
                  <a:srgbClr val="F9FAFB"/>
                </a:solidFill>
                <a:latin typeface="quote-cjk-patch"/>
              </a:rPr>
              <a:t> ¬∀x (D(x) → Bark(x)), or equivalently, ∃x (D(x) ∧ ¬Bark(x)).</a:t>
            </a:r>
            <a:br>
              <a:rPr lang="en-US" sz="2800" dirty="0">
                <a:solidFill>
                  <a:srgbClr val="F9FAFB"/>
                </a:solidFill>
                <a:latin typeface="quote-cjk-patch"/>
              </a:rPr>
            </a:br>
            <a:r>
              <a:rPr lang="en-US" sz="2800" dirty="0">
                <a:solidFill>
                  <a:srgbClr val="F9FAFB"/>
                </a:solidFill>
                <a:latin typeface="quote-cjk-patch"/>
              </a:rPr>
              <a:t>This says: ‘It’s not true that every dog barks,’ or ‘There’s a dog that doesn’t bark.’</a:t>
            </a:r>
            <a:br>
              <a:rPr lang="en-US" sz="2800" dirty="0"/>
            </a:br>
            <a:r>
              <a:rPr lang="en-US" sz="2800" b="1" u="sng" dirty="0"/>
              <a:t>Vice Versa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dirty="0"/>
              <a:t>¬∃x (G(x)∧ ∀y H(y)) means: "No guest (G) knows every host (H)."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980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BFD4A1-0EB8-4075-9239-7162EDD1A079}"/>
              </a:ext>
            </a:extLst>
          </p:cNvPr>
          <p:cNvSpPr txBox="1"/>
          <p:nvPr/>
        </p:nvSpPr>
        <p:spPr>
          <a:xfrm>
            <a:off x="2100943" y="2471056"/>
            <a:ext cx="86214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10000" i="1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646790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503</TotalTime>
  <Words>512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Algerian</vt:lpstr>
      <vt:lpstr>Arial</vt:lpstr>
      <vt:lpstr>Bahnschrift Light</vt:lpstr>
      <vt:lpstr>Bodoni MT</vt:lpstr>
      <vt:lpstr>Bodoni MT Black</vt:lpstr>
      <vt:lpstr>Century Gothic</vt:lpstr>
      <vt:lpstr>quote-cjk-patch</vt:lpstr>
      <vt:lpstr>Vapor Trail</vt:lpstr>
      <vt:lpstr> Conversion of Sentences into Logical Expressions and Vice Versa</vt:lpstr>
      <vt:lpstr>topics</vt:lpstr>
      <vt:lpstr>Universal Quantifier (∀)  </vt:lpstr>
      <vt:lpstr>Existential Quantifier (∃) </vt:lpstr>
      <vt:lpstr>Nested Quantifiers </vt:lpstr>
      <vt:lpstr>Negation and Complex Sentences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Masrur Hasan</dc:creator>
  <cp:lastModifiedBy>Masrur Hasan</cp:lastModifiedBy>
  <cp:revision>6</cp:revision>
  <dcterms:created xsi:type="dcterms:W3CDTF">2025-08-16T10:52:10Z</dcterms:created>
  <dcterms:modified xsi:type="dcterms:W3CDTF">2025-09-04T09:09:55Z</dcterms:modified>
</cp:coreProperties>
</file>