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tamaran Heavy" panose="020B0604020202020204" charset="0"/>
      <p:regular r:id="rId9"/>
    </p:embeddedFont>
    <p:embeddedFont>
      <p:font typeface="Chakra Petch Bold" panose="020B0604020202020204" charset="-34"/>
      <p:regular r:id="rId10"/>
    </p:embeddedFont>
    <p:embeddedFont>
      <p:font typeface="Cambria Math" panose="02040503050406030204" pitchFamily="18" charset="0"/>
      <p:regular r:id="rId11"/>
    </p:embeddedFont>
    <p:embeddedFont>
      <p:font typeface="Chakra Petch" panose="020B0604020202020204" charset="-34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2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36787" y="0"/>
            <a:ext cx="5751213" cy="10287000"/>
          </a:xfrm>
          <a:custGeom>
            <a:avLst/>
            <a:gdLst/>
            <a:ahLst/>
            <a:cxnLst/>
            <a:rect l="l" t="t" r="r" b="b"/>
            <a:pathLst>
              <a:path w="5751213" h="10287000">
                <a:moveTo>
                  <a:pt x="0" y="0"/>
                </a:moveTo>
                <a:lnTo>
                  <a:pt x="5751213" y="0"/>
                </a:lnTo>
                <a:lnTo>
                  <a:pt x="57512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2498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33400" y="266700"/>
            <a:ext cx="9597653" cy="9753600"/>
            <a:chOff x="-660400" y="-4666453"/>
            <a:chExt cx="12796871" cy="13004801"/>
          </a:xfrm>
        </p:grpSpPr>
        <p:sp>
          <p:nvSpPr>
            <p:cNvPr id="4" name="TextBox 4"/>
            <p:cNvSpPr txBox="1"/>
            <p:nvPr/>
          </p:nvSpPr>
          <p:spPr>
            <a:xfrm>
              <a:off x="-457200" y="-4666453"/>
              <a:ext cx="12593671" cy="86895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200"/>
                </a:lnSpc>
              </a:pPr>
              <a:r>
                <a:rPr lang="en-US" sz="12000" b="1" dirty="0">
                  <a:solidFill>
                    <a:srgbClr val="204295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Predicates      And Quantifiers</a:t>
              </a:r>
            </a:p>
            <a:p>
              <a:pPr algn="l">
                <a:lnSpc>
                  <a:spcPts val="13200"/>
                </a:lnSpc>
              </a:pPr>
              <a:r>
                <a:rPr lang="en-US" sz="4400" b="1" dirty="0">
                  <a:solidFill>
                    <a:srgbClr val="204295"/>
                  </a:solidFill>
                  <a:latin typeface="Catamaran Heavy"/>
                  <a:ea typeface="Catamaran Heavy"/>
                  <a:cs typeface="Catamaran Heavy"/>
                  <a:sym typeface="Catamaran Heavy"/>
                </a:rPr>
                <a:t>Definition and example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660400" y="4351104"/>
              <a:ext cx="10576483" cy="39872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880"/>
                </a:lnSpc>
              </a:pPr>
              <a:r>
                <a:rPr lang="en-US" sz="3200" dirty="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MST.SOHELY</a:t>
              </a:r>
            </a:p>
            <a:p>
              <a:pPr algn="l">
                <a:lnSpc>
                  <a:spcPts val="5880"/>
                </a:lnSpc>
              </a:pPr>
              <a:r>
                <a:rPr lang="en-US" sz="3200" dirty="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ID:251311021</a:t>
              </a:r>
            </a:p>
            <a:p>
              <a:pPr algn="l">
                <a:lnSpc>
                  <a:spcPts val="5880"/>
                </a:lnSpc>
              </a:pPr>
              <a:r>
                <a:rPr lang="en-US" sz="3200" dirty="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36</a:t>
              </a:r>
              <a:r>
                <a:rPr lang="en-US" sz="3200" baseline="30000" dirty="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TH</a:t>
              </a:r>
              <a:r>
                <a:rPr lang="en-US" sz="3200" dirty="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 BATCH</a:t>
              </a:r>
            </a:p>
            <a:p>
              <a:pPr algn="l">
                <a:lnSpc>
                  <a:spcPts val="5880"/>
                </a:lnSpc>
              </a:pPr>
              <a:r>
                <a:rPr lang="en-US" sz="3200" dirty="0">
                  <a:solidFill>
                    <a:srgbClr val="3F60BF"/>
                  </a:solidFill>
                  <a:latin typeface="Chakra Petch"/>
                  <a:ea typeface="Chakra Petch"/>
                  <a:cs typeface="Chakra Petch"/>
                  <a:sym typeface="Chakra Petch"/>
                </a:rPr>
                <a:t>SECTION:A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B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573651" y="2566047"/>
            <a:ext cx="10294603" cy="5147302"/>
          </a:xfrm>
          <a:custGeom>
            <a:avLst/>
            <a:gdLst/>
            <a:ahLst/>
            <a:cxnLst/>
            <a:rect l="l" t="t" r="r" b="b"/>
            <a:pathLst>
              <a:path w="10294603" h="5147302">
                <a:moveTo>
                  <a:pt x="0" y="0"/>
                </a:moveTo>
                <a:lnTo>
                  <a:pt x="10294604" y="0"/>
                </a:lnTo>
                <a:lnTo>
                  <a:pt x="10294604" y="5147302"/>
                </a:lnTo>
                <a:lnTo>
                  <a:pt x="0" y="5147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AA05FD7-09B8-427F-87F7-38E47938A0A7}"/>
              </a:ext>
            </a:extLst>
          </p:cNvPr>
          <p:cNvSpPr/>
          <p:nvPr/>
        </p:nvSpPr>
        <p:spPr>
          <a:xfrm>
            <a:off x="6934200" y="1333500"/>
            <a:ext cx="66294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/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16C2DCF-26E5-44EC-87C8-368708A6E5B7}"/>
              </a:ext>
            </a:extLst>
          </p:cNvPr>
          <p:cNvSpPr/>
          <p:nvPr/>
        </p:nvSpPr>
        <p:spPr>
          <a:xfrm>
            <a:off x="5715000" y="2781300"/>
            <a:ext cx="9067800" cy="6324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In logic and mathematics, </a:t>
            </a:r>
            <a:r>
              <a:rPr lang="en-US" sz="4400" b="1" dirty="0"/>
              <a:t>predicates</a:t>
            </a:r>
            <a:r>
              <a:rPr lang="en-US" sz="4400" dirty="0"/>
              <a:t> and </a:t>
            </a:r>
            <a:r>
              <a:rPr lang="en-US" sz="4400" b="1" dirty="0"/>
              <a:t>quantifiers</a:t>
            </a:r>
            <a:r>
              <a:rPr lang="en-US" sz="4400" dirty="0"/>
              <a:t> are used to form precise statements.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They help us express properties and relationships clearly.</a:t>
            </a:r>
          </a:p>
          <a:p>
            <a:endParaRPr lang="en-US" sz="4400" dirty="0"/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38921" y="1311720"/>
            <a:ext cx="497140" cy="49714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5BDFF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10850399" y="4646360"/>
            <a:ext cx="497140" cy="497140"/>
          </a:xfrm>
          <a:prstGeom prst="rect">
            <a:avLst/>
          </a:prstGeom>
          <a:solidFill>
            <a:srgbClr val="E8EEFF"/>
          </a:solidFill>
        </p:spPr>
      </p:sp>
      <p:sp>
        <p:nvSpPr>
          <p:cNvPr id="6" name="AutoShape 6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204295"/>
          </a:solidFill>
        </p:spPr>
      </p:sp>
      <p:sp>
        <p:nvSpPr>
          <p:cNvPr id="7" name="TextBox 7"/>
          <p:cNvSpPr txBox="1"/>
          <p:nvPr/>
        </p:nvSpPr>
        <p:spPr>
          <a:xfrm>
            <a:off x="955603" y="4048125"/>
            <a:ext cx="6870566" cy="117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600" b="1" spc="144" dirty="0">
                <a:solidFill>
                  <a:srgbClr val="A5BDFF"/>
                </a:solidFill>
                <a:latin typeface="Chakra Petch Bold"/>
                <a:ea typeface="Chakra Petch Bold"/>
                <a:cs typeface="Chakra Petch Bold"/>
                <a:sym typeface="Chakra Petch Bold"/>
              </a:rPr>
              <a:t>PREDICATE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972925" y="1301980"/>
            <a:ext cx="5331661" cy="899723"/>
            <a:chOff x="0" y="-47625"/>
            <a:chExt cx="7019981" cy="1199630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7019981" cy="552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endParaRPr lang="en-US" sz="2400" b="1" dirty="0">
                <a:solidFill>
                  <a:srgbClr val="A5BDFF"/>
                </a:solidFill>
                <a:latin typeface="Chakra Petch Bold"/>
                <a:ea typeface="Chakra Petch Bold"/>
                <a:cs typeface="Chakra Petch Bold"/>
                <a:sym typeface="Chakra Petch 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13909"/>
              <a:ext cx="7019981" cy="538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endParaRPr lang="en-US" sz="2100" dirty="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636397" y="4556708"/>
            <a:ext cx="5264986" cy="721661"/>
            <a:chOff x="0" y="613908"/>
            <a:chExt cx="7019981" cy="96221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45693"/>
              <a:ext cx="7019981" cy="6304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4000" b="1" dirty="0">
                  <a:solidFill>
                    <a:srgbClr val="A5BDFF"/>
                  </a:solidFill>
                  <a:latin typeface="Chakra Petch Bold"/>
                  <a:ea typeface="Chakra Petch Bold"/>
                  <a:cs typeface="Chakra Petch Bold"/>
                  <a:sym typeface="Chakra Petch Bold"/>
                </a:rPr>
                <a:t>Example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13908"/>
              <a:ext cx="7019981" cy="538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endParaRPr lang="en-US" sz="2100" dirty="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636397" y="6819900"/>
            <a:ext cx="5264986" cy="899722"/>
            <a:chOff x="0" y="-47625"/>
            <a:chExt cx="7019981" cy="1199629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47625"/>
              <a:ext cx="7019981" cy="552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endParaRPr lang="en-US" sz="2400" b="1" dirty="0">
                <a:solidFill>
                  <a:srgbClr val="A5BDFF"/>
                </a:solidFill>
                <a:latin typeface="Chakra Petch Bold"/>
                <a:ea typeface="Chakra Petch Bold"/>
                <a:cs typeface="Chakra Petch Bold"/>
                <a:sym typeface="Chakra Petch Bold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613908"/>
              <a:ext cx="7019981" cy="538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endParaRPr lang="en-US" sz="2100" dirty="0">
                <a:solidFill>
                  <a:srgbClr val="204295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</p:grpSp>
      <p:sp>
        <p:nvSpPr>
          <p:cNvPr id="20" name="Rectangle 4">
            <a:extLst>
              <a:ext uri="{FF2B5EF4-FFF2-40B4-BE49-F238E27FC236}">
                <a16:creationId xmlns:a16="http://schemas.microsoft.com/office/drawing/2014/main" xmlns="" id="{800A6329-3CD5-4422-9D93-C9087E7C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897" y="167431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xmlns="" id="{2E339694-F975-427D-BC9E-FB66557CD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7539" y="926178"/>
            <a:ext cx="69675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predicate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statement containing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becomes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or false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we assign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1E951203-701F-406F-809C-1A5479B80734}"/>
              </a:ext>
            </a:extLst>
          </p:cNvPr>
          <p:cNvSpPr/>
          <p:nvPr/>
        </p:nvSpPr>
        <p:spPr>
          <a:xfrm>
            <a:off x="11811000" y="5829300"/>
            <a:ext cx="5493586" cy="403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F2AC091-8EE4-4894-A7FD-47C4778427FF}"/>
              </a:ext>
            </a:extLst>
          </p:cNvPr>
          <p:cNvSpPr txBox="1"/>
          <p:nvPr/>
        </p:nvSpPr>
        <p:spPr>
          <a:xfrm>
            <a:off x="11036061" y="5781441"/>
            <a:ext cx="44325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P(x):x&gt;5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If x=7   →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If x=3   → False</a:t>
            </a:r>
          </a:p>
          <a:p>
            <a:pPr lvl="4"/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B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52800" y="1638300"/>
            <a:ext cx="9906000" cy="1524000"/>
            <a:chOff x="660401" y="-4240672"/>
            <a:chExt cx="16002000" cy="9525000"/>
          </a:xfrm>
        </p:grpSpPr>
        <p:sp>
          <p:nvSpPr>
            <p:cNvPr id="3" name="TextBox 3"/>
            <p:cNvSpPr txBox="1"/>
            <p:nvPr/>
          </p:nvSpPr>
          <p:spPr>
            <a:xfrm>
              <a:off x="1168401" y="4376900"/>
              <a:ext cx="9391657" cy="907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US" dirty="0"/>
            </a:p>
            <a:p>
              <a:pPr algn="l">
                <a:lnSpc>
                  <a:spcPts val="3360"/>
                </a:lnSpc>
              </a:pPr>
              <a:endParaRPr lang="en-US" sz="2100" dirty="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0401" y="-4240672"/>
              <a:ext cx="16002000" cy="92333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6000" b="1" dirty="0">
                  <a:solidFill>
                    <a:schemeClr val="tx2"/>
                  </a:solidFill>
                </a:rPr>
                <a:t>Types of Predicates</a:t>
              </a:r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5" name="Freeform 5"/>
          <p:cNvSpPr/>
          <p:nvPr/>
        </p:nvSpPr>
        <p:spPr>
          <a:xfrm>
            <a:off x="13144500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>
            <a:off x="13144500" y="514350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2792CF3-94BE-4BD7-BBBD-76141C209235}"/>
              </a:ext>
            </a:extLst>
          </p:cNvPr>
          <p:cNvSpPr/>
          <p:nvPr/>
        </p:nvSpPr>
        <p:spPr>
          <a:xfrm>
            <a:off x="762000" y="3848100"/>
            <a:ext cx="10134600" cy="5715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1.     One place  predicate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                      ***Property of one variable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                   Example :   p(x):x is prime</a:t>
            </a:r>
          </a:p>
          <a:p>
            <a:pPr algn="ctr"/>
            <a:endParaRPr lang="en-US" sz="4000" dirty="0">
              <a:solidFill>
                <a:schemeClr val="bg1"/>
              </a:solidFill>
            </a:endParaRP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2.     Two place predicate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                         ***Relation between two variable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               Example : Q(x , y): x&lt;y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2590800" y="1439247"/>
            <a:ext cx="12705324" cy="1226344"/>
          </a:xfrm>
          <a:prstGeom prst="rect">
            <a:avLst/>
          </a:prstGeom>
          <a:no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1" dirty="0">
                <a:solidFill>
                  <a:srgbClr val="A5BDFF"/>
                </a:solidFill>
                <a:latin typeface="Catamaran Heavy"/>
                <a:ea typeface="Catamaran Heavy"/>
                <a:cs typeface="Catamaran Heavy"/>
                <a:sym typeface="Catamaran Heavy"/>
              </a:rPr>
              <a:t>Quantifier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813506" y="8674780"/>
            <a:ext cx="4660989" cy="285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AutoShape 16"/>
          <p:cNvSpPr/>
          <p:nvPr/>
        </p:nvSpPr>
        <p:spPr>
          <a:xfrm>
            <a:off x="12760236" y="7315635"/>
            <a:ext cx="4660989" cy="285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AutoShape 17"/>
          <p:cNvSpPr/>
          <p:nvPr/>
        </p:nvSpPr>
        <p:spPr>
          <a:xfrm>
            <a:off x="12760236" y="7950746"/>
            <a:ext cx="4660989" cy="285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AutoShape 18"/>
          <p:cNvSpPr/>
          <p:nvPr/>
        </p:nvSpPr>
        <p:spPr>
          <a:xfrm>
            <a:off x="12760236" y="8674780"/>
            <a:ext cx="4660989" cy="285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Box 19"/>
          <p:cNvSpPr txBox="1"/>
          <p:nvPr/>
        </p:nvSpPr>
        <p:spPr>
          <a:xfrm>
            <a:off x="12760236" y="5387540"/>
            <a:ext cx="4660989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100" dirty="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Question 2: Write the question you want to ask your students and allot space for the answers.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xmlns="" id="{8B1AF3A8-1EF2-4D3C-A661-9FE1A13D9EDB}"/>
                  </a:ext>
                </a:extLst>
              </p:cNvPr>
              <p:cNvSpPr/>
              <p:nvPr/>
            </p:nvSpPr>
            <p:spPr>
              <a:xfrm>
                <a:off x="10198994" y="3621007"/>
                <a:ext cx="8089006" cy="66374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4000" b="1" dirty="0">
                    <a:solidFill>
                      <a:schemeClr val="tx1"/>
                    </a:solidFill>
                  </a:rPr>
                  <a:t>Examples of Quantifiers</a:t>
                </a:r>
              </a:p>
              <a:p>
                <a:endParaRPr lang="en-US" sz="2800" b="1" dirty="0">
                  <a:solidFill>
                    <a:schemeClr val="tx1"/>
                  </a:solidFill>
                </a:endParaRPr>
              </a:p>
              <a:p>
                <a:endParaRPr lang="en-US" sz="2800" b="1" dirty="0">
                  <a:solidFill>
                    <a:schemeClr val="tx1"/>
                  </a:solidFill>
                </a:endParaRPr>
              </a:p>
              <a:p>
                <a:r>
                  <a:rPr lang="en-US" sz="3600" b="1" dirty="0">
                    <a:solidFill>
                      <a:schemeClr val="tx1"/>
                    </a:solidFill>
                  </a:rPr>
                  <a:t>Universal (∀):</a:t>
                </a:r>
                <a:endParaRPr lang="en-US" sz="3600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∀ x ∈ N   ,x+0=x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True for all natural numbers.</a:t>
                </a:r>
              </a:p>
              <a:p>
                <a:r>
                  <a:rPr lang="en-US" sz="3600" b="1" dirty="0">
                    <a:solidFill>
                      <a:schemeClr val="tx1"/>
                    </a:solidFill>
                  </a:rPr>
                  <a:t>Existential (∃):</a:t>
                </a:r>
                <a:endParaRPr lang="en-US" sz="3600" dirty="0">
                  <a:solidFill>
                    <a:schemeClr val="tx1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∃x∈N,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chemeClr val="tx1"/>
                    </a:solidFill>
                  </a:rPr>
                  <a:t>=25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True because x=5.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B1AF3A8-1EF2-4D3C-A661-9FE1A13D9E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994" y="3621007"/>
                <a:ext cx="8089006" cy="6637418"/>
              </a:xfrm>
              <a:prstGeom prst="rect">
                <a:avLst/>
              </a:prstGeom>
              <a:blipFill>
                <a:blip r:embed="rId2"/>
                <a:stretch>
                  <a:fillRect l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09D5BA3-F8DC-464A-964E-F3D2A533E7C6}"/>
              </a:ext>
            </a:extLst>
          </p:cNvPr>
          <p:cNvSpPr/>
          <p:nvPr/>
        </p:nvSpPr>
        <p:spPr>
          <a:xfrm>
            <a:off x="0" y="3649582"/>
            <a:ext cx="8229600" cy="6637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Quantifiers</a:t>
            </a:r>
            <a:r>
              <a:rPr lang="en-US" sz="3600" dirty="0">
                <a:solidFill>
                  <a:schemeClr val="tx1"/>
                </a:solidFill>
              </a:rPr>
              <a:t> tell us how many objects satisfy a predicate.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tx1"/>
              </a:solidFill>
            </a:endParaRPr>
          </a:p>
          <a:p>
            <a:endParaRPr lang="en-US" sz="3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Two main 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Universal Quantifier (∀)</a:t>
            </a:r>
            <a:r>
              <a:rPr lang="en-US" sz="3600" dirty="0">
                <a:solidFill>
                  <a:schemeClr val="tx1"/>
                </a:solidFill>
              </a:rPr>
              <a:t> – “for all”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Existential Quantifier (∃)</a:t>
            </a:r>
            <a:r>
              <a:rPr lang="en-US" sz="3600" dirty="0">
                <a:solidFill>
                  <a:schemeClr val="tx1"/>
                </a:solidFill>
              </a:rPr>
              <a:t> – “there exists”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B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48600" y="2324100"/>
            <a:ext cx="8115300" cy="1102866"/>
            <a:chOff x="0" y="0"/>
            <a:chExt cx="10820400" cy="6200664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0820400" cy="6200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40"/>
                </a:lnSpc>
              </a:pPr>
              <a:r>
                <a:rPr lang="en-US" sz="7200" dirty="0">
                  <a:solidFill>
                    <a:schemeClr val="bg1"/>
                  </a:solidFill>
                </a:rPr>
                <a:t>Summary</a:t>
              </a:r>
              <a:endParaRPr lang="en-US" sz="7200" b="1" spc="144" dirty="0">
                <a:solidFill>
                  <a:schemeClr val="bg1"/>
                </a:solidFill>
                <a:latin typeface="Chakra Petch Bold"/>
                <a:ea typeface="Chakra Petch Bold"/>
                <a:cs typeface="Chakra Petch Bold"/>
                <a:sym typeface="Chakra Petch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134745"/>
              <a:ext cx="7434663" cy="538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endParaRPr lang="en-US" sz="2100" dirty="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0" y="0"/>
            <a:ext cx="5751213" cy="10287000"/>
          </a:xfrm>
          <a:custGeom>
            <a:avLst/>
            <a:gdLst/>
            <a:ahLst/>
            <a:cxnLst/>
            <a:rect l="l" t="t" r="r" b="b"/>
            <a:pathLst>
              <a:path w="5751213" h="10287000">
                <a:moveTo>
                  <a:pt x="0" y="0"/>
                </a:moveTo>
                <a:lnTo>
                  <a:pt x="5751213" y="0"/>
                </a:lnTo>
                <a:lnTo>
                  <a:pt x="57512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r="-124989"/>
            </a:stretch>
          </a:blipFill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91ABF9E-E6D0-4DD1-BA30-BF66941E3301}"/>
              </a:ext>
            </a:extLst>
          </p:cNvPr>
          <p:cNvSpPr/>
          <p:nvPr/>
        </p:nvSpPr>
        <p:spPr>
          <a:xfrm>
            <a:off x="7583788" y="2324100"/>
            <a:ext cx="99060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4000" b="1" dirty="0"/>
              <a:t>Predicate</a:t>
            </a:r>
            <a:r>
              <a:rPr lang="en-US" sz="4000" dirty="0"/>
              <a:t> → Statement with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b="1" dirty="0"/>
              <a:t>Quantifiers</a:t>
            </a:r>
            <a:r>
              <a:rPr lang="en-US" sz="4000" dirty="0"/>
              <a:t> → Define scope of the predicate.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/>
              <a:t>∀ → True for all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dirty="0"/>
              <a:t>∃ → True for at least one value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42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200955" y="5873065"/>
            <a:ext cx="4558946" cy="4413935"/>
          </a:xfrm>
          <a:custGeom>
            <a:avLst/>
            <a:gdLst/>
            <a:ahLst/>
            <a:cxnLst/>
            <a:rect l="l" t="t" r="r" b="b"/>
            <a:pathLst>
              <a:path w="4558946" h="4413935">
                <a:moveTo>
                  <a:pt x="0" y="0"/>
                </a:moveTo>
                <a:lnTo>
                  <a:pt x="4558946" y="0"/>
                </a:lnTo>
                <a:lnTo>
                  <a:pt x="4558946" y="4413935"/>
                </a:lnTo>
                <a:lnTo>
                  <a:pt x="0" y="441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818" b="-4130"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573000" y="4300404"/>
            <a:ext cx="1372628" cy="11812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F2B0918-FA51-4A78-8A25-5AF397268B7C}"/>
              </a:ext>
            </a:extLst>
          </p:cNvPr>
          <p:cNvSpPr/>
          <p:nvPr/>
        </p:nvSpPr>
        <p:spPr>
          <a:xfrm>
            <a:off x="6106553" y="3009900"/>
            <a:ext cx="6934200" cy="243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228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Catamaran Heavy</vt:lpstr>
      <vt:lpstr>Chakra Petch Bold</vt:lpstr>
      <vt:lpstr>Arial</vt:lpstr>
      <vt:lpstr>Cambria Math</vt:lpstr>
      <vt:lpstr>Chakra Petch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Geometric Mathematics Class Education Presentation</dc:title>
  <cp:lastModifiedBy>Microsoft account</cp:lastModifiedBy>
  <cp:revision>7</cp:revision>
  <dcterms:created xsi:type="dcterms:W3CDTF">2006-08-16T00:00:00Z</dcterms:created>
  <dcterms:modified xsi:type="dcterms:W3CDTF">2025-09-04T06:05:26Z</dcterms:modified>
  <dc:identifier>DAGxdffHDJU</dc:identifier>
</cp:coreProperties>
</file>