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67" r:id="rId4"/>
    <p:sldId id="283" r:id="rId5"/>
    <p:sldId id="276" r:id="rId6"/>
    <p:sldId id="277" r:id="rId7"/>
    <p:sldId id="282" r:id="rId8"/>
    <p:sldId id="275" r:id="rId9"/>
    <p:sldId id="270" r:id="rId10"/>
    <p:sldId id="279" r:id="rId11"/>
    <p:sldId id="280" r:id="rId12"/>
    <p:sldId id="281" r:id="rId13"/>
    <p:sldId id="278" r:id="rId14"/>
    <p:sldId id="265" r:id="rId15"/>
  </p:sldIdLst>
  <p:sldSz cx="18288000" cy="10287000"/>
  <p:notesSz cx="6858000" cy="9144000"/>
  <p:embeddedFontLst>
    <p:embeddedFont>
      <p:font typeface="Akzidenz-Grotesk Heavy" panose="020B0604020202020204" charset="0"/>
      <p:regular r:id="rId16"/>
    </p:embeddedFont>
    <p:embeddedFont>
      <p:font typeface="Aileron Heavy" panose="020B0604020202020204" charset="0"/>
      <p:regular r:id="rId17"/>
    </p:embeddedFont>
    <p:embeddedFont>
      <p:font typeface="Barlow Condensed Heavy" panose="020B0604020202020204" charset="0"/>
      <p:regular r:id="rId18"/>
    </p:embeddedFont>
    <p:embeddedFont>
      <p:font typeface="Arial Black" panose="020B0A04020102020204" pitchFamily="34" charset="0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Aileron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34" autoAdjust="0"/>
    <p:restoredTop sz="94622" autoAdjust="0"/>
  </p:normalViewPr>
  <p:slideViewPr>
    <p:cSldViewPr>
      <p:cViewPr varScale="1">
        <p:scale>
          <a:sx n="61" d="100"/>
          <a:sy n="61" d="100"/>
        </p:scale>
        <p:origin x="7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12" Type="http://schemas.openxmlformats.org/officeDocument/2006/relationships/image" Target="../media/image1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4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4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-3195849"/>
            <a:ext cx="1447800" cy="13487400"/>
            <a:chOff x="0" y="0"/>
            <a:chExt cx="683291" cy="1208427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683291" cy="1208427"/>
            </a:xfrm>
            <a:custGeom>
              <a:avLst/>
              <a:gdLst/>
              <a:ahLst/>
              <a:cxnLst/>
              <a:rect l="l" t="t" r="r" b="b"/>
              <a:pathLst>
                <a:path w="683291" h="1208427">
                  <a:moveTo>
                    <a:pt x="152190" y="0"/>
                  </a:moveTo>
                  <a:lnTo>
                    <a:pt x="531100" y="0"/>
                  </a:lnTo>
                  <a:cubicBezTo>
                    <a:pt x="571464" y="0"/>
                    <a:pt x="610174" y="16034"/>
                    <a:pt x="638715" y="44576"/>
                  </a:cubicBezTo>
                  <a:cubicBezTo>
                    <a:pt x="667256" y="73117"/>
                    <a:pt x="683291" y="111827"/>
                    <a:pt x="683291" y="152190"/>
                  </a:cubicBezTo>
                  <a:lnTo>
                    <a:pt x="683291" y="1056237"/>
                  </a:lnTo>
                  <a:cubicBezTo>
                    <a:pt x="683291" y="1096600"/>
                    <a:pt x="667256" y="1135310"/>
                    <a:pt x="638715" y="1163852"/>
                  </a:cubicBezTo>
                  <a:cubicBezTo>
                    <a:pt x="610174" y="1192393"/>
                    <a:pt x="571464" y="1208427"/>
                    <a:pt x="531100" y="1208427"/>
                  </a:cubicBezTo>
                  <a:lnTo>
                    <a:pt x="152190" y="1208427"/>
                  </a:lnTo>
                  <a:cubicBezTo>
                    <a:pt x="111827" y="1208427"/>
                    <a:pt x="73117" y="1192393"/>
                    <a:pt x="44576" y="1163852"/>
                  </a:cubicBezTo>
                  <a:cubicBezTo>
                    <a:pt x="16034" y="1135310"/>
                    <a:pt x="0" y="1096600"/>
                    <a:pt x="0" y="1056237"/>
                  </a:cubicBezTo>
                  <a:lnTo>
                    <a:pt x="0" y="152190"/>
                  </a:lnTo>
                  <a:cubicBezTo>
                    <a:pt x="0" y="111827"/>
                    <a:pt x="16034" y="73117"/>
                    <a:pt x="44576" y="44576"/>
                  </a:cubicBezTo>
                  <a:cubicBezTo>
                    <a:pt x="73117" y="16034"/>
                    <a:pt x="111827" y="0"/>
                    <a:pt x="152190" y="0"/>
                  </a:cubicBezTo>
                  <a:close/>
                </a:path>
              </a:pathLst>
            </a:custGeom>
            <a:grpFill/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83291" cy="12560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793807" y="2513020"/>
            <a:ext cx="10769793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64"/>
              </a:lnSpc>
            </a:pPr>
            <a:r>
              <a:rPr lang="en-US" sz="9600" b="1" dirty="0" smtClean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Discrete Mathematics</a:t>
            </a:r>
            <a:endParaRPr lang="en-US" sz="9600" b="1" dirty="0">
              <a:solidFill>
                <a:srgbClr val="0E2F5F"/>
              </a:solidFill>
              <a:latin typeface="Barlow Condensed Heavy"/>
              <a:ea typeface="Barlow Condensed Heavy"/>
              <a:cs typeface="Barlow Condensed Heavy"/>
              <a:sym typeface="Barlow Condensed Heavy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793807" y="4094159"/>
            <a:ext cx="4064193" cy="583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40"/>
              </a:lnSpc>
            </a:pPr>
            <a:r>
              <a:rPr lang="en-US" sz="2400" b="1" dirty="0" smtClean="0">
                <a:solidFill>
                  <a:schemeClr val="accent1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Course Code : CSE-1203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535400" y="9105900"/>
            <a:ext cx="1295400" cy="457200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/>
          <p:cNvSpPr txBox="1"/>
          <p:nvPr/>
        </p:nvSpPr>
        <p:spPr>
          <a:xfrm>
            <a:off x="2763672" y="4991100"/>
            <a:ext cx="66851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</a:rPr>
              <a:t>Presented By:</a:t>
            </a:r>
          </a:p>
          <a:p>
            <a:r>
              <a:rPr lang="en-US" sz="2400" b="1" dirty="0" err="1" smtClean="0">
                <a:solidFill>
                  <a:schemeClr val="accent1"/>
                </a:solidFill>
              </a:rPr>
              <a:t>Mst</a:t>
            </a:r>
            <a:r>
              <a:rPr lang="en-US" sz="2400" b="1" dirty="0" smtClean="0">
                <a:solidFill>
                  <a:schemeClr val="accent1"/>
                </a:solidFill>
              </a:rPr>
              <a:t>. Marina Akhter</a:t>
            </a:r>
          </a:p>
          <a:p>
            <a:r>
              <a:rPr lang="en-US" sz="2400" b="1" dirty="0" smtClean="0">
                <a:solidFill>
                  <a:schemeClr val="accent1"/>
                </a:solidFill>
              </a:rPr>
              <a:t>ID: 251311012</a:t>
            </a:r>
          </a:p>
          <a:p>
            <a:r>
              <a:rPr lang="en-US" sz="2400" b="1" dirty="0" smtClean="0">
                <a:solidFill>
                  <a:schemeClr val="accent1"/>
                </a:solidFill>
              </a:rPr>
              <a:t>Department of Computer Science and Engineering</a:t>
            </a:r>
          </a:p>
          <a:p>
            <a:r>
              <a:rPr lang="en-US" sz="2400" b="1" dirty="0" err="1" smtClean="0">
                <a:solidFill>
                  <a:schemeClr val="accent1"/>
                </a:solidFill>
              </a:rPr>
              <a:t>Varendra</a:t>
            </a:r>
            <a:r>
              <a:rPr lang="en-US" sz="2400" b="1" dirty="0" smtClean="0">
                <a:solidFill>
                  <a:schemeClr val="accent1"/>
                </a:solidFill>
              </a:rPr>
              <a:t> University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400" y="982130"/>
            <a:ext cx="18745200" cy="1339307"/>
            <a:chOff x="0" y="0"/>
            <a:chExt cx="4816593" cy="1552548"/>
          </a:xfrm>
          <a:solidFill>
            <a:schemeClr val="accent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52548"/>
            </a:xfrm>
            <a:custGeom>
              <a:avLst/>
              <a:gdLst/>
              <a:ahLst/>
              <a:cxnLst/>
              <a:rect l="l" t="t" r="r" b="b"/>
              <a:pathLst>
                <a:path w="4816592" h="1552548">
                  <a:moveTo>
                    <a:pt x="0" y="0"/>
                  </a:moveTo>
                  <a:lnTo>
                    <a:pt x="4816592" y="0"/>
                  </a:lnTo>
                  <a:lnTo>
                    <a:pt x="4816592" y="1552548"/>
                  </a:lnTo>
                  <a:lnTo>
                    <a:pt x="0" y="1552548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0017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819331" y="1267062"/>
            <a:ext cx="586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Today’s Topic: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Freeform 13"/>
          <p:cNvSpPr/>
          <p:nvPr/>
        </p:nvSpPr>
        <p:spPr>
          <a:xfrm>
            <a:off x="3034123" y="3204087"/>
            <a:ext cx="515391" cy="525777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/>
          <p:cNvSpPr txBox="1"/>
          <p:nvPr/>
        </p:nvSpPr>
        <p:spPr>
          <a:xfrm flipH="1">
            <a:off x="3810000" y="3234035"/>
            <a:ext cx="53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What is the Truth Table.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36081" y="341895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3776472" y="4705081"/>
            <a:ext cx="8701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Truth Table for Compound proposition.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 flipH="1">
            <a:off x="3803904" y="6210300"/>
            <a:ext cx="1199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Prove Tautology, Contradiction and Contingency using truth table.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39" name="Freeform 19"/>
          <p:cNvSpPr/>
          <p:nvPr/>
        </p:nvSpPr>
        <p:spPr>
          <a:xfrm>
            <a:off x="16535400" y="9105900"/>
            <a:ext cx="1295400" cy="457200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/>
          <p:cNvSpPr txBox="1"/>
          <p:nvPr/>
        </p:nvSpPr>
        <p:spPr>
          <a:xfrm flipH="1">
            <a:off x="3803904" y="3957271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Compound proposition.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flipH="1">
            <a:off x="3776472" y="5447451"/>
            <a:ext cx="8701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Tautology, Contradiction and Contingency.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8" name="Freeform 13"/>
          <p:cNvSpPr/>
          <p:nvPr/>
        </p:nvSpPr>
        <p:spPr>
          <a:xfrm>
            <a:off x="3034123" y="3931923"/>
            <a:ext cx="515391" cy="525777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3"/>
          <p:cNvSpPr/>
          <p:nvPr/>
        </p:nvSpPr>
        <p:spPr>
          <a:xfrm>
            <a:off x="3034122" y="4667087"/>
            <a:ext cx="515391" cy="525777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13"/>
          <p:cNvSpPr/>
          <p:nvPr/>
        </p:nvSpPr>
        <p:spPr>
          <a:xfrm>
            <a:off x="3034121" y="5423591"/>
            <a:ext cx="515391" cy="525777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13"/>
          <p:cNvSpPr/>
          <p:nvPr/>
        </p:nvSpPr>
        <p:spPr>
          <a:xfrm>
            <a:off x="3034121" y="6210300"/>
            <a:ext cx="515391" cy="525777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8378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6" grpId="0"/>
      <p:bldP spid="37" grpId="0"/>
      <p:bldP spid="14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609600" y="2278606"/>
            <a:ext cx="19336824" cy="7509358"/>
            <a:chOff x="0" y="0"/>
            <a:chExt cx="3829591" cy="8065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722624" y="543323"/>
            <a:ext cx="21562872" cy="1223214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71599" y="3066093"/>
            <a:ext cx="3172350" cy="401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4000" b="1" dirty="0" smtClean="0">
                <a:solidFill>
                  <a:srgbClr val="0E2F5F"/>
                </a:solidFill>
                <a:ea typeface="Aileron Bold"/>
                <a:cs typeface="Aileron Bold"/>
                <a:sym typeface="Aileron Bold"/>
              </a:rPr>
              <a:t>Definition</a:t>
            </a:r>
            <a:r>
              <a:rPr lang="en-US" sz="4000" b="1" dirty="0" smtClean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:</a:t>
            </a:r>
            <a:endParaRPr lang="en-US" sz="4000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04939" y="876300"/>
            <a:ext cx="6217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What is Truth Table?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599" y="800100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21"/>
          <p:cNvSpPr txBox="1"/>
          <p:nvPr/>
        </p:nvSpPr>
        <p:spPr>
          <a:xfrm>
            <a:off x="1371599" y="3654504"/>
            <a:ext cx="1582189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dirty="0">
                <a:solidFill>
                  <a:schemeClr val="tx2"/>
                </a:solidFill>
              </a:rPr>
              <a:t>A </a:t>
            </a:r>
            <a:r>
              <a:rPr lang="en-US" sz="3600" b="1" dirty="0">
                <a:solidFill>
                  <a:schemeClr val="tx2"/>
                </a:solidFill>
              </a:rPr>
              <a:t>truth table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 smtClean="0">
                <a:solidFill>
                  <a:schemeClr val="tx2"/>
                </a:solidFill>
              </a:rPr>
              <a:t>is </a:t>
            </a:r>
            <a:r>
              <a:rPr lang="en-US" sz="3600" dirty="0">
                <a:solidFill>
                  <a:schemeClr val="tx2"/>
                </a:solidFill>
              </a:rPr>
              <a:t>a systematic way of listing all possible truth values of a proposition or a logical statement.</a:t>
            </a:r>
            <a:endParaRPr lang="en-US" sz="3600" b="1" dirty="0">
              <a:solidFill>
                <a:schemeClr val="tx2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3" name="TextBox 21"/>
          <p:cNvSpPr txBox="1"/>
          <p:nvPr/>
        </p:nvSpPr>
        <p:spPr>
          <a:xfrm>
            <a:off x="1371599" y="5345311"/>
            <a:ext cx="15821894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dirty="0">
                <a:solidFill>
                  <a:schemeClr val="tx2"/>
                </a:solidFill>
              </a:rPr>
              <a:t>For </a:t>
            </a:r>
            <a:r>
              <a:rPr lang="en-US" sz="3600" dirty="0" smtClean="0">
                <a:solidFill>
                  <a:schemeClr val="tx2"/>
                </a:solidFill>
              </a:rPr>
              <a:t>example:</a:t>
            </a:r>
          </a:p>
          <a:p>
            <a:r>
              <a:rPr lang="en-US" sz="3600" dirty="0" smtClean="0">
                <a:solidFill>
                  <a:schemeClr val="tx2"/>
                </a:solidFill>
              </a:rPr>
              <a:t>Let </a:t>
            </a:r>
            <a:r>
              <a:rPr lang="en-US" sz="3600" dirty="0">
                <a:solidFill>
                  <a:schemeClr val="tx2"/>
                </a:solidFill>
              </a:rPr>
              <a:t>us take two propositions p and q.</a:t>
            </a:r>
          </a:p>
          <a:p>
            <a:r>
              <a:rPr lang="en-US" sz="3600" dirty="0">
                <a:solidFill>
                  <a:schemeClr val="tx2"/>
                </a:solidFill>
              </a:rPr>
              <a:t>If p is True and q is True, then p ∧ q is also True.</a:t>
            </a:r>
          </a:p>
          <a:p>
            <a:r>
              <a:rPr lang="en-US" sz="3600" dirty="0">
                <a:solidFill>
                  <a:schemeClr val="tx2"/>
                </a:solidFill>
              </a:rPr>
              <a:t>If either one is False, then p ∧ q becomes False</a:t>
            </a:r>
          </a:p>
          <a:p>
            <a:pPr algn="just"/>
            <a:endParaRPr lang="en-US" sz="3600" b="1" dirty="0">
              <a:solidFill>
                <a:schemeClr val="tx2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554928"/>
              </p:ext>
            </p:extLst>
          </p:nvPr>
        </p:nvGraphicFramePr>
        <p:xfrm>
          <a:off x="10933946" y="4991100"/>
          <a:ext cx="5220454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0227"/>
                <a:gridCol w="2610227"/>
              </a:tblGrid>
              <a:tr h="50886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p                 </a:t>
                      </a:r>
                      <a:r>
                        <a:rPr lang="en-US" sz="2400" b="1" baseline="0" dirty="0" smtClean="0"/>
                        <a:t> q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p</a:t>
                      </a:r>
                      <a:r>
                        <a:rPr lang="en-US" sz="2400" b="1" baseline="0" dirty="0" smtClean="0"/>
                        <a:t> ʌ q</a:t>
                      </a:r>
                      <a:endParaRPr lang="en-US" sz="2400" b="1" dirty="0"/>
                    </a:p>
                  </a:txBody>
                  <a:tcPr/>
                </a:tc>
              </a:tr>
              <a:tr h="482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F                  </a:t>
                      </a:r>
                      <a:r>
                        <a:rPr lang="en-US" sz="24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482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F                  T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482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T                   F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482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T                   </a:t>
                      </a:r>
                      <a:r>
                        <a:rPr lang="en-US" sz="24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61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1885086" y="571500"/>
            <a:ext cx="21562872" cy="1203142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86000" y="8763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Truth Table for </a:t>
            </a:r>
            <a:r>
              <a:rPr lang="en-US" sz="3200" b="1" dirty="0">
                <a:solidFill>
                  <a:schemeClr val="bg1"/>
                </a:solidFill>
              </a:rPr>
              <a:t>C</a:t>
            </a:r>
            <a:r>
              <a:rPr lang="en-US" sz="3200" b="1" dirty="0" smtClean="0">
                <a:solidFill>
                  <a:schemeClr val="bg1"/>
                </a:solidFill>
              </a:rPr>
              <a:t>ompound proposition :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876300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1371600" y="2079442"/>
            <a:ext cx="1242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Construct the truth table of the Compound proposition :  (p v ¬q) → (p ʌ q) </a:t>
            </a:r>
            <a:endParaRPr lang="en-US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524000" y="2907462"/>
          <a:ext cx="12420599" cy="299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843"/>
                <a:gridCol w="2014151"/>
                <a:gridCol w="2163348"/>
                <a:gridCol w="2387142"/>
                <a:gridCol w="3506115"/>
              </a:tblGrid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            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¬q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 v ¬q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 ʌ 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(p v ¬q ) → (p ʌ q)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   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              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    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24000" y="6293889"/>
            <a:ext cx="10439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Let, two basic proposition </a:t>
            </a:r>
            <a:r>
              <a:rPr lang="en-US" sz="2400" b="1" dirty="0" smtClean="0">
                <a:solidFill>
                  <a:schemeClr val="tx2"/>
                </a:solidFill>
              </a:rPr>
              <a:t>p</a:t>
            </a:r>
            <a:r>
              <a:rPr lang="en-US" sz="2400" dirty="0" smtClean="0">
                <a:solidFill>
                  <a:schemeClr val="tx2"/>
                </a:solidFill>
              </a:rPr>
              <a:t> and </a:t>
            </a:r>
            <a:r>
              <a:rPr lang="en-US" sz="2400" b="1" dirty="0" smtClean="0">
                <a:solidFill>
                  <a:schemeClr val="tx2"/>
                </a:solidFill>
              </a:rPr>
              <a:t>q.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¬q: </a:t>
            </a:r>
            <a:r>
              <a:rPr lang="en-US" sz="2400" dirty="0" smtClean="0">
                <a:solidFill>
                  <a:schemeClr val="tx2"/>
                </a:solidFill>
              </a:rPr>
              <a:t>The negation of q, which simply reverses its truth value.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p v ¬q: </a:t>
            </a:r>
            <a:r>
              <a:rPr lang="en-US" sz="2400" dirty="0" smtClean="0">
                <a:solidFill>
                  <a:schemeClr val="tx2"/>
                </a:solidFill>
              </a:rPr>
              <a:t>This is p OR NOT q. it is true if at least one of p or ¬q is true.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p ʌ q: </a:t>
            </a:r>
            <a:r>
              <a:rPr lang="en-US" sz="2400" dirty="0" smtClean="0">
                <a:solidFill>
                  <a:schemeClr val="tx2"/>
                </a:solidFill>
              </a:rPr>
              <a:t>This is p and q. It is true only if both p and q are true.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(p  v ¬q) → (p  ʌ q): </a:t>
            </a:r>
            <a:r>
              <a:rPr lang="en-US" sz="2400" dirty="0" smtClean="0">
                <a:solidFill>
                  <a:schemeClr val="tx2"/>
                </a:solidFill>
              </a:rPr>
              <a:t>This is a conditional statement. An implication is false only if the first part is true and the second part is false.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99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715778" y="3238500"/>
            <a:ext cx="19613377" cy="4800600"/>
            <a:chOff x="0" y="0"/>
            <a:chExt cx="3829591" cy="8065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828801" y="1115519"/>
            <a:ext cx="21562872" cy="1337481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04450" y="4227080"/>
            <a:ext cx="3172350" cy="401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4000" b="1" dirty="0" smtClean="0">
                <a:solidFill>
                  <a:srgbClr val="0E2F5F"/>
                </a:solidFill>
                <a:ea typeface="Aileron Bold"/>
                <a:cs typeface="Aileron Bold"/>
                <a:sym typeface="Aileron Bold"/>
              </a:rPr>
              <a:t>Definition</a:t>
            </a:r>
            <a:r>
              <a:rPr lang="en-US" sz="4000" b="1" dirty="0" smtClean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:</a:t>
            </a:r>
            <a:endParaRPr lang="en-US" sz="4000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86000" y="1409700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Compound proposition :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1485900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21"/>
          <p:cNvSpPr txBox="1"/>
          <p:nvPr/>
        </p:nvSpPr>
        <p:spPr>
          <a:xfrm>
            <a:off x="1780306" y="4932379"/>
            <a:ext cx="14907494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dirty="0">
                <a:solidFill>
                  <a:schemeClr val="tx2"/>
                </a:solidFill>
              </a:rPr>
              <a:t>A </a:t>
            </a:r>
            <a:r>
              <a:rPr lang="en-US" sz="3200" b="1" dirty="0">
                <a:solidFill>
                  <a:schemeClr val="tx2"/>
                </a:solidFill>
              </a:rPr>
              <a:t>compound proposition</a:t>
            </a:r>
            <a:r>
              <a:rPr lang="en-US" sz="3200" dirty="0">
                <a:solidFill>
                  <a:schemeClr val="tx2"/>
                </a:solidFill>
              </a:rPr>
              <a:t> is a statement formed by joining </a:t>
            </a:r>
            <a:r>
              <a:rPr lang="en-US" sz="3200" b="1" dirty="0">
                <a:solidFill>
                  <a:schemeClr val="tx2"/>
                </a:solidFill>
              </a:rPr>
              <a:t>two or more simple propositions</a:t>
            </a:r>
            <a:r>
              <a:rPr lang="en-US" sz="3200" dirty="0">
                <a:solidFill>
                  <a:schemeClr val="tx2"/>
                </a:solidFill>
              </a:rPr>
              <a:t> using </a:t>
            </a:r>
            <a:r>
              <a:rPr lang="en-US" sz="3200" b="1" dirty="0">
                <a:solidFill>
                  <a:schemeClr val="tx2"/>
                </a:solidFill>
              </a:rPr>
              <a:t>logical connectives</a:t>
            </a:r>
            <a:r>
              <a:rPr lang="en-US" sz="3200" dirty="0">
                <a:solidFill>
                  <a:schemeClr val="tx2"/>
                </a:solidFill>
              </a:rPr>
              <a:t> such as AND (∧), OR (∨), NOT (¬), IMPLIES (→), </a:t>
            </a:r>
            <a:r>
              <a:rPr lang="en-US" sz="3200" dirty="0" smtClean="0">
                <a:solidFill>
                  <a:schemeClr val="tx2"/>
                </a:solidFill>
              </a:rPr>
              <a:t>XOR(</a:t>
            </a:r>
            <a:r>
              <a:rPr lang="en-US" sz="3200" dirty="0">
                <a:solidFill>
                  <a:schemeClr val="tx2"/>
                </a:solidFill>
              </a:rPr>
              <a:t>⊕</a:t>
            </a:r>
            <a:r>
              <a:rPr lang="en-US" sz="3200" dirty="0" smtClean="0">
                <a:solidFill>
                  <a:schemeClr val="tx2"/>
                </a:solidFill>
              </a:rPr>
              <a:t>)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chemeClr val="tx2"/>
                </a:solidFill>
              </a:rPr>
              <a:t>and </a:t>
            </a:r>
            <a:r>
              <a:rPr lang="en-US" sz="3200" dirty="0">
                <a:solidFill>
                  <a:schemeClr val="tx2"/>
                </a:solidFill>
              </a:rPr>
              <a:t>IFF (</a:t>
            </a:r>
            <a:r>
              <a:rPr lang="en-US" sz="3200" dirty="0" smtClean="0">
                <a:solidFill>
                  <a:schemeClr val="tx2"/>
                </a:solidFill>
              </a:rPr>
              <a:t>↔)</a:t>
            </a:r>
            <a:endParaRPr lang="en-US" sz="3200" b="1" dirty="0">
              <a:solidFill>
                <a:schemeClr val="tx2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  <p:extLst>
      <p:ext uri="{BB962C8B-B14F-4D97-AF65-F5344CB8AC3E}">
        <p14:creationId xmlns:p14="http://schemas.microsoft.com/office/powerpoint/2010/main" val="313289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1885086" y="571500"/>
            <a:ext cx="21562872" cy="1203142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86000" y="8763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Truth Table for </a:t>
            </a:r>
            <a:r>
              <a:rPr lang="en-US" sz="3200" b="1" dirty="0">
                <a:solidFill>
                  <a:schemeClr val="bg1"/>
                </a:solidFill>
              </a:rPr>
              <a:t>C</a:t>
            </a:r>
            <a:r>
              <a:rPr lang="en-US" sz="3200" b="1" dirty="0" smtClean="0">
                <a:solidFill>
                  <a:schemeClr val="bg1"/>
                </a:solidFill>
              </a:rPr>
              <a:t>ompound proposition :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876300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1371600" y="2079442"/>
            <a:ext cx="1242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Construct the truth table of the Compound proposition :  (p v ¬q) → (p ʌ q) </a:t>
            </a:r>
            <a:endParaRPr lang="en-US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93434"/>
              </p:ext>
            </p:extLst>
          </p:nvPr>
        </p:nvGraphicFramePr>
        <p:xfrm>
          <a:off x="1524000" y="2907462"/>
          <a:ext cx="12420599" cy="299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843"/>
                <a:gridCol w="2014151"/>
                <a:gridCol w="2163348"/>
                <a:gridCol w="2387142"/>
                <a:gridCol w="3506115"/>
              </a:tblGrid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            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¬q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 v ¬q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 ʌ q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(p v ¬q ) → (p ʌ q)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   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              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    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59960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24000" y="6293889"/>
            <a:ext cx="10439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Let, two basic proposition </a:t>
            </a:r>
            <a:r>
              <a:rPr lang="en-US" sz="2400" b="1" dirty="0" smtClean="0">
                <a:solidFill>
                  <a:schemeClr val="tx2"/>
                </a:solidFill>
              </a:rPr>
              <a:t>p</a:t>
            </a:r>
            <a:r>
              <a:rPr lang="en-US" sz="2400" dirty="0" smtClean="0">
                <a:solidFill>
                  <a:schemeClr val="tx2"/>
                </a:solidFill>
              </a:rPr>
              <a:t> and </a:t>
            </a:r>
            <a:r>
              <a:rPr lang="en-US" sz="2400" b="1" dirty="0" smtClean="0">
                <a:solidFill>
                  <a:schemeClr val="tx2"/>
                </a:solidFill>
              </a:rPr>
              <a:t>q.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¬q: </a:t>
            </a:r>
            <a:r>
              <a:rPr lang="en-US" sz="2400" dirty="0" smtClean="0">
                <a:solidFill>
                  <a:schemeClr val="tx2"/>
                </a:solidFill>
              </a:rPr>
              <a:t>The negation of q, which simply reverses its truth value.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p</a:t>
            </a:r>
            <a:r>
              <a:rPr lang="en-US" sz="2400" b="1" dirty="0" smtClean="0">
                <a:solidFill>
                  <a:schemeClr val="tx2"/>
                </a:solidFill>
              </a:rPr>
              <a:t> v ¬q: </a:t>
            </a:r>
            <a:r>
              <a:rPr lang="en-US" sz="2400" dirty="0" smtClean="0">
                <a:solidFill>
                  <a:schemeClr val="tx2"/>
                </a:solidFill>
              </a:rPr>
              <a:t>This is p OR NOT q. it is true if at least one of p or ¬q is true.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p ʌ q: </a:t>
            </a:r>
            <a:r>
              <a:rPr lang="en-US" sz="2400" dirty="0" smtClean="0">
                <a:solidFill>
                  <a:schemeClr val="tx2"/>
                </a:solidFill>
              </a:rPr>
              <a:t>This is p and q. It is true only if both p and q are true.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(p </a:t>
            </a:r>
            <a:r>
              <a:rPr lang="en-US" sz="2400" b="1" dirty="0" smtClean="0">
                <a:solidFill>
                  <a:schemeClr val="tx2"/>
                </a:solidFill>
              </a:rPr>
              <a:t> v ¬q</a:t>
            </a:r>
            <a:r>
              <a:rPr lang="en-US" sz="2400" b="1" dirty="0">
                <a:solidFill>
                  <a:schemeClr val="tx2"/>
                </a:solidFill>
              </a:rPr>
              <a:t>) → (p </a:t>
            </a:r>
            <a:r>
              <a:rPr lang="en-US" sz="2400" b="1" dirty="0" smtClean="0">
                <a:solidFill>
                  <a:schemeClr val="tx2"/>
                </a:solidFill>
              </a:rPr>
              <a:t> ʌ q): </a:t>
            </a:r>
            <a:r>
              <a:rPr lang="en-US" sz="2400" dirty="0" smtClean="0">
                <a:solidFill>
                  <a:schemeClr val="tx2"/>
                </a:solidFill>
              </a:rPr>
              <a:t>This is a </a:t>
            </a:r>
            <a:r>
              <a:rPr lang="en-US" sz="2400" dirty="0">
                <a:solidFill>
                  <a:schemeClr val="tx2"/>
                </a:solidFill>
              </a:rPr>
              <a:t>conditional statement. </a:t>
            </a:r>
            <a:r>
              <a:rPr lang="en-US" sz="2400" dirty="0" smtClean="0">
                <a:solidFill>
                  <a:schemeClr val="tx2"/>
                </a:solidFill>
              </a:rPr>
              <a:t>An </a:t>
            </a:r>
            <a:r>
              <a:rPr lang="en-US" sz="2400" dirty="0">
                <a:solidFill>
                  <a:schemeClr val="tx2"/>
                </a:solidFill>
              </a:rPr>
              <a:t>implication is false only if the first part is true and the second part is </a:t>
            </a:r>
            <a:r>
              <a:rPr lang="en-US" sz="2400" dirty="0" smtClean="0">
                <a:solidFill>
                  <a:schemeClr val="tx2"/>
                </a:solidFill>
              </a:rPr>
              <a:t>false.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08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1828800" y="735445"/>
            <a:ext cx="21562872" cy="1207655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09800" y="1008659"/>
            <a:ext cx="147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Prove Tautology, Contradiction and Contingency using truth table: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1035265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882169" y="2552700"/>
          <a:ext cx="1317620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34"/>
                <a:gridCol w="2196034"/>
                <a:gridCol w="2196034"/>
                <a:gridCol w="2196034"/>
                <a:gridCol w="2196034"/>
                <a:gridCol w="219603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    </a:t>
                      </a:r>
                      <a:r>
                        <a:rPr lang="en-US" sz="3200" dirty="0" smtClean="0"/>
                        <a:t>p</a:t>
                      </a:r>
                      <a:r>
                        <a:rPr lang="en-US" sz="3200" baseline="0" dirty="0" smtClean="0"/>
                        <a:t>           </a:t>
                      </a:r>
                      <a:r>
                        <a:rPr lang="en-US" sz="3200" dirty="0" smtClean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chemeClr val="tx2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</a:t>
                      </a:r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F           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T           F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   T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76800" y="257537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¬</a:t>
            </a:r>
            <a:r>
              <a:rPr lang="en-US" sz="3200" b="1" dirty="0" smtClean="0">
                <a:solidFill>
                  <a:schemeClr val="bg1"/>
                </a:solidFill>
              </a:rPr>
              <a:t>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17196" y="2619636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→ 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99951" y="255270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v ¬p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11705" y="2557232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q</a:t>
            </a:r>
            <a:r>
              <a:rPr lang="en-US" sz="3200" b="1" dirty="0" smtClean="0">
                <a:solidFill>
                  <a:schemeClr val="bg1"/>
                </a:solidFill>
              </a:rPr>
              <a:t> ʌ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34200" y="2575369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82169" y="6580644"/>
            <a:ext cx="9144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Let, two basic proposition </a:t>
            </a:r>
            <a:r>
              <a:rPr lang="en-US" sz="2400" b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q</a:t>
            </a:r>
            <a:r>
              <a:rPr lang="en-US" sz="2400" b="1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¬p: </a:t>
            </a:r>
            <a:r>
              <a:rPr lang="en-US" sz="2400" dirty="0">
                <a:solidFill>
                  <a:schemeClr val="tx2"/>
                </a:solidFill>
              </a:rPr>
              <a:t>The negation of </a:t>
            </a:r>
            <a:r>
              <a:rPr lang="en-US" sz="2400" dirty="0" smtClean="0">
                <a:solidFill>
                  <a:schemeClr val="tx2"/>
                </a:solidFill>
              </a:rPr>
              <a:t>p, </a:t>
            </a:r>
            <a:r>
              <a:rPr lang="en-US" sz="2400" dirty="0">
                <a:solidFill>
                  <a:schemeClr val="tx2"/>
                </a:solidFill>
              </a:rPr>
              <a:t>which simply reverses its truth value.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¬q: </a:t>
            </a:r>
            <a:r>
              <a:rPr lang="en-US" sz="2400" dirty="0">
                <a:solidFill>
                  <a:schemeClr val="tx2"/>
                </a:solidFill>
              </a:rPr>
              <a:t>The negation of q, which simply reverses its truth value</a:t>
            </a:r>
            <a:r>
              <a:rPr lang="en-US" sz="2400" dirty="0" smtClean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400" b="1" dirty="0" smtClean="0">
                <a:solidFill>
                  <a:schemeClr val="tx2"/>
                </a:solidFill>
              </a:rPr>
              <a:t>p </a:t>
            </a:r>
            <a:r>
              <a:rPr lang="en-US" sz="2400" b="1" dirty="0">
                <a:solidFill>
                  <a:schemeClr val="tx2"/>
                </a:solidFill>
              </a:rPr>
              <a:t>v </a:t>
            </a:r>
            <a:r>
              <a:rPr lang="en-US" sz="2400" b="1" dirty="0" smtClean="0">
                <a:solidFill>
                  <a:schemeClr val="tx2"/>
                </a:solidFill>
              </a:rPr>
              <a:t>¬p: </a:t>
            </a:r>
            <a:r>
              <a:rPr lang="en-US" sz="2400" dirty="0">
                <a:solidFill>
                  <a:schemeClr val="tx2"/>
                </a:solidFill>
              </a:rPr>
              <a:t>This is p OR NOT q. </a:t>
            </a:r>
            <a:r>
              <a:rPr lang="en-US" sz="2400" dirty="0" smtClean="0">
                <a:solidFill>
                  <a:schemeClr val="tx2"/>
                </a:solidFill>
              </a:rPr>
              <a:t>It </a:t>
            </a:r>
            <a:r>
              <a:rPr lang="en-US" sz="2400" dirty="0">
                <a:solidFill>
                  <a:schemeClr val="tx2"/>
                </a:solidFill>
              </a:rPr>
              <a:t>is true if at least one of p or </a:t>
            </a:r>
            <a:r>
              <a:rPr lang="en-US" sz="2400" dirty="0" smtClean="0">
                <a:solidFill>
                  <a:schemeClr val="tx2"/>
                </a:solidFill>
              </a:rPr>
              <a:t>¬p </a:t>
            </a:r>
            <a:r>
              <a:rPr lang="en-US" sz="2400" dirty="0">
                <a:solidFill>
                  <a:schemeClr val="tx2"/>
                </a:solidFill>
              </a:rPr>
              <a:t>is true.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q </a:t>
            </a:r>
            <a:r>
              <a:rPr lang="en-US" sz="2400" b="1" dirty="0">
                <a:solidFill>
                  <a:schemeClr val="tx2"/>
                </a:solidFill>
              </a:rPr>
              <a:t>ʌ </a:t>
            </a:r>
            <a:r>
              <a:rPr lang="en-US" sz="2400" b="1" dirty="0" smtClean="0">
                <a:solidFill>
                  <a:schemeClr val="tx2"/>
                </a:solidFill>
              </a:rPr>
              <a:t>¬q</a:t>
            </a:r>
            <a:r>
              <a:rPr lang="en-US" sz="2400" b="1" dirty="0">
                <a:solidFill>
                  <a:schemeClr val="tx2"/>
                </a:solidFill>
              </a:rPr>
              <a:t>: </a:t>
            </a:r>
            <a:r>
              <a:rPr lang="en-US" sz="2400" dirty="0">
                <a:solidFill>
                  <a:schemeClr val="tx2"/>
                </a:solidFill>
              </a:rPr>
              <a:t>This is </a:t>
            </a:r>
            <a:r>
              <a:rPr lang="en-US" sz="2400" dirty="0" smtClean="0">
                <a:solidFill>
                  <a:schemeClr val="tx2"/>
                </a:solidFill>
              </a:rPr>
              <a:t>q And NOT </a:t>
            </a:r>
            <a:r>
              <a:rPr lang="en-US" sz="2400" dirty="0">
                <a:solidFill>
                  <a:schemeClr val="tx2"/>
                </a:solidFill>
              </a:rPr>
              <a:t>q. It is true </a:t>
            </a:r>
            <a:r>
              <a:rPr lang="en-US" sz="2400" dirty="0" smtClean="0">
                <a:solidFill>
                  <a:schemeClr val="tx2"/>
                </a:solidFill>
              </a:rPr>
              <a:t>when both q </a:t>
            </a:r>
            <a:r>
              <a:rPr lang="en-US" sz="2400" dirty="0">
                <a:solidFill>
                  <a:schemeClr val="tx2"/>
                </a:solidFill>
              </a:rPr>
              <a:t>and </a:t>
            </a:r>
            <a:r>
              <a:rPr lang="en-US" sz="2400" b="1" dirty="0" smtClean="0">
                <a:solidFill>
                  <a:schemeClr val="tx2"/>
                </a:solidFill>
              </a:rPr>
              <a:t>¬</a:t>
            </a:r>
            <a:r>
              <a:rPr lang="en-US" sz="2400" dirty="0" smtClean="0">
                <a:solidFill>
                  <a:schemeClr val="tx2"/>
                </a:solidFill>
              </a:rPr>
              <a:t>q </a:t>
            </a:r>
            <a:r>
              <a:rPr lang="en-US" sz="2400" dirty="0">
                <a:solidFill>
                  <a:schemeClr val="tx2"/>
                </a:solidFill>
              </a:rPr>
              <a:t>are true.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p → q: </a:t>
            </a:r>
            <a:r>
              <a:rPr lang="en-US" sz="2400" dirty="0">
                <a:solidFill>
                  <a:schemeClr val="tx2"/>
                </a:solidFill>
              </a:rPr>
              <a:t>This is a conditional statement. An implication is false only if the first part is true and the second part is false.</a:t>
            </a:r>
          </a:p>
        </p:txBody>
      </p:sp>
    </p:spTree>
    <p:extLst>
      <p:ext uri="{BB962C8B-B14F-4D97-AF65-F5344CB8AC3E}">
        <p14:creationId xmlns:p14="http://schemas.microsoft.com/office/powerpoint/2010/main" val="429038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8600" y="1166370"/>
            <a:ext cx="18745200" cy="1339307"/>
            <a:chOff x="0" y="0"/>
            <a:chExt cx="4816593" cy="1552548"/>
          </a:xfrm>
          <a:solidFill>
            <a:schemeClr val="accent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52548"/>
            </a:xfrm>
            <a:custGeom>
              <a:avLst/>
              <a:gdLst/>
              <a:ahLst/>
              <a:cxnLst/>
              <a:rect l="l" t="t" r="r" b="b"/>
              <a:pathLst>
                <a:path w="4816592" h="1552548">
                  <a:moveTo>
                    <a:pt x="0" y="0"/>
                  </a:moveTo>
                  <a:lnTo>
                    <a:pt x="4816592" y="0"/>
                  </a:lnTo>
                  <a:lnTo>
                    <a:pt x="4816592" y="1552548"/>
                  </a:lnTo>
                  <a:lnTo>
                    <a:pt x="0" y="1552548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0017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8228" y="3415612"/>
            <a:ext cx="5060185" cy="665701"/>
            <a:chOff x="0" y="0"/>
            <a:chExt cx="1332724" cy="1753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2724" cy="175329"/>
            </a:xfrm>
            <a:custGeom>
              <a:avLst/>
              <a:gdLst/>
              <a:ahLst/>
              <a:cxnLst/>
              <a:rect l="l" t="t" r="r" b="b"/>
              <a:pathLst>
                <a:path w="1332724" h="175329">
                  <a:moveTo>
                    <a:pt x="78028" y="0"/>
                  </a:moveTo>
                  <a:lnTo>
                    <a:pt x="1254695" y="0"/>
                  </a:lnTo>
                  <a:cubicBezTo>
                    <a:pt x="1297789" y="0"/>
                    <a:pt x="1332724" y="34934"/>
                    <a:pt x="1332724" y="78028"/>
                  </a:cubicBezTo>
                  <a:lnTo>
                    <a:pt x="1332724" y="97300"/>
                  </a:lnTo>
                  <a:cubicBezTo>
                    <a:pt x="1332724" y="117995"/>
                    <a:pt x="1324503" y="137841"/>
                    <a:pt x="1309870" y="152475"/>
                  </a:cubicBezTo>
                  <a:cubicBezTo>
                    <a:pt x="1295236" y="167108"/>
                    <a:pt x="1275390" y="175329"/>
                    <a:pt x="1254695" y="175329"/>
                  </a:cubicBezTo>
                  <a:lnTo>
                    <a:pt x="78028" y="175329"/>
                  </a:lnTo>
                  <a:cubicBezTo>
                    <a:pt x="57334" y="175329"/>
                    <a:pt x="37487" y="167108"/>
                    <a:pt x="22854" y="152475"/>
                  </a:cubicBezTo>
                  <a:cubicBezTo>
                    <a:pt x="8221" y="137841"/>
                    <a:pt x="0" y="117995"/>
                    <a:pt x="0" y="97300"/>
                  </a:cubicBezTo>
                  <a:lnTo>
                    <a:pt x="0" y="78028"/>
                  </a:lnTo>
                  <a:cubicBezTo>
                    <a:pt x="0" y="57334"/>
                    <a:pt x="8221" y="37487"/>
                    <a:pt x="22854" y="22854"/>
                  </a:cubicBezTo>
                  <a:cubicBezTo>
                    <a:pt x="37487" y="8221"/>
                    <a:pt x="57334" y="0"/>
                    <a:pt x="78028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32724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13908" y="3394570"/>
            <a:ext cx="5060185" cy="665701"/>
            <a:chOff x="0" y="0"/>
            <a:chExt cx="1332724" cy="1753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2724" cy="175329"/>
            </a:xfrm>
            <a:custGeom>
              <a:avLst/>
              <a:gdLst/>
              <a:ahLst/>
              <a:cxnLst/>
              <a:rect l="l" t="t" r="r" b="b"/>
              <a:pathLst>
                <a:path w="1332724" h="175329">
                  <a:moveTo>
                    <a:pt x="78028" y="0"/>
                  </a:moveTo>
                  <a:lnTo>
                    <a:pt x="1254695" y="0"/>
                  </a:lnTo>
                  <a:cubicBezTo>
                    <a:pt x="1297789" y="0"/>
                    <a:pt x="1332724" y="34934"/>
                    <a:pt x="1332724" y="78028"/>
                  </a:cubicBezTo>
                  <a:lnTo>
                    <a:pt x="1332724" y="97300"/>
                  </a:lnTo>
                  <a:cubicBezTo>
                    <a:pt x="1332724" y="117995"/>
                    <a:pt x="1324503" y="137841"/>
                    <a:pt x="1309870" y="152475"/>
                  </a:cubicBezTo>
                  <a:cubicBezTo>
                    <a:pt x="1295236" y="167108"/>
                    <a:pt x="1275390" y="175329"/>
                    <a:pt x="1254695" y="175329"/>
                  </a:cubicBezTo>
                  <a:lnTo>
                    <a:pt x="78028" y="175329"/>
                  </a:lnTo>
                  <a:cubicBezTo>
                    <a:pt x="57334" y="175329"/>
                    <a:pt x="37487" y="167108"/>
                    <a:pt x="22854" y="152475"/>
                  </a:cubicBezTo>
                  <a:cubicBezTo>
                    <a:pt x="8221" y="137841"/>
                    <a:pt x="0" y="117995"/>
                    <a:pt x="0" y="97300"/>
                  </a:cubicBezTo>
                  <a:lnTo>
                    <a:pt x="0" y="78028"/>
                  </a:lnTo>
                  <a:cubicBezTo>
                    <a:pt x="0" y="57334"/>
                    <a:pt x="8221" y="37487"/>
                    <a:pt x="22854" y="22854"/>
                  </a:cubicBezTo>
                  <a:cubicBezTo>
                    <a:pt x="37487" y="8221"/>
                    <a:pt x="57334" y="0"/>
                    <a:pt x="78028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332724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09211" y="3434857"/>
            <a:ext cx="5060185" cy="665701"/>
            <a:chOff x="0" y="0"/>
            <a:chExt cx="1332724" cy="1753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2724" cy="175329"/>
            </a:xfrm>
            <a:custGeom>
              <a:avLst/>
              <a:gdLst/>
              <a:ahLst/>
              <a:cxnLst/>
              <a:rect l="l" t="t" r="r" b="b"/>
              <a:pathLst>
                <a:path w="1332724" h="175329">
                  <a:moveTo>
                    <a:pt x="78028" y="0"/>
                  </a:moveTo>
                  <a:lnTo>
                    <a:pt x="1254695" y="0"/>
                  </a:lnTo>
                  <a:cubicBezTo>
                    <a:pt x="1297789" y="0"/>
                    <a:pt x="1332724" y="34934"/>
                    <a:pt x="1332724" y="78028"/>
                  </a:cubicBezTo>
                  <a:lnTo>
                    <a:pt x="1332724" y="97300"/>
                  </a:lnTo>
                  <a:cubicBezTo>
                    <a:pt x="1332724" y="117995"/>
                    <a:pt x="1324503" y="137841"/>
                    <a:pt x="1309870" y="152475"/>
                  </a:cubicBezTo>
                  <a:cubicBezTo>
                    <a:pt x="1295236" y="167108"/>
                    <a:pt x="1275390" y="175329"/>
                    <a:pt x="1254695" y="175329"/>
                  </a:cubicBezTo>
                  <a:lnTo>
                    <a:pt x="78028" y="175329"/>
                  </a:lnTo>
                  <a:cubicBezTo>
                    <a:pt x="57334" y="175329"/>
                    <a:pt x="37487" y="167108"/>
                    <a:pt x="22854" y="152475"/>
                  </a:cubicBezTo>
                  <a:cubicBezTo>
                    <a:pt x="8221" y="137841"/>
                    <a:pt x="0" y="117995"/>
                    <a:pt x="0" y="97300"/>
                  </a:cubicBezTo>
                  <a:lnTo>
                    <a:pt x="0" y="78028"/>
                  </a:lnTo>
                  <a:cubicBezTo>
                    <a:pt x="0" y="57334"/>
                    <a:pt x="8221" y="37487"/>
                    <a:pt x="22854" y="22854"/>
                  </a:cubicBezTo>
                  <a:cubicBezTo>
                    <a:pt x="37487" y="8221"/>
                    <a:pt x="57334" y="0"/>
                    <a:pt x="78028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32724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4580" y="4524119"/>
            <a:ext cx="5060185" cy="1998158"/>
            <a:chOff x="0" y="0"/>
            <a:chExt cx="1332724" cy="5262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2724" cy="526264"/>
            </a:xfrm>
            <a:custGeom>
              <a:avLst/>
              <a:gdLst/>
              <a:ahLst/>
              <a:cxnLst/>
              <a:rect l="l" t="t" r="r" b="b"/>
              <a:pathLst>
                <a:path w="1332724" h="526264">
                  <a:moveTo>
                    <a:pt x="29069" y="0"/>
                  </a:moveTo>
                  <a:lnTo>
                    <a:pt x="1303654" y="0"/>
                  </a:lnTo>
                  <a:cubicBezTo>
                    <a:pt x="1319709" y="0"/>
                    <a:pt x="1332724" y="13015"/>
                    <a:pt x="1332724" y="29069"/>
                  </a:cubicBezTo>
                  <a:lnTo>
                    <a:pt x="1332724" y="497195"/>
                  </a:lnTo>
                  <a:cubicBezTo>
                    <a:pt x="1332724" y="504904"/>
                    <a:pt x="1329661" y="512298"/>
                    <a:pt x="1324209" y="517750"/>
                  </a:cubicBezTo>
                  <a:cubicBezTo>
                    <a:pt x="1318758" y="523201"/>
                    <a:pt x="1311364" y="526264"/>
                    <a:pt x="1303654" y="526264"/>
                  </a:cubicBezTo>
                  <a:lnTo>
                    <a:pt x="29069" y="526264"/>
                  </a:lnTo>
                  <a:cubicBezTo>
                    <a:pt x="13015" y="526264"/>
                    <a:pt x="0" y="513249"/>
                    <a:pt x="0" y="497195"/>
                  </a:cubicBezTo>
                  <a:lnTo>
                    <a:pt x="0" y="29069"/>
                  </a:lnTo>
                  <a:cubicBezTo>
                    <a:pt x="0" y="13015"/>
                    <a:pt x="13015" y="0"/>
                    <a:pt x="29069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32724" cy="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49165" y="4455135"/>
            <a:ext cx="5060185" cy="1998158"/>
            <a:chOff x="0" y="0"/>
            <a:chExt cx="1332724" cy="5262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2724" cy="526264"/>
            </a:xfrm>
            <a:custGeom>
              <a:avLst/>
              <a:gdLst/>
              <a:ahLst/>
              <a:cxnLst/>
              <a:rect l="l" t="t" r="r" b="b"/>
              <a:pathLst>
                <a:path w="1332724" h="526264">
                  <a:moveTo>
                    <a:pt x="29069" y="0"/>
                  </a:moveTo>
                  <a:lnTo>
                    <a:pt x="1303654" y="0"/>
                  </a:lnTo>
                  <a:cubicBezTo>
                    <a:pt x="1319709" y="0"/>
                    <a:pt x="1332724" y="13015"/>
                    <a:pt x="1332724" y="29069"/>
                  </a:cubicBezTo>
                  <a:lnTo>
                    <a:pt x="1332724" y="497195"/>
                  </a:lnTo>
                  <a:cubicBezTo>
                    <a:pt x="1332724" y="504904"/>
                    <a:pt x="1329661" y="512298"/>
                    <a:pt x="1324209" y="517750"/>
                  </a:cubicBezTo>
                  <a:cubicBezTo>
                    <a:pt x="1318758" y="523201"/>
                    <a:pt x="1311364" y="526264"/>
                    <a:pt x="1303654" y="526264"/>
                  </a:cubicBezTo>
                  <a:lnTo>
                    <a:pt x="29069" y="526264"/>
                  </a:lnTo>
                  <a:cubicBezTo>
                    <a:pt x="13015" y="526264"/>
                    <a:pt x="0" y="513249"/>
                    <a:pt x="0" y="497195"/>
                  </a:cubicBezTo>
                  <a:lnTo>
                    <a:pt x="0" y="29069"/>
                  </a:lnTo>
                  <a:cubicBezTo>
                    <a:pt x="0" y="13015"/>
                    <a:pt x="13015" y="0"/>
                    <a:pt x="29069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332724" cy="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99115" y="4482034"/>
            <a:ext cx="5060185" cy="1998158"/>
            <a:chOff x="0" y="0"/>
            <a:chExt cx="1332724" cy="5262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32724" cy="526264"/>
            </a:xfrm>
            <a:custGeom>
              <a:avLst/>
              <a:gdLst/>
              <a:ahLst/>
              <a:cxnLst/>
              <a:rect l="l" t="t" r="r" b="b"/>
              <a:pathLst>
                <a:path w="1332724" h="526264">
                  <a:moveTo>
                    <a:pt x="29069" y="0"/>
                  </a:moveTo>
                  <a:lnTo>
                    <a:pt x="1303654" y="0"/>
                  </a:lnTo>
                  <a:cubicBezTo>
                    <a:pt x="1319709" y="0"/>
                    <a:pt x="1332724" y="13015"/>
                    <a:pt x="1332724" y="29069"/>
                  </a:cubicBezTo>
                  <a:lnTo>
                    <a:pt x="1332724" y="497195"/>
                  </a:lnTo>
                  <a:cubicBezTo>
                    <a:pt x="1332724" y="504904"/>
                    <a:pt x="1329661" y="512298"/>
                    <a:pt x="1324209" y="517750"/>
                  </a:cubicBezTo>
                  <a:cubicBezTo>
                    <a:pt x="1318758" y="523201"/>
                    <a:pt x="1311364" y="526264"/>
                    <a:pt x="1303654" y="526264"/>
                  </a:cubicBezTo>
                  <a:lnTo>
                    <a:pt x="29069" y="526264"/>
                  </a:lnTo>
                  <a:cubicBezTo>
                    <a:pt x="13015" y="526264"/>
                    <a:pt x="0" y="513249"/>
                    <a:pt x="0" y="497195"/>
                  </a:cubicBezTo>
                  <a:lnTo>
                    <a:pt x="0" y="29069"/>
                  </a:lnTo>
                  <a:cubicBezTo>
                    <a:pt x="0" y="13015"/>
                    <a:pt x="13015" y="0"/>
                    <a:pt x="29069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332724" cy="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853929" y="3551737"/>
            <a:ext cx="258013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200" b="1" dirty="0" smtClean="0">
                <a:solidFill>
                  <a:srgbClr val="FFFFFF"/>
                </a:solidFill>
                <a:ea typeface="Aileron Heavy"/>
                <a:cs typeface="Aileron Heavy"/>
                <a:sym typeface="Aileron Heavy"/>
              </a:rPr>
              <a:t>Contradiction</a:t>
            </a:r>
            <a:endParaRPr lang="en-US" sz="3200" b="1" dirty="0">
              <a:solidFill>
                <a:srgbClr val="FFFFFF"/>
              </a:solidFill>
              <a:ea typeface="Aileron Heavy"/>
              <a:cs typeface="Aileron Heavy"/>
              <a:sym typeface="Aileron Heavy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234372" y="4702460"/>
            <a:ext cx="4880376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800" b="1" dirty="0" smtClean="0">
                <a:solidFill>
                  <a:srgbClr val="FFFFFF"/>
                </a:solidFill>
                <a:ea typeface="Aileron Heavy"/>
                <a:cs typeface="Aileron Heavy"/>
                <a:sym typeface="Aileron Heavy"/>
              </a:rPr>
              <a:t>A compound proposition that is  neither Tautology or Contradiction is called Contingency.</a:t>
            </a:r>
            <a:endParaRPr lang="en-US" sz="2800" b="1" dirty="0">
              <a:solidFill>
                <a:srgbClr val="FFFFFF"/>
              </a:solidFill>
              <a:ea typeface="Aileron Heavy"/>
              <a:cs typeface="Aileron Heavy"/>
              <a:sym typeface="Aileron Heav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37514" y="4907645"/>
            <a:ext cx="433106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800" b="1" dirty="0" smtClean="0">
                <a:solidFill>
                  <a:srgbClr val="FFFFFF"/>
                </a:solidFill>
                <a:ea typeface="Aileron Heavy"/>
                <a:cs typeface="Aileron Heavy"/>
                <a:sym typeface="Aileron Heavy"/>
              </a:rPr>
              <a:t>A compound proposition that is always true is called a Tautology.</a:t>
            </a:r>
            <a:endParaRPr lang="en-US" sz="2800" b="1" dirty="0">
              <a:solidFill>
                <a:srgbClr val="FFFFFF"/>
              </a:solidFill>
              <a:ea typeface="Aileron Heavy"/>
              <a:cs typeface="Aileron Heavy"/>
              <a:sym typeface="Aileron Heavy"/>
            </a:endParaRPr>
          </a:p>
        </p:txBody>
      </p:sp>
      <p:sp>
        <p:nvSpPr>
          <p:cNvPr id="35" name="Freeform 13"/>
          <p:cNvSpPr/>
          <p:nvPr/>
        </p:nvSpPr>
        <p:spPr>
          <a:xfrm>
            <a:off x="1371600" y="1532175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26"/>
          <p:cNvSpPr txBox="1"/>
          <p:nvPr/>
        </p:nvSpPr>
        <p:spPr>
          <a:xfrm>
            <a:off x="2123690" y="3553852"/>
            <a:ext cx="258013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200" b="1" dirty="0" smtClean="0">
                <a:solidFill>
                  <a:srgbClr val="FFFFFF"/>
                </a:solidFill>
                <a:ea typeface="Aileron Heavy"/>
                <a:cs typeface="Aileron Heavy"/>
                <a:sym typeface="Aileron Heavy"/>
              </a:rPr>
              <a:t>Tautology</a:t>
            </a:r>
            <a:endParaRPr lang="en-US" sz="3200" b="1" dirty="0">
              <a:solidFill>
                <a:srgbClr val="FFFFFF"/>
              </a:solidFill>
              <a:ea typeface="Aileron Heavy"/>
              <a:cs typeface="Aileron Heavy"/>
              <a:sym typeface="Aileron Heavy"/>
            </a:endParaRPr>
          </a:p>
        </p:txBody>
      </p:sp>
      <p:sp>
        <p:nvSpPr>
          <p:cNvPr id="38" name="TextBox 26"/>
          <p:cNvSpPr txBox="1"/>
          <p:nvPr/>
        </p:nvSpPr>
        <p:spPr>
          <a:xfrm>
            <a:off x="13349234" y="3583607"/>
            <a:ext cx="258013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200" b="1" dirty="0" smtClean="0">
                <a:solidFill>
                  <a:srgbClr val="FFFFFF"/>
                </a:solidFill>
                <a:ea typeface="Aileron Heavy"/>
                <a:cs typeface="Aileron Heavy"/>
                <a:sym typeface="Aileron Heavy"/>
              </a:rPr>
              <a:t>Contingency</a:t>
            </a:r>
            <a:endParaRPr lang="en-US" sz="3200" b="1" dirty="0">
              <a:solidFill>
                <a:srgbClr val="FFFFFF"/>
              </a:solidFill>
              <a:ea typeface="Aileron Heavy"/>
              <a:cs typeface="Aileron Heavy"/>
              <a:sym typeface="Aileron Heavy"/>
            </a:endParaRPr>
          </a:p>
        </p:txBody>
      </p:sp>
      <p:sp>
        <p:nvSpPr>
          <p:cNvPr id="39" name="TextBox 29"/>
          <p:cNvSpPr txBox="1"/>
          <p:nvPr/>
        </p:nvSpPr>
        <p:spPr>
          <a:xfrm>
            <a:off x="7013724" y="4838661"/>
            <a:ext cx="433106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800" b="1" dirty="0" smtClean="0">
                <a:solidFill>
                  <a:srgbClr val="FFFFFF"/>
                </a:solidFill>
                <a:ea typeface="Aileron Heavy"/>
                <a:cs typeface="Aileron Heavy"/>
                <a:sym typeface="Aileron Heavy"/>
              </a:rPr>
              <a:t>A compound proposition that is always false is called a Contradiction.</a:t>
            </a:r>
            <a:endParaRPr lang="en-US" sz="2800" b="1" dirty="0">
              <a:solidFill>
                <a:srgbClr val="FFFFFF"/>
              </a:solidFill>
              <a:ea typeface="Aileron Heavy"/>
              <a:cs typeface="Aileron Heavy"/>
              <a:sym typeface="Aileron Heavy"/>
            </a:endParaRPr>
          </a:p>
        </p:txBody>
      </p:sp>
      <p:sp>
        <p:nvSpPr>
          <p:cNvPr id="41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Down Arrow 31"/>
          <p:cNvSpPr/>
          <p:nvPr/>
        </p:nvSpPr>
        <p:spPr>
          <a:xfrm>
            <a:off x="8987680" y="6515100"/>
            <a:ext cx="383153" cy="5262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7731456" y="7048500"/>
            <a:ext cx="2895600" cy="14478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305800" y="7383535"/>
            <a:ext cx="1884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2"/>
                </a:solidFill>
              </a:rPr>
              <a:t>Truth Value: False(F)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0" name="Down Arrow 39"/>
          <p:cNvSpPr/>
          <p:nvPr/>
        </p:nvSpPr>
        <p:spPr>
          <a:xfrm>
            <a:off x="3346743" y="6598477"/>
            <a:ext cx="383153" cy="5262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076872" y="7141191"/>
            <a:ext cx="2895600" cy="14478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596105" y="7467789"/>
            <a:ext cx="1884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2"/>
                </a:solidFill>
              </a:rPr>
              <a:t>Truth Value: True(T)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3" name="Down Arrow 42"/>
          <p:cNvSpPr/>
          <p:nvPr/>
        </p:nvSpPr>
        <p:spPr>
          <a:xfrm>
            <a:off x="14702363" y="6547509"/>
            <a:ext cx="383153" cy="5262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3400825" y="7103346"/>
            <a:ext cx="2895600" cy="14478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13944600" y="7219771"/>
            <a:ext cx="1884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2"/>
                </a:solidFill>
              </a:rPr>
              <a:t>Truth Value: T and F (Mixed)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286000" y="1489990"/>
            <a:ext cx="1448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Definition of Tautology, Contradiction and Contingency: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51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6" grpId="0"/>
      <p:bldP spid="40" grpId="0" animBg="1"/>
      <p:bldP spid="42" grpId="0" animBg="1"/>
      <p:bldP spid="46" grpId="0"/>
      <p:bldP spid="43" grpId="0" animBg="1"/>
      <p:bldP spid="44" grpId="0" animBg="1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1828800" y="735445"/>
            <a:ext cx="21562872" cy="1207655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09800" y="1008659"/>
            <a:ext cx="147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Prove Tautology, Contradiction and Contingency using truth table: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1035265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240796"/>
              </p:ext>
            </p:extLst>
          </p:nvPr>
        </p:nvGraphicFramePr>
        <p:xfrm>
          <a:off x="1882169" y="2552700"/>
          <a:ext cx="1317620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34"/>
                <a:gridCol w="2196034"/>
                <a:gridCol w="2196034"/>
                <a:gridCol w="2196034"/>
                <a:gridCol w="2196034"/>
                <a:gridCol w="219603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    </a:t>
                      </a:r>
                      <a:r>
                        <a:rPr lang="en-US" sz="3200" dirty="0" smtClean="0"/>
                        <a:t>p</a:t>
                      </a:r>
                      <a:r>
                        <a:rPr lang="en-US" sz="3200" baseline="0" dirty="0" smtClean="0"/>
                        <a:t>           </a:t>
                      </a:r>
                      <a:r>
                        <a:rPr lang="en-US" sz="3200" dirty="0" smtClean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chemeClr val="tx2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</a:t>
                      </a:r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F           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T           F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   T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76800" y="257537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¬</a:t>
            </a:r>
            <a:r>
              <a:rPr lang="en-US" sz="3200" b="1" dirty="0" smtClean="0">
                <a:solidFill>
                  <a:schemeClr val="bg1"/>
                </a:solidFill>
              </a:rPr>
              <a:t>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17196" y="2619636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→ 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99951" y="255270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v ¬p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11705" y="2557232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q</a:t>
            </a:r>
            <a:r>
              <a:rPr lang="en-US" sz="3200" b="1" dirty="0" smtClean="0">
                <a:solidFill>
                  <a:schemeClr val="bg1"/>
                </a:solidFill>
              </a:rPr>
              <a:t> ʌ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34200" y="2575369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82169" y="6580644"/>
            <a:ext cx="9144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Let, two basic proposition </a:t>
            </a:r>
            <a:r>
              <a:rPr lang="en-US" sz="2400" b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q</a:t>
            </a:r>
            <a:r>
              <a:rPr lang="en-US" sz="2400" b="1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¬p: </a:t>
            </a:r>
            <a:r>
              <a:rPr lang="en-US" sz="2400" dirty="0">
                <a:solidFill>
                  <a:schemeClr val="tx2"/>
                </a:solidFill>
              </a:rPr>
              <a:t>The negation of </a:t>
            </a:r>
            <a:r>
              <a:rPr lang="en-US" sz="2400" dirty="0" smtClean="0">
                <a:solidFill>
                  <a:schemeClr val="tx2"/>
                </a:solidFill>
              </a:rPr>
              <a:t>p, </a:t>
            </a:r>
            <a:r>
              <a:rPr lang="en-US" sz="2400" dirty="0">
                <a:solidFill>
                  <a:schemeClr val="tx2"/>
                </a:solidFill>
              </a:rPr>
              <a:t>which simply reverses its truth value.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¬q: </a:t>
            </a:r>
            <a:r>
              <a:rPr lang="en-US" sz="2400" dirty="0">
                <a:solidFill>
                  <a:schemeClr val="tx2"/>
                </a:solidFill>
              </a:rPr>
              <a:t>The negation of q, which simply reverses its truth value</a:t>
            </a:r>
            <a:r>
              <a:rPr lang="en-US" sz="2400" dirty="0" smtClean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400" b="1" dirty="0" smtClean="0">
                <a:solidFill>
                  <a:schemeClr val="tx2"/>
                </a:solidFill>
              </a:rPr>
              <a:t>p </a:t>
            </a:r>
            <a:r>
              <a:rPr lang="en-US" sz="2400" b="1" dirty="0">
                <a:solidFill>
                  <a:schemeClr val="tx2"/>
                </a:solidFill>
              </a:rPr>
              <a:t>v </a:t>
            </a:r>
            <a:r>
              <a:rPr lang="en-US" sz="2400" b="1" dirty="0" smtClean="0">
                <a:solidFill>
                  <a:schemeClr val="tx2"/>
                </a:solidFill>
              </a:rPr>
              <a:t>¬p: </a:t>
            </a:r>
            <a:r>
              <a:rPr lang="en-US" sz="2400" dirty="0">
                <a:solidFill>
                  <a:schemeClr val="tx2"/>
                </a:solidFill>
              </a:rPr>
              <a:t>This is p OR NOT q. </a:t>
            </a:r>
            <a:r>
              <a:rPr lang="en-US" sz="2400" dirty="0" smtClean="0">
                <a:solidFill>
                  <a:schemeClr val="tx2"/>
                </a:solidFill>
              </a:rPr>
              <a:t>It </a:t>
            </a:r>
            <a:r>
              <a:rPr lang="en-US" sz="2400" dirty="0">
                <a:solidFill>
                  <a:schemeClr val="tx2"/>
                </a:solidFill>
              </a:rPr>
              <a:t>is true if at least one of p or </a:t>
            </a:r>
            <a:r>
              <a:rPr lang="en-US" sz="2400" dirty="0" smtClean="0">
                <a:solidFill>
                  <a:schemeClr val="tx2"/>
                </a:solidFill>
              </a:rPr>
              <a:t>¬p </a:t>
            </a:r>
            <a:r>
              <a:rPr lang="en-US" sz="2400" dirty="0">
                <a:solidFill>
                  <a:schemeClr val="tx2"/>
                </a:solidFill>
              </a:rPr>
              <a:t>is true.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q </a:t>
            </a:r>
            <a:r>
              <a:rPr lang="en-US" sz="2400" b="1" dirty="0">
                <a:solidFill>
                  <a:schemeClr val="tx2"/>
                </a:solidFill>
              </a:rPr>
              <a:t>ʌ </a:t>
            </a:r>
            <a:r>
              <a:rPr lang="en-US" sz="2400" b="1" dirty="0" smtClean="0">
                <a:solidFill>
                  <a:schemeClr val="tx2"/>
                </a:solidFill>
              </a:rPr>
              <a:t>¬q</a:t>
            </a:r>
            <a:r>
              <a:rPr lang="en-US" sz="2400" b="1" dirty="0">
                <a:solidFill>
                  <a:schemeClr val="tx2"/>
                </a:solidFill>
              </a:rPr>
              <a:t>: </a:t>
            </a:r>
            <a:r>
              <a:rPr lang="en-US" sz="2400" dirty="0">
                <a:solidFill>
                  <a:schemeClr val="tx2"/>
                </a:solidFill>
              </a:rPr>
              <a:t>This is </a:t>
            </a:r>
            <a:r>
              <a:rPr lang="en-US" sz="2400" dirty="0" smtClean="0">
                <a:solidFill>
                  <a:schemeClr val="tx2"/>
                </a:solidFill>
              </a:rPr>
              <a:t>q And NOT </a:t>
            </a:r>
            <a:r>
              <a:rPr lang="en-US" sz="2400" dirty="0">
                <a:solidFill>
                  <a:schemeClr val="tx2"/>
                </a:solidFill>
              </a:rPr>
              <a:t>q. It is true </a:t>
            </a:r>
            <a:r>
              <a:rPr lang="en-US" sz="2400" dirty="0" smtClean="0">
                <a:solidFill>
                  <a:schemeClr val="tx2"/>
                </a:solidFill>
              </a:rPr>
              <a:t>when both q </a:t>
            </a:r>
            <a:r>
              <a:rPr lang="en-US" sz="2400" dirty="0">
                <a:solidFill>
                  <a:schemeClr val="tx2"/>
                </a:solidFill>
              </a:rPr>
              <a:t>and </a:t>
            </a:r>
            <a:r>
              <a:rPr lang="en-US" sz="2400" b="1" dirty="0" smtClean="0">
                <a:solidFill>
                  <a:schemeClr val="tx2"/>
                </a:solidFill>
              </a:rPr>
              <a:t>¬</a:t>
            </a:r>
            <a:r>
              <a:rPr lang="en-US" sz="2400" dirty="0" smtClean="0">
                <a:solidFill>
                  <a:schemeClr val="tx2"/>
                </a:solidFill>
              </a:rPr>
              <a:t>q </a:t>
            </a:r>
            <a:r>
              <a:rPr lang="en-US" sz="2400" dirty="0">
                <a:solidFill>
                  <a:schemeClr val="tx2"/>
                </a:solidFill>
              </a:rPr>
              <a:t>are true.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p → q: </a:t>
            </a:r>
            <a:r>
              <a:rPr lang="en-US" sz="2400" dirty="0">
                <a:solidFill>
                  <a:schemeClr val="tx2"/>
                </a:solidFill>
              </a:rPr>
              <a:t>This is a conditional statement. An implication is false only if the first part is true and the second part is false.</a:t>
            </a:r>
          </a:p>
        </p:txBody>
      </p:sp>
    </p:spTree>
    <p:extLst>
      <p:ext uri="{BB962C8B-B14F-4D97-AF65-F5344CB8AC3E}">
        <p14:creationId xmlns:p14="http://schemas.microsoft.com/office/powerpoint/2010/main" val="200268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1828800" y="735445"/>
            <a:ext cx="21562872" cy="1207655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09800" y="1008659"/>
            <a:ext cx="147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Prove Tautology, Contradiction and Contingency using truth table: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1035265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882169" y="2552700"/>
          <a:ext cx="1317620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34"/>
                <a:gridCol w="2196034"/>
                <a:gridCol w="2196034"/>
                <a:gridCol w="2196034"/>
                <a:gridCol w="2196034"/>
                <a:gridCol w="219603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    </a:t>
                      </a:r>
                      <a:r>
                        <a:rPr lang="en-US" sz="3200" dirty="0" smtClean="0"/>
                        <a:t>p</a:t>
                      </a:r>
                      <a:r>
                        <a:rPr lang="en-US" sz="3200" baseline="0" dirty="0" smtClean="0"/>
                        <a:t>           </a:t>
                      </a:r>
                      <a:r>
                        <a:rPr lang="en-US" sz="3200" dirty="0" smtClean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chemeClr val="tx2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</a:t>
                      </a:r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F           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T           F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   T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76800" y="257537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¬</a:t>
            </a:r>
            <a:r>
              <a:rPr lang="en-US" sz="3200" b="1" dirty="0" smtClean="0">
                <a:solidFill>
                  <a:schemeClr val="bg1"/>
                </a:solidFill>
              </a:rPr>
              <a:t>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17196" y="2619636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→ 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99951" y="255270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v ¬p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11705" y="2557232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q</a:t>
            </a:r>
            <a:r>
              <a:rPr lang="en-US" sz="3200" b="1" dirty="0" smtClean="0">
                <a:solidFill>
                  <a:schemeClr val="bg1"/>
                </a:solidFill>
              </a:rPr>
              <a:t> ʌ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34200" y="2575369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9448800" y="6252335"/>
            <a:ext cx="333376" cy="35626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067675" y="6642648"/>
            <a:ext cx="3095626" cy="1295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 flipH="1">
            <a:off x="8686800" y="6972300"/>
            <a:ext cx="2240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</a:rPr>
              <a:t>Tautology</a:t>
            </a:r>
            <a:endParaRPr lang="en-US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0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1828800" y="735445"/>
            <a:ext cx="21562872" cy="1207655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09800" y="1008659"/>
            <a:ext cx="147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Prove Tautology, Contradiction and Contingency using truth table: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1035265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882169" y="2552700"/>
          <a:ext cx="1317620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34"/>
                <a:gridCol w="2196034"/>
                <a:gridCol w="2196034"/>
                <a:gridCol w="2196034"/>
                <a:gridCol w="2196034"/>
                <a:gridCol w="219603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    </a:t>
                      </a:r>
                      <a:r>
                        <a:rPr lang="en-US" sz="3200" dirty="0" smtClean="0"/>
                        <a:t>p</a:t>
                      </a:r>
                      <a:r>
                        <a:rPr lang="en-US" sz="3200" baseline="0" dirty="0" smtClean="0"/>
                        <a:t>           </a:t>
                      </a:r>
                      <a:r>
                        <a:rPr lang="en-US" sz="3200" dirty="0" smtClean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chemeClr val="tx2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</a:t>
                      </a:r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F           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T           F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   T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76800" y="257537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¬</a:t>
            </a:r>
            <a:r>
              <a:rPr lang="en-US" sz="3200" b="1" dirty="0" smtClean="0">
                <a:solidFill>
                  <a:schemeClr val="bg1"/>
                </a:solidFill>
              </a:rPr>
              <a:t>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17196" y="2619636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→ 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99951" y="255270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v ¬p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11705" y="2557232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q</a:t>
            </a:r>
            <a:r>
              <a:rPr lang="en-US" sz="3200" b="1" dirty="0" smtClean="0">
                <a:solidFill>
                  <a:schemeClr val="bg1"/>
                </a:solidFill>
              </a:rPr>
              <a:t> ʌ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34200" y="2575369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11603782" y="6217313"/>
            <a:ext cx="333376" cy="35626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0235364" y="6616311"/>
            <a:ext cx="3095626" cy="1295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 flipH="1">
            <a:off x="10591800" y="6971623"/>
            <a:ext cx="2494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</a:rPr>
              <a:t>Contradiction</a:t>
            </a:r>
            <a:endParaRPr lang="en-US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11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1828800" y="735445"/>
            <a:ext cx="21562872" cy="1207655"/>
            <a:chOff x="0" y="0"/>
            <a:chExt cx="1066352" cy="175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352" cy="175329"/>
            </a:xfrm>
            <a:custGeom>
              <a:avLst/>
              <a:gdLst/>
              <a:ahLst/>
              <a:cxnLst/>
              <a:rect l="l" t="t" r="r" b="b"/>
              <a:pathLst>
                <a:path w="1066352" h="175329">
                  <a:moveTo>
                    <a:pt x="87664" y="0"/>
                  </a:moveTo>
                  <a:lnTo>
                    <a:pt x="978688" y="0"/>
                  </a:lnTo>
                  <a:cubicBezTo>
                    <a:pt x="1001938" y="0"/>
                    <a:pt x="1024236" y="9236"/>
                    <a:pt x="1040676" y="25676"/>
                  </a:cubicBezTo>
                  <a:cubicBezTo>
                    <a:pt x="1057116" y="42117"/>
                    <a:pt x="1066352" y="64414"/>
                    <a:pt x="1066352" y="87664"/>
                  </a:cubicBezTo>
                  <a:lnTo>
                    <a:pt x="1066352" y="87664"/>
                  </a:lnTo>
                  <a:cubicBezTo>
                    <a:pt x="1066352" y="136080"/>
                    <a:pt x="1027103" y="175329"/>
                    <a:pt x="978688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352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6032840" y="8879212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09800" y="1008659"/>
            <a:ext cx="147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Prove Tautology, Contradiction and Contingency using truth table: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6" name="Freeform 13"/>
          <p:cNvSpPr/>
          <p:nvPr/>
        </p:nvSpPr>
        <p:spPr>
          <a:xfrm>
            <a:off x="1371600" y="1035265"/>
            <a:ext cx="665701" cy="665701"/>
          </a:xfrm>
          <a:custGeom>
            <a:avLst/>
            <a:gdLst/>
            <a:ahLst/>
            <a:cxnLst/>
            <a:rect l="l" t="t" r="r" b="b"/>
            <a:pathLst>
              <a:path w="665701" h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882169" y="2552700"/>
          <a:ext cx="1317620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34"/>
                <a:gridCol w="2196034"/>
                <a:gridCol w="2196034"/>
                <a:gridCol w="2196034"/>
                <a:gridCol w="2196034"/>
                <a:gridCol w="219603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    </a:t>
                      </a:r>
                      <a:r>
                        <a:rPr lang="en-US" sz="3200" dirty="0" smtClean="0"/>
                        <a:t>p</a:t>
                      </a:r>
                      <a:r>
                        <a:rPr lang="en-US" sz="3200" baseline="0" dirty="0" smtClean="0"/>
                        <a:t>           </a:t>
                      </a:r>
                      <a:r>
                        <a:rPr lang="en-US" sz="3200" dirty="0" smtClean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chemeClr val="tx2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          </a:t>
                      </a:r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F           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T           F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3200" b="1" baseline="0" dirty="0" smtClean="0">
                          <a:solidFill>
                            <a:schemeClr val="tx2"/>
                          </a:solidFill>
                        </a:rPr>
                        <a:t>    T</a:t>
                      </a:r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           </a:t>
                      </a:r>
                      <a:r>
                        <a:rPr lang="en-US" sz="3200" b="1" dirty="0" err="1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76800" y="257537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¬</a:t>
            </a:r>
            <a:r>
              <a:rPr lang="en-US" sz="3200" b="1" dirty="0" smtClean="0">
                <a:solidFill>
                  <a:schemeClr val="bg1"/>
                </a:solidFill>
              </a:rPr>
              <a:t>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17196" y="2619636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→ 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99951" y="255270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 v ¬p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11705" y="2557232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q</a:t>
            </a:r>
            <a:r>
              <a:rPr lang="en-US" sz="3200" b="1" dirty="0" smtClean="0">
                <a:solidFill>
                  <a:schemeClr val="bg1"/>
                </a:solidFill>
              </a:rPr>
              <a:t> ʌ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34200" y="2575369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 ¬q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13868400" y="6235032"/>
            <a:ext cx="333376" cy="35626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2517083" y="6594633"/>
            <a:ext cx="3095626" cy="1295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 flipH="1">
            <a:off x="12929056" y="6949945"/>
            <a:ext cx="2545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</a:rPr>
              <a:t>Contingency</a:t>
            </a:r>
            <a:endParaRPr lang="en-US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1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0689" y="3962969"/>
            <a:ext cx="9346622" cy="171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sz="9800" b="1" dirty="0" smtClean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Any Questions?</a:t>
            </a:r>
            <a:endParaRPr lang="en-US" sz="9800" b="1" dirty="0">
              <a:solidFill>
                <a:srgbClr val="0E2F5F"/>
              </a:solidFill>
              <a:latin typeface="Barlow Condensed Heavy"/>
              <a:ea typeface="Barlow Condensed Heavy"/>
              <a:cs typeface="Barlow Condensed Heavy"/>
              <a:sym typeface="Barlow Condensed Heavy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511163" y="7791225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424608" y="-1072654"/>
            <a:ext cx="11438784" cy="2839490"/>
            <a:chOff x="0" y="0"/>
            <a:chExt cx="3012684" cy="7478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2684" cy="747849"/>
            </a:xfrm>
            <a:custGeom>
              <a:avLst/>
              <a:gdLst/>
              <a:ahLst/>
              <a:cxnLst/>
              <a:rect l="l" t="t" r="r" b="b"/>
              <a:pathLst>
                <a:path w="3012684" h="747849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424608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3344065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8996715"/>
            <a:ext cx="18288000" cy="1290285"/>
            <a:chOff x="0" y="0"/>
            <a:chExt cx="4816593" cy="3398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16592" cy="339828"/>
            </a:xfrm>
            <a:custGeom>
              <a:avLst/>
              <a:gdLst/>
              <a:ahLst/>
              <a:cxnLst/>
              <a:rect l="l" t="t" r="r" b="b"/>
              <a:pathLst>
                <a:path w="4816592" h="339828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524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0689" y="3176727"/>
            <a:ext cx="9346622" cy="389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sz="16848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7511163" y="7791225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424608" y="-1072654"/>
            <a:ext cx="11438784" cy="2839490"/>
            <a:chOff x="0" y="0"/>
            <a:chExt cx="3012684" cy="7478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2684" cy="747849"/>
            </a:xfrm>
            <a:custGeom>
              <a:avLst/>
              <a:gdLst/>
              <a:ahLst/>
              <a:cxnLst/>
              <a:rect l="l" t="t" r="r" b="b"/>
              <a:pathLst>
                <a:path w="3012684" h="747849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424608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3344065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8996715"/>
            <a:ext cx="18288000" cy="1290285"/>
            <a:chOff x="0" y="0"/>
            <a:chExt cx="4816593" cy="3398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16592" cy="339828"/>
            </a:xfrm>
            <a:custGeom>
              <a:avLst/>
              <a:gdLst/>
              <a:ahLst/>
              <a:cxnLst/>
              <a:rect l="l" t="t" r="r" b="b"/>
              <a:pathLst>
                <a:path w="4816592" h="339828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1179</Words>
  <Application>Microsoft Office PowerPoint</Application>
  <PresentationFormat>Custom</PresentationFormat>
  <Paragraphs>284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Akzidenz-Grotesk Heavy</vt:lpstr>
      <vt:lpstr>Aileron Heavy</vt:lpstr>
      <vt:lpstr>Barlow Condensed Heavy</vt:lpstr>
      <vt:lpstr>Arial</vt:lpstr>
      <vt:lpstr>Arial Black</vt:lpstr>
      <vt:lpstr>Calibri</vt:lpstr>
      <vt:lpstr>Aileron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The Future Of The Arctic Presentation</dc:title>
  <dc:creator>Marina</dc:creator>
  <cp:lastModifiedBy>Microsoft account</cp:lastModifiedBy>
  <cp:revision>53</cp:revision>
  <dcterms:created xsi:type="dcterms:W3CDTF">2006-08-16T00:00:00Z</dcterms:created>
  <dcterms:modified xsi:type="dcterms:W3CDTF">2025-09-04T06:04:47Z</dcterms:modified>
  <dc:identifier>DAGpYosaffE</dc:identifier>
</cp:coreProperties>
</file>