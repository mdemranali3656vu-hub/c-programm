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448" r:id="rId4"/>
    <p:sldId id="260" r:id="rId5"/>
    <p:sldId id="443" r:id="rId6"/>
    <p:sldId id="444" r:id="rId7"/>
    <p:sldId id="445" r:id="rId8"/>
    <p:sldId id="447" r:id="rId9"/>
    <p:sldId id="446" r:id="rId10"/>
    <p:sldId id="44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B9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2ABB-B629-4C41-A942-6949DC1C5A51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CE57A93-7C79-454C-9CC3-233664CE02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86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2ABB-B629-4C41-A942-6949DC1C5A51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7A93-7C79-454C-9CC3-233664CE02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66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2ABB-B629-4C41-A942-6949DC1C5A51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CE57A93-7C79-454C-9CC3-233664CE02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435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2ABB-B629-4C41-A942-6949DC1C5A51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CE57A93-7C79-454C-9CC3-233664CE02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571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2ABB-B629-4C41-A942-6949DC1C5A51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CE57A93-7C79-454C-9CC3-233664CE02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208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2ABB-B629-4C41-A942-6949DC1C5A51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7A93-7C79-454C-9CC3-233664CE02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151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2ABB-B629-4C41-A942-6949DC1C5A51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7A93-7C79-454C-9CC3-233664CE02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655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2ABB-B629-4C41-A942-6949DC1C5A51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7A93-7C79-454C-9CC3-233664CE02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097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2ABB-B629-4C41-A942-6949DC1C5A51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CE57A93-7C79-454C-9CC3-233664CE02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834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2ABB-B629-4C41-A942-6949DC1C5A51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CE57A93-7C79-454C-9CC3-233664CE02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926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2ABB-B629-4C41-A942-6949DC1C5A51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CE57A93-7C79-454C-9CC3-233664CE026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2044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2ABB-B629-4C41-A942-6949DC1C5A51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CE57A93-7C79-454C-9CC3-233664CE02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2752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2ABB-B629-4C41-A942-6949DC1C5A51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CE57A93-7C79-454C-9CC3-233664CE026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0952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2ABB-B629-4C41-A942-6949DC1C5A51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CE57A93-7C79-454C-9CC3-233664CE02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467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2ABB-B629-4C41-A942-6949DC1C5A51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7A93-7C79-454C-9CC3-233664CE02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5410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2ABB-B629-4C41-A942-6949DC1C5A51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7A93-7C79-454C-9CC3-233664CE02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272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F2ABB-B629-4C41-A942-6949DC1C5A51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CE57A93-7C79-454C-9CC3-233664CE02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2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7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7B8B-DE97-62E2-3687-314AA3725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3057525"/>
            <a:ext cx="8915400" cy="1497757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SemiBold" panose="020B0502040204020203" pitchFamily="34" charset="0"/>
              </a:rPr>
              <a:t>Topic:  Making truth table for compound proposition and prove Tautology, Contradiction and Contingency using truth table.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03B539-0B84-28B1-2ECC-2BC29FA8971C}"/>
              </a:ext>
            </a:extLst>
          </p:cNvPr>
          <p:cNvSpPr txBox="1"/>
          <p:nvPr/>
        </p:nvSpPr>
        <p:spPr>
          <a:xfrm>
            <a:off x="2876551" y="1019175"/>
            <a:ext cx="5000624" cy="13234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3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rect">
              <a:fillToRect t="100000" r="100000"/>
            </a:path>
            <a:tileRect l="-100000" b="-100000"/>
          </a:gradFill>
        </p:spPr>
        <p:txBody>
          <a:bodyPr wrap="square" rtlCol="0">
            <a:spAutoFit/>
          </a:bodyPr>
          <a:lstStyle/>
          <a:p>
            <a:r>
              <a:rPr lang="en-US" sz="8000" b="1" dirty="0">
                <a:latin typeface="Aharoni" panose="02010803020104030203" pitchFamily="2" charset="-79"/>
                <a:cs typeface="Aharoni" panose="02010803020104030203" pitchFamily="2" charset="-79"/>
              </a:rPr>
              <a:t>Welcome</a:t>
            </a:r>
            <a:endParaRPr lang="en-US" sz="8000" b="1" dirty="0">
              <a:solidFill>
                <a:schemeClr val="tx1">
                  <a:lumMod val="95000"/>
                  <a:lumOff val="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 useBgFill="1">
        <p:nvSpPr>
          <p:cNvPr id="5" name="TextBox 4">
            <a:extLst>
              <a:ext uri="{FF2B5EF4-FFF2-40B4-BE49-F238E27FC236}">
                <a16:creationId xmlns:a16="http://schemas.microsoft.com/office/drawing/2014/main" id="{2CEA971F-2AC3-65A2-8373-DB722DDE0194}"/>
              </a:ext>
            </a:extLst>
          </p:cNvPr>
          <p:cNvSpPr txBox="1"/>
          <p:nvPr/>
        </p:nvSpPr>
        <p:spPr>
          <a:xfrm>
            <a:off x="7342187" y="2390433"/>
            <a:ext cx="2916238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b="1" dirty="0">
                <a:latin typeface="Algerian" panose="04020705040A02060702" pitchFamily="82" charset="0"/>
              </a:rPr>
              <a:t>to my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1AF44C-0F0B-310B-4DDC-D9CA78E72F53}"/>
              </a:ext>
            </a:extLst>
          </p:cNvPr>
          <p:cNvSpPr txBox="1"/>
          <p:nvPr/>
        </p:nvSpPr>
        <p:spPr>
          <a:xfrm>
            <a:off x="2200275" y="4771945"/>
            <a:ext cx="5676900" cy="1477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 algn="l"/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Presented by</a:t>
            </a:r>
          </a:p>
          <a:p>
            <a:pPr lvl="1" algn="l"/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lvl="1" algn="ctr"/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Md.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Salauddin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  </a:t>
            </a:r>
          </a:p>
          <a:p>
            <a:pPr lvl="1" algn="ctr"/>
            <a:r>
              <a:rPr lang="en-US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  Id: 251311005</a:t>
            </a:r>
          </a:p>
          <a:p>
            <a:pPr lvl="1" algn="ctr"/>
            <a:r>
              <a:rPr lang="en-US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                       CSE dept. Varendra University </a:t>
            </a:r>
          </a:p>
        </p:txBody>
      </p:sp>
    </p:spTree>
    <p:extLst>
      <p:ext uri="{BB962C8B-B14F-4D97-AF65-F5344CB8AC3E}">
        <p14:creationId xmlns:p14="http://schemas.microsoft.com/office/powerpoint/2010/main" val="150819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C473F-B77C-7DEB-2CE7-ED870CCD6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Berlin Sans FB Demi" panose="020E0802020502020306" pitchFamily="34" charset="0"/>
              </a:rPr>
              <a:t>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  <a:t>ruth table</a:t>
            </a:r>
            <a:endParaRPr lang="en-US" dirty="0">
              <a:latin typeface="Berlin Sans FB Demi" panose="020E0802020502020306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13BBF2-27E2-2342-B9FA-7F1593AA0D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4" y="2444205"/>
            <a:ext cx="79988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truth table is a table that shows the output for every possible input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7458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679FC-03A0-5EDC-873E-8D54BEC60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609600"/>
            <a:ext cx="9267825" cy="8096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truth table for compound proposition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600F5C3E-FB07-1913-9C76-93E493EF008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83704966"/>
                  </p:ext>
                </p:extLst>
              </p:nvPr>
            </p:nvGraphicFramePr>
            <p:xfrm>
              <a:off x="1800224" y="1866900"/>
              <a:ext cx="8343900" cy="3575741"/>
            </p:xfrm>
            <a:graphic>
              <a:graphicData uri="http://schemas.openxmlformats.org/drawingml/2006/table">
                <a:tbl>
                  <a:tblPr bandRow="1">
                    <a:effectLst>
                      <a:outerShdw blurRad="50800" dist="38100" dir="13500000" algn="br" rotWithShape="0">
                        <a:prstClr val="black">
                          <a:alpha val="40000"/>
                        </a:prstClr>
                      </a:outerShdw>
                      <a:reflection blurRad="6350" stA="52000" endA="300" endPos="35000" dir="5400000" sy="-100000" algn="bl" rotWithShape="0"/>
                    </a:effectLst>
                    <a:tableStyleId>{8A107856-5554-42FB-B03E-39F5DBC370BA}</a:tableStyleId>
                  </a:tblPr>
                  <a:tblGrid>
                    <a:gridCol w="1668780">
                      <a:extLst>
                        <a:ext uri="{9D8B030D-6E8A-4147-A177-3AD203B41FA5}">
                          <a16:colId xmlns:a16="http://schemas.microsoft.com/office/drawing/2014/main" val="4121156363"/>
                        </a:ext>
                      </a:extLst>
                    </a:gridCol>
                    <a:gridCol w="1668780">
                      <a:extLst>
                        <a:ext uri="{9D8B030D-6E8A-4147-A177-3AD203B41FA5}">
                          <a16:colId xmlns:a16="http://schemas.microsoft.com/office/drawing/2014/main" val="3427579638"/>
                        </a:ext>
                      </a:extLst>
                    </a:gridCol>
                    <a:gridCol w="1668780">
                      <a:extLst>
                        <a:ext uri="{9D8B030D-6E8A-4147-A177-3AD203B41FA5}">
                          <a16:colId xmlns:a16="http://schemas.microsoft.com/office/drawing/2014/main" val="1234374309"/>
                        </a:ext>
                      </a:extLst>
                    </a:gridCol>
                    <a:gridCol w="1668780">
                      <a:extLst>
                        <a:ext uri="{9D8B030D-6E8A-4147-A177-3AD203B41FA5}">
                          <a16:colId xmlns:a16="http://schemas.microsoft.com/office/drawing/2014/main" val="3561424373"/>
                        </a:ext>
                      </a:extLst>
                    </a:gridCol>
                    <a:gridCol w="1668780">
                      <a:extLst>
                        <a:ext uri="{9D8B030D-6E8A-4147-A177-3AD203B41FA5}">
                          <a16:colId xmlns:a16="http://schemas.microsoft.com/office/drawing/2014/main" val="3940094794"/>
                        </a:ext>
                      </a:extLst>
                    </a:gridCol>
                  </a:tblGrid>
                  <a:tr h="5421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sz="18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sym typeface="Symbol" pitchFamily="18" charset="2"/>
                                  </a:rPr>
                                  <m:t>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sz="1800" b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sym typeface="Symbol" pitchFamily="18" charset="2"/>
                                  </a:rPr>
                                  <m:t>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US" b="0" dirty="0" smtClean="0">
                                    <a:sym typeface="Symbol" pitchFamily="18" charset="2"/>
                                  </a:rPr>
                                  <m:t></m:t>
                                </m:r>
                                <m:r>
                                  <m:rPr>
                                    <m:nor/>
                                  </m:rPr>
                                  <a:rPr lang="en-US" b="0" dirty="0" smtClean="0">
                                    <a:sym typeface="Symbol" pitchFamily="18" charset="2"/>
                                  </a:rPr>
                                  <m:t>r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88002643"/>
                      </a:ext>
                    </a:extLst>
                  </a:tr>
                  <a:tr h="3753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3594370"/>
                      </a:ext>
                    </a:extLst>
                  </a:tr>
                  <a:tr h="3098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13799295"/>
                      </a:ext>
                    </a:extLst>
                  </a:tr>
                  <a:tr h="3098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43207335"/>
                      </a:ext>
                    </a:extLst>
                  </a:tr>
                  <a:tr h="3098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14434097"/>
                      </a:ext>
                    </a:extLst>
                  </a:tr>
                  <a:tr h="3098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36735187"/>
                      </a:ext>
                    </a:extLst>
                  </a:tr>
                  <a:tr h="3098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18509285"/>
                      </a:ext>
                    </a:extLst>
                  </a:tr>
                  <a:tr h="3098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0713337"/>
                      </a:ext>
                    </a:extLst>
                  </a:tr>
                  <a:tr h="3098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459248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600F5C3E-FB07-1913-9C76-93E493EF008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83704966"/>
                  </p:ext>
                </p:extLst>
              </p:nvPr>
            </p:nvGraphicFramePr>
            <p:xfrm>
              <a:off x="1800224" y="1866900"/>
              <a:ext cx="8343900" cy="3575741"/>
            </p:xfrm>
            <a:graphic>
              <a:graphicData uri="http://schemas.openxmlformats.org/drawingml/2006/table">
                <a:tbl>
                  <a:tblPr bandRow="1">
                    <a:effectLst>
                      <a:outerShdw blurRad="50800" dist="38100" dir="13500000" algn="br" rotWithShape="0">
                        <a:prstClr val="black">
                          <a:alpha val="40000"/>
                        </a:prstClr>
                      </a:outerShdw>
                      <a:reflection blurRad="6350" stA="52000" endA="300" endPos="35000" dir="5400000" sy="-100000" algn="bl" rotWithShape="0"/>
                    </a:effectLst>
                    <a:tableStyleId>{8A107856-5554-42FB-B03E-39F5DBC370BA}</a:tableStyleId>
                  </a:tblPr>
                  <a:tblGrid>
                    <a:gridCol w="1668780">
                      <a:extLst>
                        <a:ext uri="{9D8B030D-6E8A-4147-A177-3AD203B41FA5}">
                          <a16:colId xmlns:a16="http://schemas.microsoft.com/office/drawing/2014/main" val="4121156363"/>
                        </a:ext>
                      </a:extLst>
                    </a:gridCol>
                    <a:gridCol w="1668780">
                      <a:extLst>
                        <a:ext uri="{9D8B030D-6E8A-4147-A177-3AD203B41FA5}">
                          <a16:colId xmlns:a16="http://schemas.microsoft.com/office/drawing/2014/main" val="3427579638"/>
                        </a:ext>
                      </a:extLst>
                    </a:gridCol>
                    <a:gridCol w="1668780">
                      <a:extLst>
                        <a:ext uri="{9D8B030D-6E8A-4147-A177-3AD203B41FA5}">
                          <a16:colId xmlns:a16="http://schemas.microsoft.com/office/drawing/2014/main" val="1234374309"/>
                        </a:ext>
                      </a:extLst>
                    </a:gridCol>
                    <a:gridCol w="1668780">
                      <a:extLst>
                        <a:ext uri="{9D8B030D-6E8A-4147-A177-3AD203B41FA5}">
                          <a16:colId xmlns:a16="http://schemas.microsoft.com/office/drawing/2014/main" val="3561424373"/>
                        </a:ext>
                      </a:extLst>
                    </a:gridCol>
                    <a:gridCol w="1668780">
                      <a:extLst>
                        <a:ext uri="{9D8B030D-6E8A-4147-A177-3AD203B41FA5}">
                          <a16:colId xmlns:a16="http://schemas.microsoft.com/office/drawing/2014/main" val="394009479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474" t="-13333" r="-402555" b="-10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5474" t="-13333" r="-302555" b="-10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5474" t="-13333" r="-202555" b="-10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474" t="-13333" r="-102555" b="-10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5474" t="-13333" r="-2555" b="-103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8002643"/>
                      </a:ext>
                    </a:extLst>
                  </a:tr>
                  <a:tr h="3753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359437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1379929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432073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1443409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3673518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185092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07133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459248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32343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FF9C2-881E-C0EC-61E4-BB86DEBA9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Rockwell" panose="02060603020205020403" pitchFamily="18" charset="0"/>
              </a:rPr>
              <a:t>Tautology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634FC-D6C6-5EF7-6C12-E08EBA2A8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6907213" cy="1200150"/>
          </a:xfrm>
        </p:spPr>
        <p:txBody>
          <a:bodyPr>
            <a:normAutofit/>
          </a:bodyPr>
          <a:lstStyle/>
          <a:p>
            <a:r>
              <a:rPr lang="en-US" sz="2800" dirty="0"/>
              <a:t>A compound proposition that is always True .</a:t>
            </a:r>
          </a:p>
        </p:txBody>
      </p:sp>
    </p:spTree>
    <p:extLst>
      <p:ext uri="{BB962C8B-B14F-4D97-AF65-F5344CB8AC3E}">
        <p14:creationId xmlns:p14="http://schemas.microsoft.com/office/powerpoint/2010/main" val="4212302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990726" y="495299"/>
            <a:ext cx="8553496" cy="90487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Tautology by truth table</a:t>
            </a:r>
          </a:p>
        </p:txBody>
      </p:sp>
      <p:sp>
        <p:nvSpPr>
          <p:cNvPr id="1229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32555"/>
            <a:ext cx="28448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C7839D-896E-4B74-9616-7AA725F8B410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1229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66200" y="6432555"/>
            <a:ext cx="28448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6CEA220-55C7-4414-B1D5-55A5C5D24C28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5734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1915"/>
              </p:ext>
            </p:extLst>
          </p:nvPr>
        </p:nvGraphicFramePr>
        <p:xfrm>
          <a:off x="1857374" y="1905000"/>
          <a:ext cx="8429005" cy="3771900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536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2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28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05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16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endParaRPr kumimoji="0" lang="en-US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  <a:endParaRPr kumimoji="0" lang="en-US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¬</a:t>
                      </a: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endParaRPr kumimoji="0" lang="en-US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 </a:t>
                      </a: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sym typeface="Symbol" pitchFamily="18" charset="2"/>
                        </a:rPr>
                        <a:t></a:t>
                      </a: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¬</a:t>
                      </a: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 </a:t>
                      </a: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sym typeface="Symbol" pitchFamily="18" charset="2"/>
                        </a:rPr>
                        <a:t></a:t>
                      </a: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(p </a:t>
                      </a: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sym typeface="Symbol" pitchFamily="18" charset="2"/>
                        </a:rPr>
                        <a:t></a:t>
                      </a: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q )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[</a:t>
                      </a: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¬</a:t>
                      </a: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 </a:t>
                      </a: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sym typeface="Symbol" pitchFamily="18" charset="2"/>
                        </a:rPr>
                        <a:t></a:t>
                      </a: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(p </a:t>
                      </a: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sym typeface="Symbol" pitchFamily="18" charset="2"/>
                        </a:rPr>
                        <a:t></a:t>
                      </a: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q )]</a:t>
                      </a: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sym typeface="Symbol" pitchFamily="18" charset="2"/>
                        </a:rPr>
                        <a:t></a:t>
                      </a: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5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/>
                        <a:cs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28600" y="65770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848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7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7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C7B68-64F1-598B-5D00-E983A5ECB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Contradiction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AD419-B165-EAF8-D513-42E62CEDA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1038225"/>
          </a:xfrm>
        </p:spPr>
        <p:txBody>
          <a:bodyPr>
            <a:normAutofit/>
          </a:bodyPr>
          <a:lstStyle/>
          <a:p>
            <a:r>
              <a:rPr lang="en-US" sz="2400" dirty="0"/>
              <a:t>A contradiction is a compound proposition that is always False </a:t>
            </a:r>
          </a:p>
        </p:txBody>
      </p:sp>
    </p:spTree>
    <p:extLst>
      <p:ext uri="{BB962C8B-B14F-4D97-AF65-F5344CB8AC3E}">
        <p14:creationId xmlns:p14="http://schemas.microsoft.com/office/powerpoint/2010/main" val="376249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33551" y="390525"/>
            <a:ext cx="9182100" cy="958694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Contradiction  by truth table</a:t>
            </a:r>
          </a:p>
        </p:txBody>
      </p:sp>
      <p:sp>
        <p:nvSpPr>
          <p:cNvPr id="12290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C7839D-896E-4B74-9616-7AA725F8B410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1229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6CEA220-55C7-4414-B1D5-55A5C5D24C2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25D91C6-64AA-7538-A229-721FF82915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8040318"/>
                  </p:ext>
                </p:extLst>
              </p:nvPr>
            </p:nvGraphicFramePr>
            <p:xfrm>
              <a:off x="1589375" y="2343437"/>
              <a:ext cx="9470452" cy="2874243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742950">
                      <a:extLst>
                        <a:ext uri="{9D8B030D-6E8A-4147-A177-3AD203B41FA5}">
                          <a16:colId xmlns:a16="http://schemas.microsoft.com/office/drawing/2014/main" val="3478340699"/>
                        </a:ext>
                      </a:extLst>
                    </a:gridCol>
                    <a:gridCol w="957215">
                      <a:extLst>
                        <a:ext uri="{9D8B030D-6E8A-4147-A177-3AD203B41FA5}">
                          <a16:colId xmlns:a16="http://schemas.microsoft.com/office/drawing/2014/main" val="240462523"/>
                        </a:ext>
                      </a:extLst>
                    </a:gridCol>
                    <a:gridCol w="1312498">
                      <a:extLst>
                        <a:ext uri="{9D8B030D-6E8A-4147-A177-3AD203B41FA5}">
                          <a16:colId xmlns:a16="http://schemas.microsoft.com/office/drawing/2014/main" val="3608842848"/>
                        </a:ext>
                      </a:extLst>
                    </a:gridCol>
                    <a:gridCol w="1312498">
                      <a:extLst>
                        <a:ext uri="{9D8B030D-6E8A-4147-A177-3AD203B41FA5}">
                          <a16:colId xmlns:a16="http://schemas.microsoft.com/office/drawing/2014/main" val="2851298580"/>
                        </a:ext>
                      </a:extLst>
                    </a:gridCol>
                    <a:gridCol w="1312498">
                      <a:extLst>
                        <a:ext uri="{9D8B030D-6E8A-4147-A177-3AD203B41FA5}">
                          <a16:colId xmlns:a16="http://schemas.microsoft.com/office/drawing/2014/main" val="3188140011"/>
                        </a:ext>
                      </a:extLst>
                    </a:gridCol>
                    <a:gridCol w="1312498">
                      <a:extLst>
                        <a:ext uri="{9D8B030D-6E8A-4147-A177-3AD203B41FA5}">
                          <a16:colId xmlns:a16="http://schemas.microsoft.com/office/drawing/2014/main" val="2561715896"/>
                        </a:ext>
                      </a:extLst>
                    </a:gridCol>
                    <a:gridCol w="2520295">
                      <a:extLst>
                        <a:ext uri="{9D8B030D-6E8A-4147-A177-3AD203B41FA5}">
                          <a16:colId xmlns:a16="http://schemas.microsoft.com/office/drawing/2014/main" val="3035224279"/>
                        </a:ext>
                      </a:extLst>
                    </a:gridCol>
                  </a:tblGrid>
                  <a:tr h="58854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sz="1800" b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effectLst/>
                                    <a:sym typeface="Symbol" pitchFamily="18" charset="2"/>
                                  </a:rPr>
                                  <m:t></m:t>
                                </m:r>
                                <m:r>
                                  <a:rPr lang="en-US" b="1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</a:rPr>
                            <a:t>¬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oMath>
                          </a14:m>
                          <a:endParaRPr lang="en-US" b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</a:rPr>
                            <a:t>¬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endParaRPr lang="en-US" b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</a:rPr>
                            <a:t>¬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oMath>
                          </a14:m>
                          <a:r>
                            <a:rPr kumimoji="0" lang="en-US" sz="1800" b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  <a:sym typeface="Symbol" pitchFamily="18" charset="2"/>
                            </a:rPr>
                            <a:t></a:t>
                          </a:r>
                          <a:r>
                            <a:rPr kumimoji="0" lang="en-US" sz="1800" b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</a:rPr>
                            <a:t>¬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endParaRPr lang="en-US" b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m:rPr>
                                  <m:nor/>
                                </m:rPr>
                                <a:rPr kumimoji="0" lang="en-US" sz="1800" b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effectLst/>
                                  <a:sym typeface="Symbol" pitchFamily="18" charset="2"/>
                                </a:rPr>
                                <m:t></m:t>
                              </m:r>
                              <m:r>
                                <a:rPr kumimoji="0" lang="en-US" sz="1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)</a:t>
                          </a:r>
                          <a:r>
                            <a:rPr kumimoji="0" lang="en-US" sz="1800" b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  <a:sym typeface="Symbol" pitchFamily="18" charset="2"/>
                            </a:rPr>
                            <a:t></a:t>
                          </a:r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(</a:t>
                          </a:r>
                          <a:r>
                            <a:rPr kumimoji="0" lang="en-US" sz="1800" b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</a:rPr>
                            <a:t>¬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kumimoji="0" lang="en-US" sz="1800" b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kumimoji="0" lang="en-US" sz="1800" b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  <a:sym typeface="Symbol" pitchFamily="18" charset="2"/>
                            </a:rPr>
                            <a:t></a:t>
                          </a:r>
                          <a:r>
                            <a:rPr kumimoji="0" lang="en-US" sz="1800" b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</a:rPr>
                            <a:t>¬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29719433"/>
                      </a:ext>
                    </a:extLst>
                  </a:tr>
                  <a:tr h="4795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20491811"/>
                      </a:ext>
                    </a:extLst>
                  </a:tr>
                  <a:tr h="5848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21810283"/>
                      </a:ext>
                    </a:extLst>
                  </a:tr>
                  <a:tr h="5848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65270449"/>
                      </a:ext>
                    </a:extLst>
                  </a:tr>
                  <a:tr h="5848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735187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25D91C6-64AA-7538-A229-721FF82915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8040318"/>
                  </p:ext>
                </p:extLst>
              </p:nvPr>
            </p:nvGraphicFramePr>
            <p:xfrm>
              <a:off x="1589375" y="2343437"/>
              <a:ext cx="9470452" cy="2874243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742950">
                      <a:extLst>
                        <a:ext uri="{9D8B030D-6E8A-4147-A177-3AD203B41FA5}">
                          <a16:colId xmlns:a16="http://schemas.microsoft.com/office/drawing/2014/main" val="3478340699"/>
                        </a:ext>
                      </a:extLst>
                    </a:gridCol>
                    <a:gridCol w="957215">
                      <a:extLst>
                        <a:ext uri="{9D8B030D-6E8A-4147-A177-3AD203B41FA5}">
                          <a16:colId xmlns:a16="http://schemas.microsoft.com/office/drawing/2014/main" val="240462523"/>
                        </a:ext>
                      </a:extLst>
                    </a:gridCol>
                    <a:gridCol w="1312498">
                      <a:extLst>
                        <a:ext uri="{9D8B030D-6E8A-4147-A177-3AD203B41FA5}">
                          <a16:colId xmlns:a16="http://schemas.microsoft.com/office/drawing/2014/main" val="3608842848"/>
                        </a:ext>
                      </a:extLst>
                    </a:gridCol>
                    <a:gridCol w="1312498">
                      <a:extLst>
                        <a:ext uri="{9D8B030D-6E8A-4147-A177-3AD203B41FA5}">
                          <a16:colId xmlns:a16="http://schemas.microsoft.com/office/drawing/2014/main" val="2851298580"/>
                        </a:ext>
                      </a:extLst>
                    </a:gridCol>
                    <a:gridCol w="1312498">
                      <a:extLst>
                        <a:ext uri="{9D8B030D-6E8A-4147-A177-3AD203B41FA5}">
                          <a16:colId xmlns:a16="http://schemas.microsoft.com/office/drawing/2014/main" val="3188140011"/>
                        </a:ext>
                      </a:extLst>
                    </a:gridCol>
                    <a:gridCol w="1312498">
                      <a:extLst>
                        <a:ext uri="{9D8B030D-6E8A-4147-A177-3AD203B41FA5}">
                          <a16:colId xmlns:a16="http://schemas.microsoft.com/office/drawing/2014/main" val="2561715896"/>
                        </a:ext>
                      </a:extLst>
                    </a:gridCol>
                    <a:gridCol w="2520295">
                      <a:extLst>
                        <a:ext uri="{9D8B030D-6E8A-4147-A177-3AD203B41FA5}">
                          <a16:colId xmlns:a16="http://schemas.microsoft.com/office/drawing/2014/main" val="303522427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4762" r="-1176230" b="-35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344" t="-4762" r="-814013" b="-35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9630" t="-4762" r="-491667" b="-35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0698" t="-4762" r="-393953" b="-35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9167" t="-4762" r="-292130" b="-35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1163" t="-4762" r="-193488" b="-35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845" t="-4762" r="-483" b="-352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9719433"/>
                      </a:ext>
                    </a:extLst>
                  </a:tr>
                  <a:tr h="4795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20491811"/>
                      </a:ext>
                    </a:extLst>
                  </a:tr>
                  <a:tr h="5848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21810283"/>
                      </a:ext>
                    </a:extLst>
                  </a:tr>
                  <a:tr h="5848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65270449"/>
                      </a:ext>
                    </a:extLst>
                  </a:tr>
                  <a:tr h="5848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7351877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0032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611F1-6C8E-FD62-E485-24EA782A6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Baloo Da 2 ExtraBold" panose="03080902040302020200" pitchFamily="66" charset="0"/>
                <a:cs typeface="Baloo Da 2 ExtraBold" panose="03080902040302020200" pitchFamily="66" charset="0"/>
              </a:rPr>
              <a:t>Contingency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B09FA-386E-C3F4-28B4-FF2058A46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A compound proposition which is sometimes true and sometime false </a:t>
            </a:r>
          </a:p>
        </p:txBody>
      </p:sp>
    </p:spTree>
    <p:extLst>
      <p:ext uri="{BB962C8B-B14F-4D97-AF65-F5344CB8AC3E}">
        <p14:creationId xmlns:p14="http://schemas.microsoft.com/office/powerpoint/2010/main" val="1734369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BC05832-ECB2-4468-3CCD-B02653E584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3872019"/>
              </p:ext>
            </p:extLst>
          </p:nvPr>
        </p:nvGraphicFramePr>
        <p:xfrm>
          <a:off x="2038350" y="2743200"/>
          <a:ext cx="8152447" cy="29729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8225">
                  <a:extLst>
                    <a:ext uri="{9D8B030D-6E8A-4147-A177-3AD203B41FA5}">
                      <a16:colId xmlns:a16="http://schemas.microsoft.com/office/drawing/2014/main" val="3316962789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1800996323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510479369"/>
                    </a:ext>
                  </a:extLst>
                </a:gridCol>
                <a:gridCol w="2080473">
                  <a:extLst>
                    <a:ext uri="{9D8B030D-6E8A-4147-A177-3AD203B41FA5}">
                      <a16:colId xmlns:a16="http://schemas.microsoft.com/office/drawing/2014/main" val="360301764"/>
                    </a:ext>
                  </a:extLst>
                </a:gridCol>
                <a:gridCol w="2319124">
                  <a:extLst>
                    <a:ext uri="{9D8B030D-6E8A-4147-A177-3AD203B41FA5}">
                      <a16:colId xmlns:a16="http://schemas.microsoft.com/office/drawing/2014/main" val="530092254"/>
                    </a:ext>
                  </a:extLst>
                </a:gridCol>
              </a:tblGrid>
              <a:tr h="55722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 ∧ 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¬q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(p ∧ q) ∨ ¬q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640496"/>
                  </a:ext>
                </a:extLst>
              </a:tr>
              <a:tr h="6039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973123"/>
                  </a:ext>
                </a:extLst>
              </a:tr>
              <a:tr h="6039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380771"/>
                  </a:ext>
                </a:extLst>
              </a:tr>
              <a:tr h="6039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890665"/>
                  </a:ext>
                </a:extLst>
              </a:tr>
              <a:tr h="6039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108698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95DDB8D3-7F00-687D-F37C-1607E8E8A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426" y="561976"/>
            <a:ext cx="6867524" cy="696283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000000"/>
                </a:highlight>
                <a:latin typeface="Rockwell" panose="02060603020205020403" pitchFamily="18" charset="0"/>
              </a:rPr>
              <a:t>  Contingency by truth table</a:t>
            </a:r>
            <a:endParaRPr lang="en-US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5312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D489D-E5B3-39D9-2D4A-10ED49BF6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6935788" cy="34004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b="1" dirty="0">
                <a:latin typeface="Algerian" panose="04020705040A02060702" pitchFamily="82" charset="0"/>
              </a:rPr>
              <a:t>Thanks Everyone</a:t>
            </a:r>
          </a:p>
        </p:txBody>
      </p:sp>
    </p:spTree>
    <p:extLst>
      <p:ext uri="{BB962C8B-B14F-4D97-AF65-F5344CB8AC3E}">
        <p14:creationId xmlns:p14="http://schemas.microsoft.com/office/powerpoint/2010/main" val="333695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102</TotalTime>
  <Words>302</Words>
  <Application>Microsoft Office PowerPoint</Application>
  <PresentationFormat>Widescreen</PresentationFormat>
  <Paragraphs>160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6" baseType="lpstr">
      <vt:lpstr>Aharoni</vt:lpstr>
      <vt:lpstr>Algerian</vt:lpstr>
      <vt:lpstr>Arial</vt:lpstr>
      <vt:lpstr>Arial Black</vt:lpstr>
      <vt:lpstr>Bahnschrift SemiBold</vt:lpstr>
      <vt:lpstr>Baloo Da 2 ExtraBold</vt:lpstr>
      <vt:lpstr>Berlin Sans FB Demi</vt:lpstr>
      <vt:lpstr>Britannic Bold</vt:lpstr>
      <vt:lpstr>Cambria Math</vt:lpstr>
      <vt:lpstr>Century Gothic</vt:lpstr>
      <vt:lpstr>Rockwell</vt:lpstr>
      <vt:lpstr>Symbol</vt:lpstr>
      <vt:lpstr>Tahoma</vt:lpstr>
      <vt:lpstr>Wingdings</vt:lpstr>
      <vt:lpstr>Wingdings 3</vt:lpstr>
      <vt:lpstr>Wisp</vt:lpstr>
      <vt:lpstr>Topic:  Making truth table for compound proposition and prove Tautology, Contradiction and Contingency using truth table. </vt:lpstr>
      <vt:lpstr>Truth table</vt:lpstr>
      <vt:lpstr>A truth table for compound proposition </vt:lpstr>
      <vt:lpstr>Tautology</vt:lpstr>
      <vt:lpstr>Tautology by truth table</vt:lpstr>
      <vt:lpstr>Contradiction</vt:lpstr>
      <vt:lpstr>Contradiction  by truth table</vt:lpstr>
      <vt:lpstr>Contingency </vt:lpstr>
      <vt:lpstr>  Contingency by truth table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SALAUDDIN</dc:creator>
  <cp:lastModifiedBy>MD SALAUDDIN</cp:lastModifiedBy>
  <cp:revision>5</cp:revision>
  <dcterms:created xsi:type="dcterms:W3CDTF">2025-08-16T16:21:11Z</dcterms:created>
  <dcterms:modified xsi:type="dcterms:W3CDTF">2025-11-20T14:50:12Z</dcterms:modified>
</cp:coreProperties>
</file>