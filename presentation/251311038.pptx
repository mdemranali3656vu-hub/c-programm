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04" r:id="rId1"/>
  </p:sldMasterIdLst>
  <p:sldIdLst>
    <p:sldId id="263" r:id="rId2"/>
    <p:sldId id="256" r:id="rId3"/>
    <p:sldId id="257" r:id="rId4"/>
    <p:sldId id="258" r:id="rId5"/>
    <p:sldId id="259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06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2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2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2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69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64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6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30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3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9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044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43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60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911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60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085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35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A275DB-776A-4037-A51B-056FB56DEF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EAA895-AF61-4A30-8B34-365D7622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394" y="705394"/>
            <a:ext cx="4624252" cy="4219303"/>
          </a:xfr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Name : </a:t>
            </a:r>
            <a:r>
              <a:rPr lang="en-US" sz="2800" b="1" dirty="0" err="1">
                <a:solidFill>
                  <a:schemeClr val="tx1"/>
                </a:solidFill>
              </a:rPr>
              <a:t>Tahmida</a:t>
            </a:r>
            <a:r>
              <a:rPr lang="en-US" sz="2800" b="1" dirty="0">
                <a:solidFill>
                  <a:schemeClr val="tx1"/>
                </a:solidFill>
              </a:rPr>
              <a:t> Islam </a:t>
            </a:r>
            <a:r>
              <a:rPr lang="en-US" sz="2800" b="1" dirty="0" err="1">
                <a:solidFill>
                  <a:schemeClr val="tx1"/>
                </a:solidFill>
              </a:rPr>
              <a:t>Syfa</a:t>
            </a:r>
            <a:br>
              <a:rPr lang="en-US" sz="2800" b="1">
                <a:solidFill>
                  <a:schemeClr val="tx1"/>
                </a:solidFill>
              </a:rPr>
            </a:br>
            <a:r>
              <a:rPr lang="en-US" sz="2800" b="1">
                <a:solidFill>
                  <a:schemeClr val="tx1"/>
                </a:solidFill>
              </a:rPr>
              <a:t>Id:251311038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Section : A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Semester : 2</a:t>
            </a:r>
            <a:r>
              <a:rPr lang="en-US" sz="2800" b="1" baseline="30000" dirty="0">
                <a:solidFill>
                  <a:schemeClr val="tx1"/>
                </a:solidFill>
              </a:rPr>
              <a:t>nd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Batch: 36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Department of CSE </a:t>
            </a:r>
            <a:r>
              <a:rPr lang="en-US" sz="2800" b="1" dirty="0" err="1">
                <a:solidFill>
                  <a:schemeClr val="tx1"/>
                </a:solidFill>
              </a:rPr>
              <a:t>Varendra</a:t>
            </a:r>
            <a:r>
              <a:rPr lang="en-US" sz="2800" b="1" dirty="0">
                <a:solidFill>
                  <a:schemeClr val="tx1"/>
                </a:solidFill>
              </a:rPr>
              <a:t> University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8024" y="705394"/>
            <a:ext cx="4402182" cy="4219303"/>
          </a:xfr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</a:rPr>
              <a:t>Course : District Mathematics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Course Code : CSE(1203)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Course Teacher : </a:t>
            </a:r>
            <a:r>
              <a:rPr lang="en-US" sz="2400" b="1" dirty="0" err="1">
                <a:solidFill>
                  <a:schemeClr val="tx1"/>
                </a:solidFill>
              </a:rPr>
              <a:t>Sanjoy</a:t>
            </a:r>
            <a:r>
              <a:rPr lang="en-US" sz="2400" b="1" dirty="0">
                <a:solidFill>
                  <a:schemeClr val="tx1"/>
                </a:solidFill>
              </a:rPr>
              <a:t> Kumar </a:t>
            </a:r>
            <a:r>
              <a:rPr lang="en-US" sz="2400" b="1" dirty="0" err="1">
                <a:solidFill>
                  <a:schemeClr val="tx1"/>
                </a:solidFill>
              </a:rPr>
              <a:t>Chakravarty</a:t>
            </a:r>
            <a:r>
              <a:rPr lang="en-US" sz="2400" b="1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Associate Professor </a:t>
            </a:r>
            <a:r>
              <a:rPr lang="en-US" sz="2400" b="1" dirty="0" err="1">
                <a:solidFill>
                  <a:schemeClr val="tx1"/>
                </a:solidFill>
              </a:rPr>
              <a:t>Depertment</a:t>
            </a:r>
            <a:r>
              <a:rPr lang="en-US" sz="2400" b="1" dirty="0">
                <a:solidFill>
                  <a:schemeClr val="tx1"/>
                </a:solidFill>
              </a:rPr>
              <a:t> of CSE</a:t>
            </a:r>
            <a:endParaRPr lang="en-US" sz="2400" b="1" dirty="0">
              <a:solidFill>
                <a:schemeClr val="tx1"/>
              </a:solidFill>
              <a:latin typeface="Capital"/>
            </a:endParaRPr>
          </a:p>
          <a:p>
            <a:pPr algn="l"/>
            <a:r>
              <a:rPr lang="en-US" sz="2400" b="1" dirty="0" err="1">
                <a:solidFill>
                  <a:schemeClr val="tx1"/>
                </a:solidFill>
              </a:rPr>
              <a:t>Rajshahi</a:t>
            </a:r>
            <a:r>
              <a:rPr lang="en-US" sz="2400" b="1" dirty="0">
                <a:solidFill>
                  <a:schemeClr val="tx1"/>
                </a:solidFill>
              </a:rPr>
              <a:t> University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Date:28.7.2025 </a:t>
            </a:r>
          </a:p>
        </p:txBody>
      </p:sp>
    </p:spTree>
    <p:extLst>
      <p:ext uri="{BB962C8B-B14F-4D97-AF65-F5344CB8AC3E}">
        <p14:creationId xmlns:p14="http://schemas.microsoft.com/office/powerpoint/2010/main" val="7952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44583"/>
            <a:ext cx="8176723" cy="1946366"/>
          </a:xfrm>
          <a:solidFill>
            <a:schemeClr val="accent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sz="2800" dirty="0"/>
            </a:br>
            <a:r>
              <a:rPr lang="en-US" sz="2800" dirty="0">
                <a:solidFill>
                  <a:schemeClr val="tx1"/>
                </a:solidFill>
              </a:rPr>
              <a:t>Propositional Equivalence &amp; Identity Law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A simple way to prove tautologies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79" y="2991394"/>
            <a:ext cx="8176724" cy="1463040"/>
          </a:xfrm>
          <a:solidFill>
            <a:schemeClr val="accent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These are the basic rules of logic which help us to prove tautologies.</a:t>
            </a:r>
          </a:p>
        </p:txBody>
      </p:sp>
    </p:spTree>
    <p:extLst>
      <p:ext uri="{BB962C8B-B14F-4D97-AF65-F5344CB8AC3E}">
        <p14:creationId xmlns:p14="http://schemas.microsoft.com/office/powerpoint/2010/main" val="368402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Concept of Equivalence Identity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Two propositions are equivalent if they always have the same truth value.</a:t>
            </a:r>
          </a:p>
          <a:p>
            <a:r>
              <a:rPr lang="en-US" dirty="0">
                <a:solidFill>
                  <a:schemeClr val="tx1"/>
                </a:solidFill>
              </a:rPr>
              <a:t>It is written as P ≡ Q.</a:t>
            </a:r>
          </a:p>
          <a:p>
            <a:r>
              <a:rPr lang="en-US" dirty="0">
                <a:solidFill>
                  <a:schemeClr val="tx1"/>
                </a:solidFill>
              </a:rPr>
              <a:t>Example: ¬(¬P) ≡ P (Double Negation Law).</a:t>
            </a:r>
          </a:p>
          <a:p>
            <a:r>
              <a:rPr lang="en-US" dirty="0">
                <a:solidFill>
                  <a:schemeClr val="tx1"/>
                </a:solidFill>
              </a:rPr>
              <a:t>Another Example: ¬(P ∧ Q) ≡ (¬P ∨ ¬Q) (De Morgan’s Law).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55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Tautology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solidFill>
            <a:schemeClr val="accent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A tautology is a logical statement that is always true, no matter what the truth values of its variables are.</a:t>
            </a:r>
          </a:p>
          <a:p>
            <a:r>
              <a:rPr lang="en-US" dirty="0"/>
              <a:t>Example: P ∨ ¬P is always true.</a:t>
            </a:r>
          </a:p>
          <a:p>
            <a:r>
              <a:rPr lang="en-US" dirty="0"/>
              <a:t>Tautologies are important in mathematics and computer science because they help in proving logical consistency.</a:t>
            </a:r>
          </a:p>
          <a:p>
            <a:pPr marL="0" indent="0">
              <a:buNone/>
            </a:pPr>
            <a:endParaRPr lang="en-US" dirty="0"/>
          </a:p>
          <a:p>
            <a:pPr algn="ctr"/>
            <a:endParaRPr lang="en-US" dirty="0"/>
          </a:p>
        </p:txBody>
      </p:sp>
      <p:pic>
        <p:nvPicPr>
          <p:cNvPr id="2050" name="Picture 2" descr="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-168275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66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216025"/>
          </a:xfrm>
          <a:solidFill>
            <a:schemeClr val="accent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Proving a Tautology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76994"/>
            <a:ext cx="8620653" cy="3618412"/>
          </a:xfrm>
          <a:solidFill>
            <a:schemeClr val="accent2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Step 1: Start with the expression (P ∨ F).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80809"/>
              </a:solidFill>
              <a:effectLst/>
              <a:latin typeface="Segoe UI Historic" panose="020B0502040204020203" pitchFamily="34" charset="0"/>
              <a:cs typeface="Segoe UI Historic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80809"/>
                </a:solidFill>
                <a:latin typeface="inherit"/>
                <a:cs typeface="Segoe UI Historic" panose="020B0502040204020203" pitchFamily="34" charset="0"/>
              </a:rPr>
              <a:t>Step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2: Apply the Identity Law → it becomes P.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80809"/>
              </a:solidFill>
              <a:effectLst/>
              <a:latin typeface="Segoe UI Historic" panose="020B0502040204020203" pitchFamily="34" charset="0"/>
              <a:cs typeface="Segoe UI Historic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Step 3: Since the simplified form is the same as P, the statement is logically correct.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Another 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80809"/>
              </a:solidFill>
              <a:effectLst/>
              <a:latin typeface="Segoe UI Historic" panose="020B0502040204020203" pitchFamily="34" charset="0"/>
              <a:cs typeface="Segoe UI Historic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(P ∧ T) ≡ 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Apply Identity → 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ctr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9"/>
                </a:solidFill>
                <a:effectLst/>
                <a:latin typeface="inherit"/>
                <a:cs typeface="Segoe UI Historic" panose="020B0502040204020203" pitchFamily="34" charset="0"/>
              </a:rPr>
              <a:t>Thus, tautology is proved using equivalence.  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/>
            <a:endParaRPr lang="en-US" sz="3600" dirty="0"/>
          </a:p>
        </p:txBody>
      </p:sp>
      <p:pic>
        <p:nvPicPr>
          <p:cNvPr id="3074" name="Picture 2" descr="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775" y="33655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06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8100" y="1655079"/>
            <a:ext cx="8163339" cy="286232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¬[p∧(p ∨ q)]→q</a:t>
            </a:r>
          </a:p>
          <a:p>
            <a:r>
              <a:rPr lang="en-US" dirty="0"/>
              <a:t>¬[(p ∧ p)∨(p ∧ q)]→q Distributive</a:t>
            </a:r>
          </a:p>
          <a:p>
            <a:r>
              <a:rPr lang="en-US" dirty="0"/>
              <a:t>¬[F∨(¬p ∧ q)]→q Identity</a:t>
            </a:r>
          </a:p>
          <a:p>
            <a:r>
              <a:rPr lang="en-US" dirty="0"/>
              <a:t>¬[¬p ∧ q]→q Definition of implication </a:t>
            </a:r>
          </a:p>
          <a:p>
            <a:r>
              <a:rPr lang="en-US" dirty="0"/>
              <a:t>¬[¬p ∧ q]∨q De Morgan</a:t>
            </a:r>
          </a:p>
          <a:p>
            <a:r>
              <a:rPr lang="en-US" dirty="0"/>
              <a:t> [¬(¬p)∨¬q]∨q Double Negation</a:t>
            </a:r>
          </a:p>
          <a:p>
            <a:r>
              <a:rPr lang="en-US" dirty="0"/>
              <a:t> [ p ∨¬q]∨q Associative</a:t>
            </a:r>
          </a:p>
          <a:p>
            <a:r>
              <a:rPr lang="en-US" dirty="0"/>
              <a:t> p ∨[¬q ∨ q] Commutative </a:t>
            </a:r>
          </a:p>
          <a:p>
            <a:r>
              <a:rPr lang="en-US" dirty="0"/>
              <a:t> p ∨ T Domination</a:t>
            </a:r>
          </a:p>
          <a:p>
            <a:r>
              <a:rPr lang="en-US" dirty="0"/>
              <a:t> 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956555"/>
              </p:ext>
            </p:extLst>
          </p:nvPr>
        </p:nvGraphicFramePr>
        <p:xfrm>
          <a:off x="1438101" y="719665"/>
          <a:ext cx="8163339" cy="751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132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PROVING A TAUTOLOGY USINGEQUIVALENT IDENTITY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36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346094" cy="634633"/>
          </a:xfrm>
          <a:solidFill>
            <a:schemeClr val="accent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Equivalence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775791"/>
            <a:ext cx="9346095" cy="4081670"/>
          </a:xfrm>
          <a:solidFill>
            <a:schemeClr val="accent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1. Identity Law:</a:t>
            </a:r>
          </a:p>
          <a:p>
            <a:r>
              <a:rPr lang="en-US" dirty="0"/>
              <a:t>P ∨ F ≡ P</a:t>
            </a:r>
          </a:p>
          <a:p>
            <a:r>
              <a:rPr lang="en-US" dirty="0"/>
              <a:t>P ∧ T ≡ P</a:t>
            </a:r>
          </a:p>
          <a:p>
            <a:r>
              <a:rPr lang="en-US" dirty="0"/>
              <a:t>2. Domination Law:</a:t>
            </a:r>
          </a:p>
          <a:p>
            <a:r>
              <a:rPr lang="en-US" dirty="0"/>
              <a:t>P ∨ T ≡ T</a:t>
            </a:r>
          </a:p>
          <a:p>
            <a:r>
              <a:rPr lang="en-US" dirty="0"/>
              <a:t>P ∧ F ≡ F</a:t>
            </a:r>
          </a:p>
          <a:p>
            <a:r>
              <a:rPr lang="en-US" dirty="0"/>
              <a:t>3. Idempotent Law:</a:t>
            </a:r>
          </a:p>
          <a:p>
            <a:r>
              <a:rPr lang="en-US" dirty="0"/>
              <a:t>P ∨ P ≡ P</a:t>
            </a:r>
          </a:p>
          <a:p>
            <a:r>
              <a:rPr lang="en-US" dirty="0"/>
              <a:t>P ∧ P ≡ 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25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325189"/>
            <a:ext cx="9601196" cy="2455817"/>
          </a:xfr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Propositional equivalence helps to simplify logic.</a:t>
            </a:r>
          </a:p>
          <a:p>
            <a:r>
              <a:rPr lang="en-US" dirty="0"/>
              <a:t>Identity law shows how True and False behave in logic.</a:t>
            </a:r>
          </a:p>
          <a:p>
            <a:r>
              <a:rPr lang="en-US" dirty="0"/>
              <a:t>With equivalence rules, proving tautologies becomes easy and clear.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86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465" y="1397726"/>
            <a:ext cx="10298874" cy="3174274"/>
          </a:xfrm>
          <a:solidFill>
            <a:schemeClr val="accent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8" algn="ctr" rtl="0">
              <a:lnSpc>
                <a:spcPct val="90000"/>
              </a:lnSpc>
              <a:spcBef>
                <a:spcPct val="0"/>
              </a:spcBef>
            </a:pPr>
            <a:r>
              <a:rPr lang="en-US" sz="6000" dirty="0"/>
              <a:t>Thanks to all !!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364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88</TotalTime>
  <Words>446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Capital</vt:lpstr>
      <vt:lpstr>Garamond</vt:lpstr>
      <vt:lpstr>inherit</vt:lpstr>
      <vt:lpstr>Segoe UI Historic</vt:lpstr>
      <vt:lpstr>Organic</vt:lpstr>
      <vt:lpstr>Name : Tahmida Islam Syfa Id:251311038 Section : A Semester : 2nd Batch: 36 Department of CSE Varendra University   </vt:lpstr>
      <vt:lpstr> Propositional Equivalence &amp; Identity Law A simple way to prove tautologies  </vt:lpstr>
      <vt:lpstr>Concept of Equivalence Identity </vt:lpstr>
      <vt:lpstr>Tautology</vt:lpstr>
      <vt:lpstr>Proving a Tautology (Example)</vt:lpstr>
      <vt:lpstr>PowerPoint Presentation</vt:lpstr>
      <vt:lpstr>Key Equivalence Laws</vt:lpstr>
      <vt:lpstr>Conclusion</vt:lpstr>
      <vt:lpstr>Thanks to all 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Equivalence &amp; Identity Law A simple way to prove tautologies</dc:title>
  <dc:creator>WIN</dc:creator>
  <cp:lastModifiedBy>Preetthee Hasan</cp:lastModifiedBy>
  <cp:revision>16</cp:revision>
  <dcterms:created xsi:type="dcterms:W3CDTF">2025-08-28T01:46:06Z</dcterms:created>
  <dcterms:modified xsi:type="dcterms:W3CDTF">2025-11-21T06:50:42Z</dcterms:modified>
</cp:coreProperties>
</file>