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72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02602-3C00-4C45-BFB1-DDA98D77D172}" v="1389" dt="2025-09-02T02:29:05.359"/>
    <p1510:client id="{DF2492DA-079E-40E3-A4B7-09C58C31C3B1}" v="172" dt="2025-09-02T02:56:59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9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8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2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9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0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5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2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7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5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29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26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2075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74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51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4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983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F3C85A-2FBA-D035-0DCC-2573D2474C9D}"/>
              </a:ext>
            </a:extLst>
          </p:cNvPr>
          <p:cNvSpPr txBox="1"/>
          <p:nvPr/>
        </p:nvSpPr>
        <p:spPr>
          <a:xfrm>
            <a:off x="-853" y="4575"/>
            <a:ext cx="12193880" cy="107721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 </a:t>
            </a:r>
            <a:r>
              <a:rPr lang="en-US" sz="2800" dirty="0">
                <a:solidFill>
                  <a:schemeClr val="accent4"/>
                </a:solidFill>
              </a:rPr>
              <a:t>Presentation By,</a:t>
            </a:r>
            <a:r>
              <a:rPr lang="en-US" sz="2400" dirty="0"/>
              <a:t>                                    </a:t>
            </a:r>
            <a:r>
              <a:rPr lang="en-US" sz="2400" dirty="0">
                <a:solidFill>
                  <a:schemeClr val="accent4"/>
                </a:solidFill>
              </a:rPr>
              <a:t> </a:t>
            </a:r>
            <a:r>
              <a:rPr lang="en-US" sz="2800" dirty="0">
                <a:solidFill>
                  <a:schemeClr val="accent4"/>
                </a:solidFill>
              </a:rPr>
              <a:t>Presentation To,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                      </a:t>
            </a:r>
          </a:p>
          <a:p>
            <a:r>
              <a:rPr lang="en-US" dirty="0"/>
              <a:t>            </a:t>
            </a:r>
            <a:r>
              <a:rPr lang="en-US" sz="2000" dirty="0" err="1"/>
              <a:t>Md.Abu</a:t>
            </a:r>
            <a:r>
              <a:rPr lang="en-US" sz="2000" dirty="0"/>
              <a:t> Shahadat Siam                                            Sanjoy Kumar Chakravarty</a:t>
            </a:r>
          </a:p>
          <a:p>
            <a:r>
              <a:rPr lang="en-US" sz="2000" dirty="0"/>
              <a:t>           Dept. Of Computer science and </a:t>
            </a:r>
            <a:r>
              <a:rPr lang="en-US" sz="2000" dirty="0" err="1"/>
              <a:t>eng.</a:t>
            </a:r>
            <a:r>
              <a:rPr lang="en-US" sz="2000" dirty="0"/>
              <a:t>                        </a:t>
            </a:r>
            <a:r>
              <a:rPr lang="en-US" sz="2000" dirty="0" err="1"/>
              <a:t>professor,Rajshahi</a:t>
            </a:r>
            <a:r>
              <a:rPr lang="en-US" sz="2000" dirty="0"/>
              <a:t> University</a:t>
            </a:r>
          </a:p>
          <a:p>
            <a:r>
              <a:rPr lang="en-US" sz="2000" dirty="0"/>
              <a:t>           251311014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75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2DD85-8C7B-8DA4-FCD9-62BA6B344D8B}"/>
              </a:ext>
            </a:extLst>
          </p:cNvPr>
          <p:cNvSpPr txBox="1"/>
          <p:nvPr/>
        </p:nvSpPr>
        <p:spPr>
          <a:xfrm>
            <a:off x="3932" y="5225"/>
            <a:ext cx="12183346" cy="81253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900" dirty="0"/>
              <a:t>                         </a:t>
            </a: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</a:rPr>
              <a:t>Course title  :Discrete Mathematics</a:t>
            </a:r>
          </a:p>
          <a:p>
            <a:endParaRPr lang="en-US" sz="2400" dirty="0"/>
          </a:p>
          <a:p>
            <a:r>
              <a:rPr lang="en-US" dirty="0"/>
              <a:t>                          </a:t>
            </a:r>
          </a:p>
          <a:p>
            <a:endParaRPr lang="en-US" dirty="0"/>
          </a:p>
          <a:p>
            <a:r>
              <a:rPr lang="en-US" dirty="0"/>
              <a:t>                        </a:t>
            </a:r>
            <a:r>
              <a:rPr lang="en-US" sz="3200" dirty="0">
                <a:solidFill>
                  <a:srgbClr val="C00000"/>
                </a:solidFill>
              </a:rPr>
              <a:t>Topic : Definition  of predicate and            </a:t>
            </a:r>
          </a:p>
          <a:p>
            <a:r>
              <a:rPr lang="en-US" sz="3200" dirty="0">
                <a:solidFill>
                  <a:srgbClr val="C00000"/>
                </a:solidFill>
              </a:rPr>
              <a:t>                         Quantifier with example.</a:t>
            </a:r>
          </a:p>
          <a:p>
            <a:endParaRPr lang="en-US" sz="3200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0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2C9B6-4565-84ED-8F7E-6EE1C0142195}"/>
              </a:ext>
            </a:extLst>
          </p:cNvPr>
          <p:cNvSpPr txBox="1"/>
          <p:nvPr/>
        </p:nvSpPr>
        <p:spPr>
          <a:xfrm>
            <a:off x="9919" y="-3811"/>
            <a:ext cx="12176477" cy="10064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                                                   </a:t>
            </a:r>
            <a:r>
              <a:rPr lang="en-US" dirty="0"/>
              <a:t>              </a:t>
            </a:r>
            <a:r>
              <a:rPr lang="en-US" sz="2800" dirty="0">
                <a:solidFill>
                  <a:srgbClr val="FF0000"/>
                </a:solidFill>
              </a:rPr>
              <a:t>What is  predicate</a:t>
            </a:r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 ? 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000" b="1" dirty="0">
                <a:latin typeface="Trebuchet MS"/>
                <a:ea typeface="Calibri"/>
                <a:cs typeface="Calibri"/>
              </a:rPr>
              <a:t>A predicate is a  statement with variables  that become true or false when a specific values</a:t>
            </a:r>
          </a:p>
          <a:p>
            <a:r>
              <a:rPr lang="en-US" sz="2000" b="1" dirty="0">
                <a:latin typeface="Trebuchet MS"/>
                <a:ea typeface="Calibri"/>
                <a:cs typeface="Calibri"/>
              </a:rPr>
              <a:t>are </a:t>
            </a:r>
            <a:r>
              <a:rPr lang="en-US" sz="2000" b="1" dirty="0">
                <a:latin typeface="Arial"/>
                <a:ea typeface="Calibri"/>
                <a:cs typeface="Calibri"/>
              </a:rPr>
              <a:t>assigned.</a:t>
            </a:r>
          </a:p>
          <a:p>
            <a:r>
              <a:rPr lang="en-US" sz="2800" dirty="0">
                <a:solidFill>
                  <a:srgbClr val="FFFFFF"/>
                </a:solidFill>
              </a:rPr>
              <a:t>         </a:t>
            </a:r>
          </a:p>
          <a:p>
            <a:r>
              <a:rPr lang="en-US" sz="2800" dirty="0"/>
              <a:t>                                     </a:t>
            </a:r>
            <a:r>
              <a:rPr lang="en-US" sz="2800" dirty="0">
                <a:solidFill>
                  <a:srgbClr val="FF0000"/>
                </a:solidFill>
              </a:rPr>
              <a:t>Example of predicate</a:t>
            </a:r>
          </a:p>
          <a:p>
            <a:endParaRPr lang="en-US" sz="2800" dirty="0"/>
          </a:p>
          <a:p>
            <a:r>
              <a:rPr lang="en-US" sz="2000" dirty="0"/>
              <a:t>"</a:t>
            </a:r>
            <a:r>
              <a:rPr lang="en-US" dirty="0">
                <a:latin typeface="Arial"/>
                <a:cs typeface="Arial"/>
              </a:rPr>
              <a:t>x is greater  than 3".</a:t>
            </a:r>
          </a:p>
          <a:p>
            <a:r>
              <a:rPr lang="en-US" dirty="0"/>
              <a:t>Here,</a:t>
            </a:r>
          </a:p>
          <a:p>
            <a:r>
              <a:rPr lang="en-US" dirty="0"/>
              <a:t>         I</a:t>
            </a:r>
            <a:r>
              <a:rPr lang="en-US" dirty="0">
                <a:latin typeface="Arial"/>
                <a:cs typeface="Arial"/>
              </a:rPr>
              <a:t>s greater than 3</a:t>
            </a:r>
            <a:r>
              <a:rPr lang="en-US" dirty="0"/>
              <a:t> = predicate.</a:t>
            </a:r>
          </a:p>
          <a:p>
            <a:r>
              <a:rPr lang="en-US" dirty="0"/>
              <a:t>          X = variables.</a:t>
            </a:r>
          </a:p>
          <a:p>
            <a:r>
              <a:rPr lang="en-US" dirty="0"/>
              <a:t>Now,</a:t>
            </a:r>
          </a:p>
          <a:p>
            <a:r>
              <a:rPr lang="en-US" dirty="0"/>
              <a:t>        P(x)="x is </a:t>
            </a:r>
            <a:r>
              <a:rPr lang="en-US" err="1">
                <a:latin typeface="Arial"/>
                <a:cs typeface="Arial"/>
              </a:rPr>
              <a:t>gerater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/>
              <a:t>than 3".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dirty="0"/>
              <a:t>          </a:t>
            </a:r>
          </a:p>
          <a:p>
            <a:r>
              <a:rPr lang="en-US" dirty="0"/>
              <a:t>         Called x is a predicate of p.</a:t>
            </a:r>
          </a:p>
          <a:p>
            <a:endParaRPr lang="en-US" sz="200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350" dirty="0" err="1"/>
              <a:t>Fgyy</a:t>
            </a:r>
            <a:endParaRPr lang="en-US" sz="135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350" dirty="0" err="1"/>
              <a:t>gy</a:t>
            </a:r>
            <a:endParaRPr lang="en-US" sz="2800" dirty="0" err="1"/>
          </a:p>
          <a:p>
            <a:endParaRPr lang="en-US" sz="135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9CF01EE-CE6E-F0C6-6424-3D0F876E9D48}"/>
              </a:ext>
            </a:extLst>
          </p:cNvPr>
          <p:cNvSpPr/>
          <p:nvPr/>
        </p:nvSpPr>
        <p:spPr>
          <a:xfrm>
            <a:off x="678376" y="4723447"/>
            <a:ext cx="243276" cy="883637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2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F41641-6415-A613-3885-C230AFCE3F4E}"/>
              </a:ext>
            </a:extLst>
          </p:cNvPr>
          <p:cNvSpPr txBox="1"/>
          <p:nvPr/>
        </p:nvSpPr>
        <p:spPr>
          <a:xfrm>
            <a:off x="-1161" y="89695"/>
            <a:ext cx="12196436" cy="8463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So,</a:t>
            </a:r>
          </a:p>
          <a:p>
            <a:endParaRPr lang="en-US" sz="2000" dirty="0"/>
          </a:p>
          <a:p>
            <a:r>
              <a:rPr lang="en-US" sz="2000" dirty="0"/>
              <a:t>    P(x)="x is </a:t>
            </a:r>
            <a:r>
              <a:rPr lang="en-US" sz="2000" dirty="0">
                <a:latin typeface="Arial"/>
                <a:cs typeface="Arial"/>
              </a:rPr>
              <a:t>greater</a:t>
            </a:r>
            <a:r>
              <a:rPr lang="en-US" sz="2000" dirty="0"/>
              <a:t> than 3".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X=2     p(2)="2 is </a:t>
            </a:r>
            <a:r>
              <a:rPr lang="en-US" sz="2000" dirty="0">
                <a:latin typeface="Arial"/>
                <a:cs typeface="Arial"/>
              </a:rPr>
              <a:t>greater</a:t>
            </a:r>
            <a:r>
              <a:rPr lang="en-US" sz="2000" dirty="0"/>
              <a:t> than 3".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 X=4     p(4)="4 is </a:t>
            </a:r>
            <a:r>
              <a:rPr lang="en-US" sz="2000" dirty="0">
                <a:latin typeface="Arial"/>
                <a:cs typeface="Arial"/>
              </a:rPr>
              <a:t>greater</a:t>
            </a:r>
            <a:r>
              <a:rPr lang="en-US" sz="2000" dirty="0"/>
              <a:t> than 3".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id="{74FCFF6B-A87C-8649-8679-75D6E6E6DFC7}"/>
              </a:ext>
            </a:extLst>
          </p:cNvPr>
          <p:cNvSpPr/>
          <p:nvPr/>
        </p:nvSpPr>
        <p:spPr>
          <a:xfrm>
            <a:off x="3974409" y="1067259"/>
            <a:ext cx="5927694" cy="129999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Ans: F</a:t>
            </a:r>
          </a:p>
        </p:txBody>
      </p:sp>
      <p:sp>
        <p:nvSpPr>
          <p:cNvPr id="6" name="Arrow: Notched Right 5">
            <a:extLst>
              <a:ext uri="{FF2B5EF4-FFF2-40B4-BE49-F238E27FC236}">
                <a16:creationId xmlns:a16="http://schemas.microsoft.com/office/drawing/2014/main" id="{EAC84A74-1692-7A92-59C8-001B19545446}"/>
              </a:ext>
            </a:extLst>
          </p:cNvPr>
          <p:cNvSpPr/>
          <p:nvPr/>
        </p:nvSpPr>
        <p:spPr>
          <a:xfrm>
            <a:off x="3972730" y="2507789"/>
            <a:ext cx="5775183" cy="112337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Ans:T</a:t>
            </a:r>
          </a:p>
        </p:txBody>
      </p:sp>
    </p:spTree>
    <p:extLst>
      <p:ext uri="{BB962C8B-B14F-4D97-AF65-F5344CB8AC3E}">
        <p14:creationId xmlns:p14="http://schemas.microsoft.com/office/powerpoint/2010/main" val="133558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81279-7111-0AED-CB7C-35DC1D9BDFAC}"/>
              </a:ext>
            </a:extLst>
          </p:cNvPr>
          <p:cNvSpPr txBox="1"/>
          <p:nvPr/>
        </p:nvSpPr>
        <p:spPr>
          <a:xfrm>
            <a:off x="14361" y="75499"/>
            <a:ext cx="12183665" cy="75713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                                                        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sz="2800" dirty="0">
                <a:solidFill>
                  <a:srgbClr val="FF0000"/>
                </a:solidFill>
              </a:rPr>
              <a:t>Type of predicate</a:t>
            </a:r>
            <a:endParaRPr lang="en-US" dirty="0"/>
          </a:p>
          <a:p>
            <a:endParaRPr lang="en-US" dirty="0"/>
          </a:p>
          <a:p>
            <a:r>
              <a:rPr lang="en-US" sz="2000" dirty="0"/>
              <a:t>There are three types of predicat</a:t>
            </a:r>
            <a:r>
              <a:rPr lang="en-US" dirty="0"/>
              <a:t>e.</a:t>
            </a:r>
          </a:p>
          <a:p>
            <a:endParaRPr lang="en-US" dirty="0"/>
          </a:p>
          <a:p>
            <a:r>
              <a:rPr lang="en-US" sz="2000" dirty="0"/>
              <a:t>1.unary predicate: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2.Binary predicate: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3.Ternary predicate:</a:t>
            </a:r>
            <a:endParaRPr lang="en-US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4BDF5CA-C545-FEF4-A0F8-C010DDD4AF6F}"/>
              </a:ext>
            </a:extLst>
          </p:cNvPr>
          <p:cNvSpPr/>
          <p:nvPr/>
        </p:nvSpPr>
        <p:spPr>
          <a:xfrm>
            <a:off x="2435910" y="1144884"/>
            <a:ext cx="8833616" cy="92174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Which predicates have one variable , called unary predicate.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Example: "x is </a:t>
            </a:r>
            <a:r>
              <a:rPr lang="en-US" sz="2000" err="1">
                <a:solidFill>
                  <a:schemeClr val="tx1"/>
                </a:solidFill>
                <a:latin typeface="Arial"/>
                <a:cs typeface="Arial"/>
              </a:rPr>
              <a:t>grate</a:t>
            </a:r>
            <a:r>
              <a:rPr lang="en-US" sz="2000" err="1">
                <a:solidFill>
                  <a:schemeClr val="tx1"/>
                </a:solidFill>
              </a:rPr>
              <a:t>r</a:t>
            </a:r>
            <a:r>
              <a:rPr lang="en-US" sz="2000" dirty="0">
                <a:solidFill>
                  <a:schemeClr val="tx1"/>
                </a:solidFill>
              </a:rPr>
              <a:t> than 3".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A7794089-E97A-DB3B-30E6-A857C7BF469A}"/>
              </a:ext>
            </a:extLst>
          </p:cNvPr>
          <p:cNvSpPr/>
          <p:nvPr/>
        </p:nvSpPr>
        <p:spPr>
          <a:xfrm>
            <a:off x="2430336" y="2758062"/>
            <a:ext cx="8808216" cy="78952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Which predicates have two variable , called binary predicate .</a:t>
            </a:r>
          </a:p>
          <a:p>
            <a:pPr algn="ctr"/>
            <a:r>
              <a:rPr lang="en-US" sz="2000" dirty="0"/>
              <a:t>Example: "x is </a:t>
            </a:r>
            <a:r>
              <a:rPr lang="en-US" sz="2000" err="1">
                <a:latin typeface="Arial"/>
                <a:cs typeface="Arial"/>
              </a:rPr>
              <a:t>grater</a:t>
            </a:r>
            <a:r>
              <a:rPr lang="en-US" sz="2000" dirty="0"/>
              <a:t> than y".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9243801D-BD69-FB99-FE08-87F9A9D10BE1}"/>
              </a:ext>
            </a:extLst>
          </p:cNvPr>
          <p:cNvSpPr/>
          <p:nvPr/>
        </p:nvSpPr>
        <p:spPr>
          <a:xfrm>
            <a:off x="2430391" y="4528921"/>
            <a:ext cx="8904703" cy="81440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aseline="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Which predicates have </a:t>
            </a:r>
            <a:r>
              <a:rPr lang="en-US" sz="200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three </a:t>
            </a:r>
            <a:r>
              <a:rPr lang="en-US" sz="2000" baseline="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variable , called </a:t>
            </a:r>
            <a:r>
              <a:rPr lang="en-US" sz="200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 ternary predicate</a:t>
            </a:r>
            <a:r>
              <a:rPr lang="en-US" sz="2000" baseline="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.</a:t>
            </a:r>
            <a:r>
              <a:rPr lang="en-US" sz="200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​</a:t>
            </a:r>
          </a:p>
          <a:p>
            <a:pPr algn="ctr"/>
            <a:r>
              <a:rPr lang="en-US" sz="2000" baseline="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Example: "x is </a:t>
            </a:r>
            <a:r>
              <a:rPr lang="en-US" sz="2000" baseline="0" err="1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grater</a:t>
            </a:r>
            <a:r>
              <a:rPr lang="en-US" sz="2000" baseline="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 than </a:t>
            </a:r>
            <a:r>
              <a:rPr lang="en-US" sz="200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y and z</a:t>
            </a:r>
            <a:r>
              <a:rPr lang="en-US" sz="2000" baseline="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".</a:t>
            </a:r>
            <a:r>
              <a:rPr lang="en-US" sz="2000" dirty="0">
                <a:solidFill>
                  <a:srgbClr val="FFFFFF"/>
                </a:solidFill>
                <a:latin typeface="Century Gothic"/>
                <a:ea typeface="Segoe UI"/>
                <a:cs typeface="Segoe UI"/>
              </a:rPr>
              <a:t>​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826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935E33-E3B9-8AEF-8794-F8E16B31F0C3}"/>
              </a:ext>
            </a:extLst>
          </p:cNvPr>
          <p:cNvSpPr txBox="1"/>
          <p:nvPr/>
        </p:nvSpPr>
        <p:spPr>
          <a:xfrm>
            <a:off x="-3810" y="57957"/>
            <a:ext cx="12199398" cy="8771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                                                                          </a:t>
            </a:r>
            <a:r>
              <a:rPr lang="en-US" sz="2800" dirty="0">
                <a:solidFill>
                  <a:srgbClr val="FF0000"/>
                </a:solidFill>
              </a:rPr>
              <a:t>What is  Quantifier ?</a:t>
            </a:r>
          </a:p>
          <a:p>
            <a:pPr algn="l"/>
            <a:endParaRPr lang="en-US" sz="2800" dirty="0">
              <a:solidFill>
                <a:srgbClr val="FF0000"/>
              </a:solidFill>
            </a:endParaRPr>
          </a:p>
          <a:p>
            <a:r>
              <a:rPr lang="en-US" sz="2000" dirty="0"/>
              <a:t>Quantifiers are symbols that tell how many object in the domain can satisfy a predicate.</a:t>
            </a:r>
          </a:p>
          <a:p>
            <a:endParaRPr lang="en-US" dirty="0"/>
          </a:p>
          <a:p>
            <a:r>
              <a:rPr lang="en-US" dirty="0"/>
              <a:t>                                                                            </a:t>
            </a:r>
            <a:r>
              <a:rPr lang="en-US" sz="2800" dirty="0">
                <a:solidFill>
                  <a:srgbClr val="FF0000"/>
                </a:solidFill>
              </a:rPr>
              <a:t> Types of Quantifier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There are two type of quantifiers.</a:t>
            </a:r>
          </a:p>
          <a:p>
            <a:endParaRPr lang="en-US" sz="2000" dirty="0"/>
          </a:p>
          <a:p>
            <a:r>
              <a:rPr lang="en-US" sz="2000" dirty="0"/>
              <a:t>1.universal quantifier.</a:t>
            </a:r>
          </a:p>
          <a:p>
            <a:r>
              <a:rPr lang="en-US" sz="2000" dirty="0"/>
              <a:t>2.Existential quantifier.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1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57548-7B1D-57DE-8C98-8395354DDC81}"/>
              </a:ext>
            </a:extLst>
          </p:cNvPr>
          <p:cNvSpPr txBox="1"/>
          <p:nvPr/>
        </p:nvSpPr>
        <p:spPr>
          <a:xfrm>
            <a:off x="3264" y="-4452"/>
            <a:ext cx="12191616" cy="9571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                                                                     </a:t>
            </a:r>
            <a:r>
              <a:rPr lang="en-US" sz="2800" dirty="0">
                <a:solidFill>
                  <a:srgbClr val="FF0000"/>
                </a:solidFill>
              </a:rPr>
              <a:t>Universal Quantifier</a:t>
            </a:r>
            <a:endParaRPr lang="en-US" dirty="0"/>
          </a:p>
          <a:p>
            <a:r>
              <a:rPr lang="en-US" sz="2000" dirty="0"/>
              <a:t>Symbol :</a:t>
            </a:r>
            <a:r>
              <a:rPr lang="en-US" sz="2000" dirty="0">
                <a:ea typeface="+mn-lt"/>
                <a:cs typeface="+mn-lt"/>
              </a:rPr>
              <a:t> ∀ </a:t>
            </a:r>
          </a:p>
          <a:p>
            <a:endParaRPr lang="en-US" sz="2000" dirty="0"/>
          </a:p>
          <a:p>
            <a:r>
              <a:rPr lang="en-US" sz="2000" dirty="0"/>
              <a:t>Meaning : "for all value of a variable".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Using some word to identify universal quantifier: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r>
              <a:rPr lang="en-US" sz="2000" dirty="0"/>
              <a:t>Example : </a:t>
            </a:r>
          </a:p>
          <a:p>
            <a:r>
              <a:rPr lang="en-US" sz="2000" dirty="0"/>
              <a:t>               " Every student can speak </a:t>
            </a:r>
            <a:r>
              <a:rPr lang="en-US" sz="2000" err="1"/>
              <a:t>english</a:t>
            </a:r>
            <a:r>
              <a:rPr lang="en-US" sz="2000" dirty="0"/>
              <a:t> ."</a:t>
            </a:r>
          </a:p>
          <a:p>
            <a:r>
              <a:rPr lang="en-US" sz="2000" dirty="0"/>
              <a:t>                 Domain=all students.                                                       </a:t>
            </a:r>
          </a:p>
          <a:p>
            <a:r>
              <a:rPr lang="en-US" sz="2000" dirty="0"/>
              <a:t>               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                                           Existential Quantifier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  <a:p>
            <a:r>
              <a:rPr lang="en-US" sz="2000" dirty="0"/>
              <a:t>Symbol : </a:t>
            </a:r>
            <a:r>
              <a:rPr lang="en-US" sz="2000" dirty="0">
                <a:ea typeface="+mn-lt"/>
                <a:cs typeface="+mn-lt"/>
              </a:rPr>
              <a:t>∃</a:t>
            </a:r>
          </a:p>
          <a:p>
            <a:endParaRPr lang="en-US" sz="2000" dirty="0"/>
          </a:p>
          <a:p>
            <a:r>
              <a:rPr lang="en-US" sz="2000" dirty="0"/>
              <a:t>  Meaning : "there exists at least one of a variable".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  Using some word to identify existential quantifier : 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r>
              <a:rPr lang="en-US" sz="2000" dirty="0"/>
              <a:t>    Example:</a:t>
            </a:r>
          </a:p>
          <a:p>
            <a:r>
              <a:rPr lang="en-US" sz="2000" dirty="0"/>
              <a:t>               "there is a student who can speak </a:t>
            </a:r>
            <a:r>
              <a:rPr lang="en-US" sz="2000" err="1"/>
              <a:t>english</a:t>
            </a:r>
            <a:r>
              <a:rPr lang="en-US" sz="2000" dirty="0"/>
              <a:t>". </a:t>
            </a:r>
          </a:p>
          <a:p>
            <a:r>
              <a:rPr lang="en-US" sz="2000" dirty="0"/>
              <a:t>                 Domain=students. 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   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41D0E-A5DF-78CA-E353-86D9DDDE152D}"/>
              </a:ext>
            </a:extLst>
          </p:cNvPr>
          <p:cNvSpPr/>
          <p:nvPr/>
        </p:nvSpPr>
        <p:spPr>
          <a:xfrm>
            <a:off x="6168382" y="1003404"/>
            <a:ext cx="2999339" cy="707364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all , for every , for each , all of.</a:t>
            </a:r>
            <a:endParaRPr lang="en-US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A49D9722-1F82-FF66-B045-65193C55A1B6}"/>
              </a:ext>
            </a:extLst>
          </p:cNvPr>
          <p:cNvSpPr/>
          <p:nvPr/>
        </p:nvSpPr>
        <p:spPr>
          <a:xfrm>
            <a:off x="6172127" y="1834416"/>
            <a:ext cx="3104142" cy="876108"/>
          </a:xfrm>
          <a:prstGeom prst="homePlat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Logical expression :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∀x p(x)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023DBF-E96D-D3A3-AB51-F12D8373BEF8}"/>
              </a:ext>
            </a:extLst>
          </p:cNvPr>
          <p:cNvSpPr/>
          <p:nvPr/>
        </p:nvSpPr>
        <p:spPr>
          <a:xfrm>
            <a:off x="6264933" y="4520074"/>
            <a:ext cx="2915576" cy="666141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exists , for some , there is , for at least.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A4FD9927-E900-51FD-F31B-69028ED445C8}"/>
              </a:ext>
            </a:extLst>
          </p:cNvPr>
          <p:cNvSpPr/>
          <p:nvPr/>
        </p:nvSpPr>
        <p:spPr>
          <a:xfrm>
            <a:off x="6259145" y="5459782"/>
            <a:ext cx="2819033" cy="961539"/>
          </a:xfrm>
          <a:prstGeom prst="homePlat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Logical expression: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∃x p(x)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43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F9BB39-5A19-8152-1843-6FF84F51A69D}"/>
              </a:ext>
            </a:extLst>
          </p:cNvPr>
          <p:cNvSpPr txBox="1"/>
          <p:nvPr/>
        </p:nvSpPr>
        <p:spPr>
          <a:xfrm>
            <a:off x="3882" y="2620"/>
            <a:ext cx="12175630" cy="108952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                                           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What is</a:t>
            </a: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  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Negating Quantified</a:t>
            </a:r>
            <a:r>
              <a:rPr lang="en-US" sz="2800" dirty="0">
                <a:solidFill>
                  <a:srgbClr val="FF0000"/>
                </a:solidFill>
              </a:rPr>
              <a:t> ?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000" dirty="0"/>
              <a:t>When we </a:t>
            </a:r>
            <a:r>
              <a:rPr lang="en-US" sz="2000" dirty="0">
                <a:latin typeface="Arial"/>
                <a:cs typeface="Arial"/>
              </a:rPr>
              <a:t>negate</a:t>
            </a:r>
            <a:r>
              <a:rPr lang="en-US" sz="2000" dirty="0"/>
              <a:t> ("not") a statement with a quantification ( </a:t>
            </a:r>
            <a:r>
              <a:rPr lang="en-US" sz="2000" dirty="0">
                <a:ea typeface="+mn-lt"/>
                <a:cs typeface="+mn-lt"/>
              </a:rPr>
              <a:t>∀ or ∃).</a:t>
            </a:r>
            <a:r>
              <a:rPr lang="en-US" sz="2000" dirty="0"/>
              <a:t>The quantification </a:t>
            </a:r>
            <a:r>
              <a:rPr lang="en-US" sz="2000" dirty="0" err="1"/>
              <a:t>filips</a:t>
            </a:r>
            <a:endParaRPr lang="en-US" sz="2000" dirty="0"/>
          </a:p>
          <a:p>
            <a:r>
              <a:rPr lang="en-US" sz="2000" dirty="0"/>
              <a:t> to the other one And the predicate also become </a:t>
            </a:r>
            <a:r>
              <a:rPr lang="en-US" sz="2000" dirty="0">
                <a:latin typeface="Arial"/>
                <a:cs typeface="Arial"/>
              </a:rPr>
              <a:t>negated.</a:t>
            </a:r>
          </a:p>
          <a:p>
            <a:r>
              <a:rPr lang="en-US" dirty="0"/>
              <a:t>                                                    </a:t>
            </a:r>
            <a:endParaRPr lang="en-US" sz="2800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dirty="0"/>
              <a:t>                                       </a:t>
            </a:r>
            <a:r>
              <a:rPr lang="en-US" dirty="0">
                <a:solidFill>
                  <a:srgbClr val="000000"/>
                </a:solidFill>
              </a:rPr>
              <a:t>        </a:t>
            </a:r>
            <a:r>
              <a:rPr lang="en-US" sz="2800" dirty="0">
                <a:solidFill>
                  <a:srgbClr val="FF0000"/>
                </a:solidFill>
              </a:rPr>
              <a:t>Universal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negating</a:t>
            </a:r>
            <a:r>
              <a:rPr lang="en-US" sz="2800" dirty="0">
                <a:solidFill>
                  <a:srgbClr val="FF0000"/>
                </a:solidFill>
              </a:rPr>
              <a:t> quantifier</a:t>
            </a:r>
            <a:endParaRPr lang="en-US" sz="2800" dirty="0"/>
          </a:p>
          <a:p>
            <a:endParaRPr lang="en-US" dirty="0"/>
          </a:p>
          <a:p>
            <a:r>
              <a:rPr lang="en-US" sz="2000" dirty="0"/>
              <a:t>Example: "Every birds can fly".</a:t>
            </a:r>
          </a:p>
          <a:p>
            <a:r>
              <a:rPr lang="en-US" sz="2000" dirty="0"/>
              <a:t>                  P(x)="x can fly".</a:t>
            </a:r>
          </a:p>
          <a:p>
            <a:r>
              <a:rPr lang="en-US" sz="2000" dirty="0"/>
              <a:t>                So,</a:t>
            </a:r>
          </a:p>
          <a:p>
            <a:r>
              <a:rPr lang="en-US" sz="2000" dirty="0"/>
              <a:t>                       ∀x p(x) </a:t>
            </a:r>
          </a:p>
          <a:p>
            <a:r>
              <a:rPr lang="en-US" sz="2000" dirty="0"/>
              <a:t>     Negating,</a:t>
            </a:r>
          </a:p>
          <a:p>
            <a:r>
              <a:rPr lang="en-US" sz="2000" dirty="0"/>
              <a:t>                     ¬ ( ∀x p(x))</a:t>
            </a:r>
          </a:p>
          <a:p>
            <a:r>
              <a:rPr lang="en-US" sz="2000" dirty="0"/>
              <a:t>                    = ∃x  ¬p(x) </a:t>
            </a:r>
          </a:p>
          <a:p>
            <a:r>
              <a:rPr lang="en-US" sz="2000" dirty="0">
                <a:solidFill>
                  <a:srgbClr val="00B0F0"/>
                </a:solidFill>
              </a:rPr>
              <a:t>Translation : </a:t>
            </a:r>
            <a:r>
              <a:rPr lang="en-US" sz="2000" dirty="0"/>
              <a:t>there exit a bird that </a:t>
            </a:r>
            <a:r>
              <a:rPr lang="en-US" sz="2000" err="1"/>
              <a:t>can not</a:t>
            </a:r>
            <a:r>
              <a:rPr lang="en-US" sz="2000" dirty="0"/>
              <a:t> fly.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dirty="0"/>
              <a:t>                                                             </a:t>
            </a:r>
            <a:endParaRPr lang="en-US" sz="2800" dirty="0">
              <a:solidFill>
                <a:srgbClr val="FF0000"/>
              </a:solidFill>
            </a:endParaRPr>
          </a:p>
          <a:p>
            <a:pPr algn="ctr"/>
            <a:r>
              <a:rPr lang="en-US" dirty="0"/>
              <a:t>                                                  </a:t>
            </a:r>
          </a:p>
          <a:p>
            <a:pPr algn="ctr"/>
            <a:endParaRPr lang="en-US" dirty="0"/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                                                           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404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B4160-C773-AAD2-ACA9-ACC1AE7FF745}"/>
              </a:ext>
            </a:extLst>
          </p:cNvPr>
          <p:cNvSpPr txBox="1"/>
          <p:nvPr/>
        </p:nvSpPr>
        <p:spPr>
          <a:xfrm>
            <a:off x="1368" y="1383"/>
            <a:ext cx="12187286" cy="99719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                                                           </a:t>
            </a:r>
            <a:r>
              <a:rPr lang="en-US" sz="2800" dirty="0"/>
              <a:t> </a:t>
            </a:r>
            <a:r>
              <a:rPr lang="en-US" sz="2800" dirty="0">
                <a:solidFill>
                  <a:srgbClr val="FF0000"/>
                </a:solidFill>
              </a:rPr>
              <a:t>Existential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negating</a:t>
            </a:r>
            <a:r>
              <a:rPr lang="en-US" sz="2800" dirty="0">
                <a:solidFill>
                  <a:srgbClr val="FF0000"/>
                </a:solidFill>
              </a:rPr>
              <a:t> quantifier</a:t>
            </a:r>
            <a:endParaRPr lang="en-US" sz="2800" dirty="0"/>
          </a:p>
          <a:p>
            <a:endParaRPr lang="en-US" dirty="0"/>
          </a:p>
          <a:p>
            <a:r>
              <a:rPr lang="en-US" sz="2000" dirty="0"/>
              <a:t>Example: "There is an honest politician".</a:t>
            </a:r>
          </a:p>
          <a:p>
            <a:r>
              <a:rPr lang="en-US" sz="2000" dirty="0"/>
              <a:t>                  P(x)="x  is honest".</a:t>
            </a:r>
          </a:p>
          <a:p>
            <a:r>
              <a:rPr lang="en-US" sz="2000" dirty="0"/>
              <a:t>                   So,</a:t>
            </a:r>
          </a:p>
          <a:p>
            <a:r>
              <a:rPr lang="en-US" sz="2000" dirty="0"/>
              <a:t>                         ∃x p(x)</a:t>
            </a:r>
          </a:p>
          <a:p>
            <a:endParaRPr lang="en-US" sz="2000" dirty="0"/>
          </a:p>
          <a:p>
            <a:r>
              <a:rPr lang="en-US" sz="2000" dirty="0"/>
              <a:t>           Negating,</a:t>
            </a:r>
          </a:p>
          <a:p>
            <a:r>
              <a:rPr lang="en-US" sz="2000" dirty="0"/>
              <a:t>                             ¬ (∃x p(x)) </a:t>
            </a:r>
          </a:p>
          <a:p>
            <a:r>
              <a:rPr lang="en-US" sz="2000" dirty="0"/>
              <a:t>                             =∀x  ¬p(x)</a:t>
            </a:r>
            <a:endParaRPr lang="en-US" sz="200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B0F0"/>
                </a:solidFill>
              </a:rPr>
              <a:t> Translation : </a:t>
            </a:r>
            <a:r>
              <a:rPr lang="en-US" sz="2000" dirty="0"/>
              <a:t>Every politician is dishonest.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8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5029A-9862-7821-0B66-7209AB0190E3}"/>
              </a:ext>
            </a:extLst>
          </p:cNvPr>
          <p:cNvSpPr txBox="1"/>
          <p:nvPr/>
        </p:nvSpPr>
        <p:spPr>
          <a:xfrm>
            <a:off x="-1237" y="-1872"/>
            <a:ext cx="12198121" cy="9448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                                        </a:t>
            </a:r>
            <a:r>
              <a:rPr lang="en-US" sz="3200" dirty="0">
                <a:solidFill>
                  <a:srgbClr val="FF0000"/>
                </a:solidFill>
              </a:rPr>
              <a:t>DO YOU HAVE ANY QUESTIONS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 descr="A person leaning on a question mark&#10;&#10;AI-generated content may be incorrect.">
            <a:extLst>
              <a:ext uri="{FF2B5EF4-FFF2-40B4-BE49-F238E27FC236}">
                <a16:creationId xmlns:a16="http://schemas.microsoft.com/office/drawing/2014/main" id="{46C44C2B-928B-B2D4-C7AD-D4F843627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5" y="3024481"/>
            <a:ext cx="6096000" cy="26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8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98D66-DC28-DE8E-5458-0C3F59E0C67A}"/>
              </a:ext>
            </a:extLst>
          </p:cNvPr>
          <p:cNvSpPr txBox="1"/>
          <p:nvPr/>
        </p:nvSpPr>
        <p:spPr>
          <a:xfrm>
            <a:off x="-1734" y="4930"/>
            <a:ext cx="12199800" cy="100027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  <a:p>
            <a:r>
              <a:rPr lang="en-US" dirty="0"/>
              <a:t>                         </a:t>
            </a:r>
            <a:r>
              <a:rPr lang="en-US" dirty="0">
                <a:solidFill>
                  <a:srgbClr val="FFFFFF"/>
                </a:solidFill>
              </a:rPr>
              <a:t>                                                                                                                                                       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                                                                     </a:t>
            </a:r>
            <a:r>
              <a:rPr lang="en-US" sz="3200" dirty="0">
                <a:solidFill>
                  <a:srgbClr val="FF0000"/>
                </a:solidFill>
              </a:rPr>
              <a:t>THANK YOU 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894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1526</cp:revision>
  <dcterms:created xsi:type="dcterms:W3CDTF">2025-08-27T16:13:02Z</dcterms:created>
  <dcterms:modified xsi:type="dcterms:W3CDTF">2025-09-06T16:25:43Z</dcterms:modified>
</cp:coreProperties>
</file>