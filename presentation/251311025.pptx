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svg" ContentType="image/sv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8288000" cy="10287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8C33266-8AB3-451A-A4EB-E8906139D68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0E58BF-F4B8-4314-B0E3-A1097DFB76E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762420D-9FA8-4A06-87DC-A8FD9E6A5B9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9075735-CB1E-4ECA-92A3-5674D40AFAB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3E6433B-ECD2-4CB1-8222-42BC5403F37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9991083-6661-4570-84FA-FC606BF33EA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0F33390-9297-4E43-915E-1E5DFE05505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CF034AA-4C97-4EDB-962A-14D1115955D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5C2F2CE-1B77-4FA5-A7C1-AAF0966289F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478E055-3AB6-448D-B35A-C7A6A8BE13C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7CAB63F-62CD-4F4F-87F8-76C32D3A602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843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2"/>
          <p:cNvGrpSpPr/>
          <p:nvPr/>
        </p:nvGrpSpPr>
        <p:grpSpPr>
          <a:xfrm>
            <a:off x="380520" y="371160"/>
            <a:ext cx="17428320" cy="9423000"/>
            <a:chOff x="380520" y="371160"/>
            <a:chExt cx="17428320" cy="9423000"/>
          </a:xfrm>
        </p:grpSpPr>
        <p:sp>
          <p:nvSpPr>
            <p:cNvPr id="60" name="Freeform 4"/>
            <p:cNvSpPr/>
            <p:nvPr/>
          </p:nvSpPr>
          <p:spPr>
            <a:xfrm>
              <a:off x="380520" y="371160"/>
              <a:ext cx="17428320" cy="9423000"/>
            </a:xfrm>
            <a:custGeom>
              <a:avLst/>
              <a:gdLst>
                <a:gd name="textAreaLeft" fmla="*/ 0 w 17428320"/>
                <a:gd name="textAreaRight" fmla="*/ 17428680 w 17428320"/>
                <a:gd name="textAreaTop" fmla="*/ 0 h 9423000"/>
                <a:gd name="textAreaBottom" fmla="*/ 9423360 h 9423000"/>
              </a:gdLst>
              <a:ahLst/>
              <a:cxnLst/>
              <a:rect l="textAreaLeft" t="textAreaTop" r="textAreaRight" b="textAreaBottom"/>
              <a:pathLst>
                <a:path w="12029275" h="6504043">
                  <a:moveTo>
                    <a:pt x="11884496" y="6359264"/>
                  </a:moveTo>
                  <a:lnTo>
                    <a:pt x="12029275" y="6359264"/>
                  </a:lnTo>
                  <a:lnTo>
                    <a:pt x="12029275" y="6504043"/>
                  </a:lnTo>
                  <a:lnTo>
                    <a:pt x="11884496" y="6504043"/>
                  </a:lnTo>
                  <a:lnTo>
                    <a:pt x="11884496" y="6359264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6359264"/>
                  </a:lnTo>
                  <a:lnTo>
                    <a:pt x="0" y="6359264"/>
                  </a:lnTo>
                  <a:lnTo>
                    <a:pt x="0" y="144780"/>
                  </a:lnTo>
                  <a:close/>
                  <a:moveTo>
                    <a:pt x="0" y="6359264"/>
                  </a:moveTo>
                  <a:lnTo>
                    <a:pt x="144780" y="6359264"/>
                  </a:lnTo>
                  <a:lnTo>
                    <a:pt x="144780" y="6504043"/>
                  </a:lnTo>
                  <a:lnTo>
                    <a:pt x="0" y="6504043"/>
                  </a:lnTo>
                  <a:lnTo>
                    <a:pt x="0" y="6359264"/>
                  </a:lnTo>
                  <a:close/>
                  <a:moveTo>
                    <a:pt x="11884496" y="144780"/>
                  </a:moveTo>
                  <a:lnTo>
                    <a:pt x="12029275" y="144780"/>
                  </a:lnTo>
                  <a:lnTo>
                    <a:pt x="12029275" y="6359264"/>
                  </a:lnTo>
                  <a:lnTo>
                    <a:pt x="11884496" y="6359264"/>
                  </a:lnTo>
                  <a:lnTo>
                    <a:pt x="11884496" y="144780"/>
                  </a:lnTo>
                  <a:close/>
                  <a:moveTo>
                    <a:pt x="144780" y="6359264"/>
                  </a:moveTo>
                  <a:lnTo>
                    <a:pt x="11884496" y="6359264"/>
                  </a:lnTo>
                  <a:lnTo>
                    <a:pt x="11884496" y="6504043"/>
                  </a:lnTo>
                  <a:lnTo>
                    <a:pt x="144780" y="6504043"/>
                  </a:lnTo>
                  <a:lnTo>
                    <a:pt x="144780" y="6359264"/>
                  </a:lnTo>
                  <a:close/>
                  <a:moveTo>
                    <a:pt x="11884496" y="0"/>
                  </a:moveTo>
                  <a:lnTo>
                    <a:pt x="12029275" y="0"/>
                  </a:lnTo>
                  <a:lnTo>
                    <a:pt x="12029275" y="144780"/>
                  </a:lnTo>
                  <a:lnTo>
                    <a:pt x="11884496" y="144780"/>
                  </a:lnTo>
                  <a:lnTo>
                    <a:pt x="1188449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1884496" y="0"/>
                  </a:lnTo>
                  <a:lnTo>
                    <a:pt x="1188449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d3b6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1" name="TextBox 5"/>
          <p:cNvSpPr/>
          <p:nvPr/>
        </p:nvSpPr>
        <p:spPr>
          <a:xfrm>
            <a:off x="1868760" y="1123920"/>
            <a:ext cx="14451840" cy="179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601"/>
              </a:lnSpc>
            </a:pPr>
            <a:r>
              <a:rPr b="0" lang="en-US" sz="10430" spc="510" strike="noStrike" u="none">
                <a:solidFill>
                  <a:srgbClr val="ffffff"/>
                </a:solidFill>
                <a:effectLst/>
                <a:uFillTx/>
                <a:latin typeface="Gulfs Display"/>
                <a:ea typeface="Gulfs Display"/>
              </a:rPr>
              <a:t>TRUTH TABLE</a:t>
            </a:r>
            <a:endParaRPr b="0" lang="en-US" sz="104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6"/>
          <p:cNvSpPr/>
          <p:nvPr/>
        </p:nvSpPr>
        <p:spPr>
          <a:xfrm>
            <a:off x="1829880" y="2821320"/>
            <a:ext cx="14529600" cy="173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6999"/>
              </a:lnSpc>
            </a:pPr>
            <a:r>
              <a:rPr b="1" lang="en-US" sz="5000" strike="noStrike" u="none">
                <a:solidFill>
                  <a:srgbClr val="e9cc7d"/>
                </a:solidFill>
                <a:effectLst/>
                <a:uFillTx/>
                <a:latin typeface="Montserrat Medium"/>
                <a:ea typeface="Montserrat Medium"/>
              </a:rPr>
              <a:t>Tautology,Contradiction &amp; Contingency proof using Truth table</a:t>
            </a:r>
            <a:endParaRPr b="0" lang="en-US" sz="5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7"/>
          <p:cNvSpPr/>
          <p:nvPr/>
        </p:nvSpPr>
        <p:spPr>
          <a:xfrm>
            <a:off x="1028880" y="6629400"/>
            <a:ext cx="5371920" cy="284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5598"/>
              </a:lnSpc>
            </a:pPr>
            <a:r>
              <a:rPr b="1" lang="en-US" sz="4000" strike="noStrike" u="none">
                <a:solidFill>
                  <a:srgbClr val="ffffff"/>
                </a:solidFill>
                <a:effectLst/>
                <a:uFillTx/>
                <a:latin typeface="Montserrat Medium"/>
                <a:ea typeface="Montserrat Medium"/>
              </a:rPr>
              <a:t>Name: Maruf                      Ahmed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5598"/>
              </a:lnSpc>
            </a:pPr>
            <a:r>
              <a:rPr b="1" lang="en-US" sz="4000" strike="noStrike" u="none">
                <a:solidFill>
                  <a:srgbClr val="ffffff"/>
                </a:solidFill>
                <a:effectLst/>
                <a:uFillTx/>
                <a:latin typeface="Montserrat Medium"/>
                <a:ea typeface="Montserrat Medium"/>
              </a:rPr>
              <a:t>ID: 251311025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5598"/>
              </a:lnSpc>
            </a:pPr>
            <a:r>
              <a:rPr b="1" lang="en-US" sz="4000" strike="noStrike" u="none">
                <a:solidFill>
                  <a:srgbClr val="ffffff"/>
                </a:solidFill>
                <a:effectLst/>
                <a:uFillTx/>
                <a:latin typeface="Montserrat Medium"/>
                <a:ea typeface="Montserrat Medium"/>
              </a:rPr>
              <a:t>Sec: A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9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roup 2"/>
          <p:cNvGrpSpPr/>
          <p:nvPr/>
        </p:nvGrpSpPr>
        <p:grpSpPr>
          <a:xfrm>
            <a:off x="402480" y="536760"/>
            <a:ext cx="17428320" cy="9423000"/>
            <a:chOff x="402480" y="536760"/>
            <a:chExt cx="17428320" cy="9423000"/>
          </a:xfrm>
        </p:grpSpPr>
        <p:sp>
          <p:nvSpPr>
            <p:cNvPr id="65" name="Freeform 3"/>
            <p:cNvSpPr/>
            <p:nvPr/>
          </p:nvSpPr>
          <p:spPr>
            <a:xfrm>
              <a:off x="507240" y="641880"/>
              <a:ext cx="17218800" cy="9213480"/>
            </a:xfrm>
            <a:custGeom>
              <a:avLst/>
              <a:gdLst>
                <a:gd name="textAreaLeft" fmla="*/ 0 w 17218800"/>
                <a:gd name="textAreaRight" fmla="*/ 17219160 w 17218800"/>
                <a:gd name="textAreaTop" fmla="*/ 0 h 9213480"/>
                <a:gd name="textAreaBottom" fmla="*/ 9213840 h 9213480"/>
              </a:gdLst>
              <a:ahLst/>
              <a:cxnLst/>
              <a:rect l="textAreaLeft" t="textAreaTop" r="textAreaRight" b="textAreaBottom"/>
              <a:pathLst>
                <a:path w="11884495" h="6359264">
                  <a:moveTo>
                    <a:pt x="0" y="0"/>
                  </a:moveTo>
                  <a:lnTo>
                    <a:pt x="11884495" y="0"/>
                  </a:lnTo>
                  <a:lnTo>
                    <a:pt x="11884495" y="6359264"/>
                  </a:lnTo>
                  <a:lnTo>
                    <a:pt x="0" y="63592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9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" name="Freeform 4"/>
            <p:cNvSpPr/>
            <p:nvPr/>
          </p:nvSpPr>
          <p:spPr>
            <a:xfrm>
              <a:off x="402480" y="536760"/>
              <a:ext cx="17428320" cy="9423000"/>
            </a:xfrm>
            <a:custGeom>
              <a:avLst/>
              <a:gdLst>
                <a:gd name="textAreaLeft" fmla="*/ 0 w 17428320"/>
                <a:gd name="textAreaRight" fmla="*/ 17428680 w 17428320"/>
                <a:gd name="textAreaTop" fmla="*/ 0 h 9423000"/>
                <a:gd name="textAreaBottom" fmla="*/ 9423360 h 9423000"/>
              </a:gdLst>
              <a:ahLst/>
              <a:cxnLst/>
              <a:rect l="textAreaLeft" t="textAreaTop" r="textAreaRight" b="textAreaBottom"/>
              <a:pathLst>
                <a:path w="12029275" h="6504043">
                  <a:moveTo>
                    <a:pt x="11884496" y="6359264"/>
                  </a:moveTo>
                  <a:lnTo>
                    <a:pt x="12029275" y="6359264"/>
                  </a:lnTo>
                  <a:lnTo>
                    <a:pt x="12029275" y="6504043"/>
                  </a:lnTo>
                  <a:lnTo>
                    <a:pt x="11884496" y="6504043"/>
                  </a:lnTo>
                  <a:lnTo>
                    <a:pt x="11884496" y="6359264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6359264"/>
                  </a:lnTo>
                  <a:lnTo>
                    <a:pt x="0" y="6359264"/>
                  </a:lnTo>
                  <a:lnTo>
                    <a:pt x="0" y="144780"/>
                  </a:lnTo>
                  <a:close/>
                  <a:moveTo>
                    <a:pt x="0" y="6359264"/>
                  </a:moveTo>
                  <a:lnTo>
                    <a:pt x="144780" y="6359264"/>
                  </a:lnTo>
                  <a:lnTo>
                    <a:pt x="144780" y="6504043"/>
                  </a:lnTo>
                  <a:lnTo>
                    <a:pt x="0" y="6504043"/>
                  </a:lnTo>
                  <a:lnTo>
                    <a:pt x="0" y="6359264"/>
                  </a:lnTo>
                  <a:close/>
                  <a:moveTo>
                    <a:pt x="11884496" y="144780"/>
                  </a:moveTo>
                  <a:lnTo>
                    <a:pt x="12029275" y="144780"/>
                  </a:lnTo>
                  <a:lnTo>
                    <a:pt x="12029275" y="6359264"/>
                  </a:lnTo>
                  <a:lnTo>
                    <a:pt x="11884496" y="6359264"/>
                  </a:lnTo>
                  <a:lnTo>
                    <a:pt x="11884496" y="144780"/>
                  </a:lnTo>
                  <a:close/>
                  <a:moveTo>
                    <a:pt x="144780" y="6359264"/>
                  </a:moveTo>
                  <a:lnTo>
                    <a:pt x="11884496" y="6359264"/>
                  </a:lnTo>
                  <a:lnTo>
                    <a:pt x="11884496" y="6504043"/>
                  </a:lnTo>
                  <a:lnTo>
                    <a:pt x="144780" y="6504043"/>
                  </a:lnTo>
                  <a:lnTo>
                    <a:pt x="144780" y="6359264"/>
                  </a:lnTo>
                  <a:close/>
                  <a:moveTo>
                    <a:pt x="11884496" y="0"/>
                  </a:moveTo>
                  <a:lnTo>
                    <a:pt x="12029275" y="0"/>
                  </a:lnTo>
                  <a:lnTo>
                    <a:pt x="12029275" y="144780"/>
                  </a:lnTo>
                  <a:lnTo>
                    <a:pt x="11884496" y="144780"/>
                  </a:lnTo>
                  <a:lnTo>
                    <a:pt x="1188449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1884496" y="0"/>
                  </a:lnTo>
                  <a:lnTo>
                    <a:pt x="1188449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d3b6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7" name="TextBox 5"/>
          <p:cNvSpPr/>
          <p:nvPr/>
        </p:nvSpPr>
        <p:spPr>
          <a:xfrm>
            <a:off x="1858680" y="1193040"/>
            <a:ext cx="14451840" cy="119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9799"/>
              </a:lnSpc>
            </a:pPr>
            <a:r>
              <a:rPr b="0" lang="en-US" sz="7000" spc="349" strike="noStrike" u="none">
                <a:solidFill>
                  <a:srgbClr val="284353"/>
                </a:solidFill>
                <a:effectLst/>
                <a:uFillTx/>
                <a:latin typeface="Montserrat"/>
                <a:ea typeface="Montserrat"/>
              </a:rPr>
              <a:t>What is Truth table?</a:t>
            </a:r>
            <a:endParaRPr b="0" lang="en-US" sz="7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8" name="Group 6"/>
          <p:cNvGrpSpPr/>
          <p:nvPr/>
        </p:nvGrpSpPr>
        <p:grpSpPr>
          <a:xfrm>
            <a:off x="8071920" y="3429000"/>
            <a:ext cx="11145960" cy="2637360"/>
            <a:chOff x="8071920" y="3429000"/>
            <a:chExt cx="11145960" cy="2637360"/>
          </a:xfrm>
        </p:grpSpPr>
        <p:sp>
          <p:nvSpPr>
            <p:cNvPr id="69" name="Freeform 7"/>
            <p:cNvSpPr/>
            <p:nvPr/>
          </p:nvSpPr>
          <p:spPr>
            <a:xfrm>
              <a:off x="8142840" y="3499560"/>
              <a:ext cx="11004480" cy="2495880"/>
            </a:xfrm>
            <a:custGeom>
              <a:avLst/>
              <a:gdLst>
                <a:gd name="textAreaLeft" fmla="*/ 0 w 11004480"/>
                <a:gd name="textAreaRight" fmla="*/ 11004840 w 11004480"/>
                <a:gd name="textAreaTop" fmla="*/ 0 h 2495880"/>
                <a:gd name="textAreaBottom" fmla="*/ 2496240 h 2495880"/>
              </a:gdLst>
              <a:ahLst/>
              <a:cxnLst/>
              <a:rect l="textAreaLeft" t="textAreaTop" r="textAreaRight" b="textAreaBottom"/>
              <a:pathLst>
                <a:path w="11266599" h="2555662">
                  <a:moveTo>
                    <a:pt x="0" y="0"/>
                  </a:moveTo>
                  <a:lnTo>
                    <a:pt x="11266599" y="0"/>
                  </a:lnTo>
                  <a:lnTo>
                    <a:pt x="11266599" y="2555662"/>
                  </a:lnTo>
                  <a:lnTo>
                    <a:pt x="0" y="25556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d6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" name="Freeform 8"/>
            <p:cNvSpPr/>
            <p:nvPr/>
          </p:nvSpPr>
          <p:spPr>
            <a:xfrm>
              <a:off x="8071920" y="3429000"/>
              <a:ext cx="11145960" cy="2637360"/>
            </a:xfrm>
            <a:custGeom>
              <a:avLst/>
              <a:gdLst>
                <a:gd name="textAreaLeft" fmla="*/ 0 w 11145960"/>
                <a:gd name="textAreaRight" fmla="*/ 11146320 w 11145960"/>
                <a:gd name="textAreaTop" fmla="*/ 0 h 2637360"/>
                <a:gd name="textAreaBottom" fmla="*/ 2637720 h 2637360"/>
              </a:gdLst>
              <a:ahLst/>
              <a:cxnLst/>
              <a:rect l="textAreaLeft" t="textAreaTop" r="textAreaRight" b="textAreaBottom"/>
              <a:pathLst>
                <a:path w="11411379" h="2700442">
                  <a:moveTo>
                    <a:pt x="11266599" y="2555662"/>
                  </a:moveTo>
                  <a:lnTo>
                    <a:pt x="11411379" y="2555662"/>
                  </a:lnTo>
                  <a:lnTo>
                    <a:pt x="11411379" y="2700442"/>
                  </a:lnTo>
                  <a:lnTo>
                    <a:pt x="11266599" y="2700442"/>
                  </a:lnTo>
                  <a:lnTo>
                    <a:pt x="11266599" y="2555662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555662"/>
                  </a:lnTo>
                  <a:lnTo>
                    <a:pt x="0" y="2555662"/>
                  </a:lnTo>
                  <a:lnTo>
                    <a:pt x="0" y="144780"/>
                  </a:lnTo>
                  <a:close/>
                  <a:moveTo>
                    <a:pt x="0" y="2555662"/>
                  </a:moveTo>
                  <a:lnTo>
                    <a:pt x="144780" y="2555662"/>
                  </a:lnTo>
                  <a:lnTo>
                    <a:pt x="144780" y="2700442"/>
                  </a:lnTo>
                  <a:lnTo>
                    <a:pt x="0" y="2700442"/>
                  </a:lnTo>
                  <a:lnTo>
                    <a:pt x="0" y="2555662"/>
                  </a:lnTo>
                  <a:close/>
                  <a:moveTo>
                    <a:pt x="11266599" y="144780"/>
                  </a:moveTo>
                  <a:lnTo>
                    <a:pt x="11411379" y="144780"/>
                  </a:lnTo>
                  <a:lnTo>
                    <a:pt x="11411379" y="2555662"/>
                  </a:lnTo>
                  <a:lnTo>
                    <a:pt x="11266599" y="2555662"/>
                  </a:lnTo>
                  <a:lnTo>
                    <a:pt x="11266599" y="144780"/>
                  </a:lnTo>
                  <a:close/>
                  <a:moveTo>
                    <a:pt x="144780" y="2555662"/>
                  </a:moveTo>
                  <a:lnTo>
                    <a:pt x="11266599" y="2555662"/>
                  </a:lnTo>
                  <a:lnTo>
                    <a:pt x="11266599" y="2700442"/>
                  </a:lnTo>
                  <a:lnTo>
                    <a:pt x="144780" y="2700442"/>
                  </a:lnTo>
                  <a:lnTo>
                    <a:pt x="144780" y="2555662"/>
                  </a:lnTo>
                  <a:close/>
                  <a:moveTo>
                    <a:pt x="11266599" y="0"/>
                  </a:moveTo>
                  <a:lnTo>
                    <a:pt x="11411379" y="0"/>
                  </a:lnTo>
                  <a:lnTo>
                    <a:pt x="11411379" y="144780"/>
                  </a:lnTo>
                  <a:lnTo>
                    <a:pt x="11266599" y="144780"/>
                  </a:lnTo>
                  <a:lnTo>
                    <a:pt x="11266599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1266599" y="0"/>
                  </a:lnTo>
                  <a:lnTo>
                    <a:pt x="11266599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28435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1" name="Group 9"/>
          <p:cNvGrpSpPr/>
          <p:nvPr/>
        </p:nvGrpSpPr>
        <p:grpSpPr>
          <a:xfrm>
            <a:off x="-255960" y="6214680"/>
            <a:ext cx="10510920" cy="2991240"/>
            <a:chOff x="-255960" y="6214680"/>
            <a:chExt cx="10510920" cy="2991240"/>
          </a:xfrm>
        </p:grpSpPr>
        <p:sp>
          <p:nvSpPr>
            <p:cNvPr id="72" name="Freeform 10"/>
            <p:cNvSpPr/>
            <p:nvPr/>
          </p:nvSpPr>
          <p:spPr>
            <a:xfrm>
              <a:off x="-175680" y="6294600"/>
              <a:ext cx="10350720" cy="2830680"/>
            </a:xfrm>
            <a:custGeom>
              <a:avLst/>
              <a:gdLst>
                <a:gd name="textAreaLeft" fmla="*/ 0 w 10350720"/>
                <a:gd name="textAreaRight" fmla="*/ 10351080 w 10350720"/>
                <a:gd name="textAreaTop" fmla="*/ 0 h 2830680"/>
                <a:gd name="textAreaBottom" fmla="*/ 2831040 h 2830680"/>
              </a:gdLst>
              <a:ahLst/>
              <a:cxnLst/>
              <a:rect l="textAreaLeft" t="textAreaTop" r="textAreaRight" b="textAreaBottom"/>
              <a:pathLst>
                <a:path w="9343717" h="2555662">
                  <a:moveTo>
                    <a:pt x="0" y="0"/>
                  </a:moveTo>
                  <a:lnTo>
                    <a:pt x="9343717" y="0"/>
                  </a:lnTo>
                  <a:lnTo>
                    <a:pt x="9343717" y="2555662"/>
                  </a:lnTo>
                  <a:lnTo>
                    <a:pt x="0" y="25556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d6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" name="Freeform 11"/>
            <p:cNvSpPr/>
            <p:nvPr/>
          </p:nvSpPr>
          <p:spPr>
            <a:xfrm>
              <a:off x="-255960" y="6214680"/>
              <a:ext cx="10510920" cy="2991240"/>
            </a:xfrm>
            <a:custGeom>
              <a:avLst/>
              <a:gdLst>
                <a:gd name="textAreaLeft" fmla="*/ 0 w 10510920"/>
                <a:gd name="textAreaRight" fmla="*/ 10511280 w 10510920"/>
                <a:gd name="textAreaTop" fmla="*/ 0 h 2991240"/>
                <a:gd name="textAreaBottom" fmla="*/ 2991600 h 2991240"/>
              </a:gdLst>
              <a:ahLst/>
              <a:cxnLst/>
              <a:rect l="textAreaLeft" t="textAreaTop" r="textAreaRight" b="textAreaBottom"/>
              <a:pathLst>
                <a:path w="9488496" h="2700442">
                  <a:moveTo>
                    <a:pt x="9343716" y="2555662"/>
                  </a:moveTo>
                  <a:lnTo>
                    <a:pt x="9488496" y="2555662"/>
                  </a:lnTo>
                  <a:lnTo>
                    <a:pt x="9488496" y="2700442"/>
                  </a:lnTo>
                  <a:lnTo>
                    <a:pt x="9343716" y="2700442"/>
                  </a:lnTo>
                  <a:lnTo>
                    <a:pt x="9343716" y="2555662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555662"/>
                  </a:lnTo>
                  <a:lnTo>
                    <a:pt x="0" y="2555662"/>
                  </a:lnTo>
                  <a:lnTo>
                    <a:pt x="0" y="144780"/>
                  </a:lnTo>
                  <a:close/>
                  <a:moveTo>
                    <a:pt x="0" y="2555662"/>
                  </a:moveTo>
                  <a:lnTo>
                    <a:pt x="144780" y="2555662"/>
                  </a:lnTo>
                  <a:lnTo>
                    <a:pt x="144780" y="2700442"/>
                  </a:lnTo>
                  <a:lnTo>
                    <a:pt x="0" y="2700442"/>
                  </a:lnTo>
                  <a:lnTo>
                    <a:pt x="0" y="2555662"/>
                  </a:lnTo>
                  <a:close/>
                  <a:moveTo>
                    <a:pt x="9343716" y="144780"/>
                  </a:moveTo>
                  <a:lnTo>
                    <a:pt x="9488496" y="144780"/>
                  </a:lnTo>
                  <a:lnTo>
                    <a:pt x="9488496" y="2555662"/>
                  </a:lnTo>
                  <a:lnTo>
                    <a:pt x="9343716" y="2555662"/>
                  </a:lnTo>
                  <a:lnTo>
                    <a:pt x="9343716" y="144780"/>
                  </a:lnTo>
                  <a:close/>
                  <a:moveTo>
                    <a:pt x="144780" y="2555662"/>
                  </a:moveTo>
                  <a:lnTo>
                    <a:pt x="9343716" y="2555662"/>
                  </a:lnTo>
                  <a:lnTo>
                    <a:pt x="9343716" y="2700442"/>
                  </a:lnTo>
                  <a:lnTo>
                    <a:pt x="144780" y="2700442"/>
                  </a:lnTo>
                  <a:lnTo>
                    <a:pt x="144780" y="2555662"/>
                  </a:lnTo>
                  <a:close/>
                  <a:moveTo>
                    <a:pt x="9343716" y="0"/>
                  </a:moveTo>
                  <a:lnTo>
                    <a:pt x="9488496" y="0"/>
                  </a:lnTo>
                  <a:lnTo>
                    <a:pt x="9488496" y="144780"/>
                  </a:lnTo>
                  <a:lnTo>
                    <a:pt x="9343716" y="144780"/>
                  </a:lnTo>
                  <a:lnTo>
                    <a:pt x="934371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9343716" y="0"/>
                  </a:lnTo>
                  <a:lnTo>
                    <a:pt x="934371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28435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4" name="TextBox 12"/>
          <p:cNvSpPr/>
          <p:nvPr/>
        </p:nvSpPr>
        <p:spPr>
          <a:xfrm>
            <a:off x="402480" y="6400800"/>
            <a:ext cx="9153360" cy="19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275"/>
              </a:lnSpc>
            </a:pPr>
            <a:r>
              <a:rPr b="1" lang="en-US" sz="3759" strike="noStrike" u="none">
                <a:solidFill>
                  <a:srgbClr val="284353"/>
                </a:solidFill>
                <a:effectLst/>
                <a:uFillTx/>
                <a:latin typeface="Montserrat Medium"/>
                <a:ea typeface="Montserrat Medium"/>
              </a:rPr>
              <a:t>It helps us analyze whether a compound statement is always true, always false, or sometimes true/false.</a:t>
            </a:r>
            <a:endParaRPr b="0" lang="en-US" sz="375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13"/>
          <p:cNvSpPr/>
          <p:nvPr/>
        </p:nvSpPr>
        <p:spPr>
          <a:xfrm>
            <a:off x="8556480" y="3702240"/>
            <a:ext cx="8926200" cy="145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879"/>
              </a:lnSpc>
            </a:pPr>
            <a:r>
              <a:rPr b="1" lang="en-US" sz="4200" strike="noStrike" u="none">
                <a:solidFill>
                  <a:srgbClr val="284353"/>
                </a:solidFill>
                <a:effectLst/>
                <a:uFillTx/>
                <a:latin typeface="Montserrat Medium"/>
                <a:ea typeface="Montserrat Medium"/>
              </a:rPr>
              <a:t>A truth table shows all possible truth values of statements.</a:t>
            </a:r>
            <a:endParaRPr b="0" lang="en-US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slow">
    <p:push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843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2"/>
          <p:cNvGrpSpPr/>
          <p:nvPr/>
        </p:nvGrpSpPr>
        <p:grpSpPr>
          <a:xfrm>
            <a:off x="1237680" y="978840"/>
            <a:ext cx="5907960" cy="7165440"/>
            <a:chOff x="1237680" y="978840"/>
            <a:chExt cx="5907960" cy="7165440"/>
          </a:xfrm>
        </p:grpSpPr>
        <p:sp>
          <p:nvSpPr>
            <p:cNvPr id="77" name="Freeform 3"/>
            <p:cNvSpPr/>
            <p:nvPr/>
          </p:nvSpPr>
          <p:spPr>
            <a:xfrm>
              <a:off x="1299960" y="2637360"/>
              <a:ext cx="5783040" cy="5506920"/>
            </a:xfrm>
            <a:custGeom>
              <a:avLst/>
              <a:gdLst>
                <a:gd name="textAreaLeft" fmla="*/ 0 w 5783040"/>
                <a:gd name="textAreaRight" fmla="*/ 5783400 w 5783040"/>
                <a:gd name="textAreaTop" fmla="*/ 0 h 5506920"/>
                <a:gd name="textAreaBottom" fmla="*/ 5507280 h 5506920"/>
              </a:gdLst>
              <a:ahLst/>
              <a:cxnLst/>
              <a:rect l="textAreaLeft" t="textAreaTop" r="textAreaRight" b="textAreaBottom"/>
              <a:pathLst>
                <a:path w="7711096" h="7343025">
                  <a:moveTo>
                    <a:pt x="0" y="0"/>
                  </a:moveTo>
                  <a:lnTo>
                    <a:pt x="7711096" y="0"/>
                  </a:lnTo>
                  <a:lnTo>
                    <a:pt x="7711096" y="7343025"/>
                  </a:lnTo>
                  <a:lnTo>
                    <a:pt x="0" y="7343025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" name="TextBox 4"/>
            <p:cNvSpPr/>
            <p:nvPr/>
          </p:nvSpPr>
          <p:spPr>
            <a:xfrm>
              <a:off x="1237680" y="978840"/>
              <a:ext cx="5907960" cy="653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914400">
                <a:lnSpc>
                  <a:spcPts val="5598"/>
                </a:lnSpc>
              </a:pPr>
              <a:r>
                <a:rPr b="1" lang="en-US" sz="4000" strike="noStrike" u="none">
                  <a:solidFill>
                    <a:srgbClr val="ffffff"/>
                  </a:solidFill>
                  <a:effectLst/>
                  <a:uFillTx/>
                  <a:latin typeface="Montserrat Medium"/>
                  <a:ea typeface="Montserrat Medium"/>
                </a:rPr>
                <a:t>Compound Truth table</a:t>
              </a:r>
              <a:endPara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843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Freeform 2"/>
          <p:cNvSpPr/>
          <p:nvPr/>
        </p:nvSpPr>
        <p:spPr>
          <a:xfrm>
            <a:off x="1299960" y="2637360"/>
            <a:ext cx="5783040" cy="5506920"/>
          </a:xfrm>
          <a:custGeom>
            <a:avLst/>
            <a:gdLst>
              <a:gd name="textAreaLeft" fmla="*/ 0 w 5783040"/>
              <a:gd name="textAreaRight" fmla="*/ 5783400 w 5783040"/>
              <a:gd name="textAreaTop" fmla="*/ 0 h 5506920"/>
              <a:gd name="textAreaBottom" fmla="*/ 5507280 h 5506920"/>
            </a:gdLst>
            <a:ahLst/>
            <a:cxnLst/>
            <a:rect l="textAreaLeft" t="textAreaTop" r="textAreaRight" b="textAreaBottom"/>
            <a:pathLst>
              <a:path w="5783322" h="5507269">
                <a:moveTo>
                  <a:pt x="0" y="0"/>
                </a:moveTo>
                <a:lnTo>
                  <a:pt x="5783322" y="0"/>
                </a:lnTo>
                <a:lnTo>
                  <a:pt x="5783322" y="5507269"/>
                </a:lnTo>
                <a:lnTo>
                  <a:pt x="0" y="550726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3"/>
          <p:cNvSpPr/>
          <p:nvPr/>
        </p:nvSpPr>
        <p:spPr>
          <a:xfrm>
            <a:off x="1237680" y="961920"/>
            <a:ext cx="5907960" cy="66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598"/>
              </a:lnSpc>
            </a:pPr>
            <a:r>
              <a:rPr b="1" lang="en-US" sz="4000" strike="noStrike" u="none">
                <a:solidFill>
                  <a:srgbClr val="ffffff"/>
                </a:solidFill>
                <a:effectLst/>
                <a:uFillTx/>
                <a:latin typeface="Montserrat Medium"/>
                <a:ea typeface="Montserrat Medium"/>
              </a:rPr>
              <a:t>Compound Truth table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Freeform 4"/>
          <p:cNvSpPr/>
          <p:nvPr/>
        </p:nvSpPr>
        <p:spPr>
          <a:xfrm>
            <a:off x="9699120" y="2637360"/>
            <a:ext cx="7560000" cy="5491800"/>
          </a:xfrm>
          <a:custGeom>
            <a:avLst/>
            <a:gdLst>
              <a:gd name="textAreaLeft" fmla="*/ 0 w 7560000"/>
              <a:gd name="textAreaRight" fmla="*/ 7560360 w 7560000"/>
              <a:gd name="textAreaTop" fmla="*/ 0 h 5491800"/>
              <a:gd name="textAreaBottom" fmla="*/ 5492160 h 5491800"/>
            </a:gdLst>
            <a:ahLst/>
            <a:cxnLst/>
            <a:rect l="textAreaLeft" t="textAreaTop" r="textAreaRight" b="textAreaBottom"/>
            <a:pathLst>
              <a:path w="7560354" h="5492087">
                <a:moveTo>
                  <a:pt x="0" y="0"/>
                </a:moveTo>
                <a:lnTo>
                  <a:pt x="7560354" y="0"/>
                </a:lnTo>
                <a:lnTo>
                  <a:pt x="7560354" y="5492087"/>
                </a:lnTo>
                <a:lnTo>
                  <a:pt x="0" y="549208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5"/>
          <p:cNvSpPr/>
          <p:nvPr/>
        </p:nvSpPr>
        <p:spPr>
          <a:xfrm>
            <a:off x="10195920" y="961920"/>
            <a:ext cx="6256440" cy="66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596"/>
              </a:lnSpc>
            </a:pPr>
            <a:r>
              <a:rPr b="1" lang="en-US" sz="3990" strike="noStrike" u="none">
                <a:solidFill>
                  <a:srgbClr val="ffffff"/>
                </a:solidFill>
                <a:effectLst/>
                <a:uFillTx/>
                <a:latin typeface="Montserrat Medium"/>
                <a:ea typeface="Montserrat Medium"/>
              </a:rPr>
              <a:t>Complex truth table</a:t>
            </a:r>
            <a:endParaRPr b="0" lang="en-US" sz="399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wipe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9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Box 3"/>
          <p:cNvSpPr/>
          <p:nvPr/>
        </p:nvSpPr>
        <p:spPr>
          <a:xfrm>
            <a:off x="3713040" y="1964880"/>
            <a:ext cx="9916560" cy="53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479"/>
              </a:lnSpc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Montserrat Medium"/>
                <a:ea typeface="Montserrat Medium"/>
              </a:rPr>
              <a:t>A statement that is always true in its truth table.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4"/>
          <p:cNvSpPr/>
          <p:nvPr/>
        </p:nvSpPr>
        <p:spPr>
          <a:xfrm>
            <a:off x="5299200" y="572760"/>
            <a:ext cx="6341760" cy="76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987"/>
              </a:lnSpc>
              <a:tabLst>
                <a:tab algn="l" pos="0"/>
              </a:tabLst>
            </a:pPr>
            <a:r>
              <a:rPr b="0" lang="en-US" sz="7040" strike="noStrike" u="none">
                <a:solidFill>
                  <a:srgbClr val="e0feca"/>
                </a:solidFill>
                <a:effectLst/>
                <a:highlight>
                  <a:srgbClr val="000000"/>
                </a:highlight>
                <a:uFillTx/>
                <a:latin typeface="Helvetica Now Display"/>
                <a:ea typeface="Helvetica Now Display"/>
              </a:rPr>
              <a:t>Tautology</a:t>
            </a:r>
            <a:endParaRPr b="0" lang="en-US" sz="7040" strike="noStrike" u="none">
              <a:solidFill>
                <a:srgbClr val="000000"/>
              </a:solidFill>
              <a:effectLst/>
              <a:highlight>
                <a:srgbClr val="000000"/>
              </a:highlight>
              <a:uFillTx/>
              <a:latin typeface="Arial"/>
            </a:endParaRPr>
          </a:p>
        </p:txBody>
      </p:sp>
      <p:graphicFrame>
        <p:nvGraphicFramePr>
          <p:cNvPr id="85" name="Table 2"/>
          <p:cNvGraphicFramePr/>
          <p:nvPr/>
        </p:nvGraphicFramePr>
        <p:xfrm>
          <a:off x="3086280" y="4025880"/>
          <a:ext cx="11353320" cy="4787640"/>
        </p:xfrm>
        <a:graphic>
          <a:graphicData uri="http://schemas.openxmlformats.org/drawingml/2006/table">
            <a:tbl>
              <a:tblPr/>
              <a:tblGrid>
                <a:gridCol w="3784320"/>
                <a:gridCol w="3784320"/>
                <a:gridCol w="3784680"/>
              </a:tblGrid>
              <a:tr h="15958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4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</a:t>
                      </a:r>
                      <a:endParaRPr b="0" lang="en-US" sz="4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4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¬p</a:t>
                      </a:r>
                      <a:endParaRPr b="0" lang="en-US" sz="4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4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 ∨ ¬p</a:t>
                      </a:r>
                      <a:endParaRPr b="0" lang="en-US" sz="4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15958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4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T</a:t>
                      </a:r>
                      <a:endParaRPr b="0" lang="en-US" sz="4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4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F</a:t>
                      </a:r>
                      <a:endParaRPr b="0" lang="en-US" sz="4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4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T</a:t>
                      </a:r>
                      <a:endParaRPr b="0" lang="en-US" sz="4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15958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4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F</a:t>
                      </a:r>
                      <a:endParaRPr b="0" lang="en-US" sz="4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4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T</a:t>
                      </a:r>
                      <a:endParaRPr b="0" lang="en-US" sz="4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4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T</a:t>
                      </a:r>
                      <a:endParaRPr b="0" lang="en-US" sz="4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</p:spTree>
  </p:cSld>
  <p:transition>
    <p:wipe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843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Box 2"/>
          <p:cNvSpPr/>
          <p:nvPr/>
        </p:nvSpPr>
        <p:spPr>
          <a:xfrm>
            <a:off x="4578840" y="978120"/>
            <a:ext cx="8229240" cy="82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950"/>
              </a:lnSpc>
              <a:tabLst>
                <a:tab algn="l" pos="0"/>
              </a:tabLst>
            </a:pPr>
            <a:r>
              <a:rPr b="1" lang="en-US" sz="7000" strike="noStrike" u="none">
                <a:solidFill>
                  <a:srgbClr val="000000"/>
                </a:solidFill>
                <a:effectLst/>
                <a:uFillTx/>
                <a:latin typeface="Helvetica Now Display Bold"/>
                <a:ea typeface="Helvetica Now Display Bold"/>
              </a:rPr>
              <a:t>Contradiction</a:t>
            </a:r>
            <a:endParaRPr b="0" lang="en-US" sz="7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3"/>
          <p:cNvSpPr/>
          <p:nvPr/>
        </p:nvSpPr>
        <p:spPr>
          <a:xfrm>
            <a:off x="3533040" y="2324880"/>
            <a:ext cx="10005840" cy="53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479"/>
              </a:lnSpc>
            </a:pPr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Montserrat Medium"/>
                <a:ea typeface="Montserrat Medium"/>
              </a:rPr>
              <a:t>A statement that is always false in its truth table.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8" name="Table 1"/>
          <p:cNvGraphicFramePr/>
          <p:nvPr/>
        </p:nvGraphicFramePr>
        <p:xfrm>
          <a:off x="3558960" y="3874680"/>
          <a:ext cx="11084040" cy="5053680"/>
        </p:xfrm>
        <a:graphic>
          <a:graphicData uri="http://schemas.openxmlformats.org/drawingml/2006/table">
            <a:tbl>
              <a:tblPr/>
              <a:tblGrid>
                <a:gridCol w="3694680"/>
                <a:gridCol w="3694680"/>
                <a:gridCol w="3694680"/>
              </a:tblGrid>
              <a:tr h="16844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4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</a:t>
                      </a:r>
                      <a:endParaRPr b="0" lang="en-US" sz="4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4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¬p</a:t>
                      </a:r>
                      <a:endParaRPr b="0" lang="en-US" sz="4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4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 ∧ ¬p</a:t>
                      </a:r>
                      <a:endParaRPr b="0" lang="en-US" sz="4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16844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4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T</a:t>
                      </a:r>
                      <a:endParaRPr b="0" lang="en-US" sz="4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4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F</a:t>
                      </a:r>
                      <a:endParaRPr b="0" lang="en-US" sz="4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4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F</a:t>
                      </a:r>
                      <a:endParaRPr b="0" lang="en-US" sz="4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16848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4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F</a:t>
                      </a:r>
                      <a:endParaRPr b="0" lang="en-US" sz="4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4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T</a:t>
                      </a:r>
                      <a:endParaRPr b="0" lang="en-US" sz="4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4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F</a:t>
                      </a:r>
                      <a:endParaRPr b="0" lang="en-US" sz="4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</p:spTree>
  </p:cSld>
  <p:transition spd="slow">
    <p:push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9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Box 2"/>
          <p:cNvSpPr/>
          <p:nvPr/>
        </p:nvSpPr>
        <p:spPr>
          <a:xfrm>
            <a:off x="4083840" y="741240"/>
            <a:ext cx="82292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899"/>
              </a:lnSpc>
              <a:tabLst>
                <a:tab algn="l" pos="0"/>
              </a:tabLst>
            </a:pPr>
            <a:r>
              <a:rPr b="0" lang="en-US" sz="6940" strike="noStrike" u="none">
                <a:solidFill>
                  <a:srgbClr val="e0feca"/>
                </a:solidFill>
                <a:effectLst/>
                <a:highlight>
                  <a:srgbClr val="111111"/>
                </a:highlight>
                <a:uFillTx/>
                <a:latin typeface="Helvetica Now Display"/>
                <a:ea typeface="Helvetica Now Display"/>
              </a:rPr>
              <a:t>Contingency</a:t>
            </a:r>
            <a:endParaRPr b="0" lang="en-US" sz="6940" strike="noStrike" u="none">
              <a:solidFill>
                <a:srgbClr val="000000"/>
              </a:solidFill>
              <a:effectLst/>
              <a:highlight>
                <a:srgbClr val="111111"/>
              </a:highlight>
              <a:uFillTx/>
              <a:latin typeface="Arial"/>
            </a:endParaRPr>
          </a:p>
        </p:txBody>
      </p:sp>
      <p:sp>
        <p:nvSpPr>
          <p:cNvPr id="90" name="TextBox 3"/>
          <p:cNvSpPr/>
          <p:nvPr/>
        </p:nvSpPr>
        <p:spPr>
          <a:xfrm>
            <a:off x="3087360" y="2009880"/>
            <a:ext cx="10987200" cy="53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479"/>
              </a:lnSpc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Montserrat Medium"/>
                <a:ea typeface="Montserrat Medium"/>
              </a:rPr>
              <a:t>A statement that is sometimes true, sometimes false.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Freeform 1"/>
          <p:cNvSpPr/>
          <p:nvPr/>
        </p:nvSpPr>
        <p:spPr>
          <a:xfrm>
            <a:off x="5029200" y="3886200"/>
            <a:ext cx="7560000" cy="5491800"/>
          </a:xfrm>
          <a:custGeom>
            <a:avLst/>
            <a:gdLst>
              <a:gd name="textAreaLeft" fmla="*/ 0 w 7560000"/>
              <a:gd name="textAreaRight" fmla="*/ 7560360 w 7560000"/>
              <a:gd name="textAreaTop" fmla="*/ 0 h 5491800"/>
              <a:gd name="textAreaBottom" fmla="*/ 5492160 h 5491800"/>
            </a:gdLst>
            <a:ahLst/>
            <a:cxnLst/>
            <a:rect l="textAreaLeft" t="textAreaTop" r="textAreaRight" b="textAreaBottom"/>
            <a:pathLst>
              <a:path w="7560354" h="5492087">
                <a:moveTo>
                  <a:pt x="0" y="0"/>
                </a:moveTo>
                <a:lnTo>
                  <a:pt x="7560354" y="0"/>
                </a:lnTo>
                <a:lnTo>
                  <a:pt x="7560354" y="5492087"/>
                </a:lnTo>
                <a:lnTo>
                  <a:pt x="0" y="549208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slow">
    <p:push dir="r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roup 2"/>
          <p:cNvGrpSpPr/>
          <p:nvPr/>
        </p:nvGrpSpPr>
        <p:grpSpPr>
          <a:xfrm>
            <a:off x="431280" y="431640"/>
            <a:ext cx="17428320" cy="9423000"/>
            <a:chOff x="431280" y="431640"/>
            <a:chExt cx="17428320" cy="9423000"/>
          </a:xfrm>
        </p:grpSpPr>
        <p:sp>
          <p:nvSpPr>
            <p:cNvPr id="93" name="Freeform 3"/>
            <p:cNvSpPr/>
            <p:nvPr/>
          </p:nvSpPr>
          <p:spPr>
            <a:xfrm>
              <a:off x="536040" y="536760"/>
              <a:ext cx="17218800" cy="9213480"/>
            </a:xfrm>
            <a:custGeom>
              <a:avLst/>
              <a:gdLst>
                <a:gd name="textAreaLeft" fmla="*/ 0 w 17218800"/>
                <a:gd name="textAreaRight" fmla="*/ 17219160 w 17218800"/>
                <a:gd name="textAreaTop" fmla="*/ 0 h 9213480"/>
                <a:gd name="textAreaBottom" fmla="*/ 9213840 h 9213480"/>
              </a:gdLst>
              <a:ahLst/>
              <a:cxnLst/>
              <a:rect l="textAreaLeft" t="textAreaTop" r="textAreaRight" b="textAreaBottom"/>
              <a:pathLst>
                <a:path w="11884495" h="6359264">
                  <a:moveTo>
                    <a:pt x="0" y="0"/>
                  </a:moveTo>
                  <a:lnTo>
                    <a:pt x="11884495" y="0"/>
                  </a:lnTo>
                  <a:lnTo>
                    <a:pt x="11884495" y="6359264"/>
                  </a:lnTo>
                  <a:lnTo>
                    <a:pt x="0" y="63592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9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" name="Freeform 4"/>
            <p:cNvSpPr/>
            <p:nvPr/>
          </p:nvSpPr>
          <p:spPr>
            <a:xfrm>
              <a:off x="431280" y="431640"/>
              <a:ext cx="17428320" cy="9423000"/>
            </a:xfrm>
            <a:custGeom>
              <a:avLst/>
              <a:gdLst>
                <a:gd name="textAreaLeft" fmla="*/ 0 w 17428320"/>
                <a:gd name="textAreaRight" fmla="*/ 17428680 w 17428320"/>
                <a:gd name="textAreaTop" fmla="*/ 0 h 9423000"/>
                <a:gd name="textAreaBottom" fmla="*/ 9423360 h 9423000"/>
              </a:gdLst>
              <a:ahLst/>
              <a:cxnLst/>
              <a:rect l="textAreaLeft" t="textAreaTop" r="textAreaRight" b="textAreaBottom"/>
              <a:pathLst>
                <a:path w="12029275" h="6504043">
                  <a:moveTo>
                    <a:pt x="11884496" y="6359264"/>
                  </a:moveTo>
                  <a:lnTo>
                    <a:pt x="12029275" y="6359264"/>
                  </a:lnTo>
                  <a:lnTo>
                    <a:pt x="12029275" y="6504043"/>
                  </a:lnTo>
                  <a:lnTo>
                    <a:pt x="11884496" y="6504043"/>
                  </a:lnTo>
                  <a:lnTo>
                    <a:pt x="11884496" y="6359264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6359264"/>
                  </a:lnTo>
                  <a:lnTo>
                    <a:pt x="0" y="6359264"/>
                  </a:lnTo>
                  <a:lnTo>
                    <a:pt x="0" y="144780"/>
                  </a:lnTo>
                  <a:close/>
                  <a:moveTo>
                    <a:pt x="0" y="6359264"/>
                  </a:moveTo>
                  <a:lnTo>
                    <a:pt x="144780" y="6359264"/>
                  </a:lnTo>
                  <a:lnTo>
                    <a:pt x="144780" y="6504043"/>
                  </a:lnTo>
                  <a:lnTo>
                    <a:pt x="0" y="6504043"/>
                  </a:lnTo>
                  <a:lnTo>
                    <a:pt x="0" y="6359264"/>
                  </a:lnTo>
                  <a:close/>
                  <a:moveTo>
                    <a:pt x="11884496" y="144780"/>
                  </a:moveTo>
                  <a:lnTo>
                    <a:pt x="12029275" y="144780"/>
                  </a:lnTo>
                  <a:lnTo>
                    <a:pt x="12029275" y="6359264"/>
                  </a:lnTo>
                  <a:lnTo>
                    <a:pt x="11884496" y="6359264"/>
                  </a:lnTo>
                  <a:lnTo>
                    <a:pt x="11884496" y="144780"/>
                  </a:lnTo>
                  <a:close/>
                  <a:moveTo>
                    <a:pt x="144780" y="6359264"/>
                  </a:moveTo>
                  <a:lnTo>
                    <a:pt x="11884496" y="6359264"/>
                  </a:lnTo>
                  <a:lnTo>
                    <a:pt x="11884496" y="6504043"/>
                  </a:lnTo>
                  <a:lnTo>
                    <a:pt x="144780" y="6504043"/>
                  </a:lnTo>
                  <a:lnTo>
                    <a:pt x="144780" y="6359264"/>
                  </a:lnTo>
                  <a:close/>
                  <a:moveTo>
                    <a:pt x="11884496" y="0"/>
                  </a:moveTo>
                  <a:lnTo>
                    <a:pt x="12029275" y="0"/>
                  </a:lnTo>
                  <a:lnTo>
                    <a:pt x="12029275" y="144780"/>
                  </a:lnTo>
                  <a:lnTo>
                    <a:pt x="11884496" y="144780"/>
                  </a:lnTo>
                  <a:lnTo>
                    <a:pt x="1188449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1884496" y="0"/>
                  </a:lnTo>
                  <a:lnTo>
                    <a:pt x="1188449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d3b6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5" name="TextBox 5"/>
          <p:cNvSpPr/>
          <p:nvPr/>
        </p:nvSpPr>
        <p:spPr>
          <a:xfrm>
            <a:off x="3097080" y="4363920"/>
            <a:ext cx="12093480" cy="138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200"/>
              </a:lnSpc>
            </a:pPr>
            <a:r>
              <a:rPr b="0" lang="en-US" sz="8000" spc="391" strike="noStrike" u="none">
                <a:solidFill>
                  <a:srgbClr val="284353"/>
                </a:solidFill>
                <a:effectLst/>
                <a:uFillTx/>
                <a:latin typeface="Gulfs Display"/>
                <a:ea typeface="Gulfs Display"/>
              </a:rPr>
              <a:t>THANK YOU</a:t>
            </a:r>
            <a:endParaRPr b="0" lang="en-US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Freeform 6"/>
          <p:cNvSpPr/>
          <p:nvPr/>
        </p:nvSpPr>
        <p:spPr>
          <a:xfrm>
            <a:off x="16035480" y="7538040"/>
            <a:ext cx="3158640" cy="2992680"/>
          </a:xfrm>
          <a:custGeom>
            <a:avLst/>
            <a:gdLst>
              <a:gd name="textAreaLeft" fmla="*/ 0 w 3158640"/>
              <a:gd name="textAreaRight" fmla="*/ 3159000 w 3158640"/>
              <a:gd name="textAreaTop" fmla="*/ 0 h 2992680"/>
              <a:gd name="textAreaBottom" fmla="*/ 2993040 h 2992680"/>
            </a:gdLst>
            <a:ahLst/>
            <a:cxnLst/>
            <a:rect l="textAreaLeft" t="textAreaTop" r="textAreaRight" b="textAreaBottom"/>
            <a:pathLst>
              <a:path w="3158983" h="2993136">
                <a:moveTo>
                  <a:pt x="0" y="0"/>
                </a:moveTo>
                <a:lnTo>
                  <a:pt x="3158983" y="0"/>
                </a:lnTo>
                <a:lnTo>
                  <a:pt x="3158983" y="2993136"/>
                </a:lnTo>
                <a:lnTo>
                  <a:pt x="0" y="299313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Freeform 7"/>
          <p:cNvSpPr/>
          <p:nvPr/>
        </p:nvSpPr>
        <p:spPr>
          <a:xfrm>
            <a:off x="-550800" y="-1064880"/>
            <a:ext cx="3158640" cy="2992680"/>
          </a:xfrm>
          <a:custGeom>
            <a:avLst/>
            <a:gdLst>
              <a:gd name="textAreaLeft" fmla="*/ 0 w 3158640"/>
              <a:gd name="textAreaRight" fmla="*/ 3159000 w 3158640"/>
              <a:gd name="textAreaTop" fmla="*/ 0 h 2992680"/>
              <a:gd name="textAreaBottom" fmla="*/ 2993040 h 2992680"/>
            </a:gdLst>
            <a:ahLst/>
            <a:cxnLst/>
            <a:rect l="textAreaLeft" t="textAreaTop" r="textAreaRight" b="textAreaBottom"/>
            <a:pathLst>
              <a:path w="3158983" h="2993136">
                <a:moveTo>
                  <a:pt x="0" y="0"/>
                </a:moveTo>
                <a:lnTo>
                  <a:pt x="3158984" y="0"/>
                </a:lnTo>
                <a:lnTo>
                  <a:pt x="3158984" y="2993136"/>
                </a:lnTo>
                <a:lnTo>
                  <a:pt x="0" y="299313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slow">
    <p:cover dir="r"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Application>LibreOffice/25.2.6.2$Windows_X86_64 LibreOffice_project/729c5bfe710f5eb71ed3bbde9e06a6065e9c6c5d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DAGyYRvyees</dc:identifier>
  <dc:language>en-US</dc:language>
  <cp:lastModifiedBy/>
  <dcterms:modified xsi:type="dcterms:W3CDTF">2025-11-20T20:11:38Z</dcterms:modified>
  <cp:revision>2</cp:revision>
  <dc:subject/>
  <dc:title>Truth table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