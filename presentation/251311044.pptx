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6" r:id="rId4"/>
    <p:sldId id="260" r:id="rId5"/>
    <p:sldId id="262" r:id="rId6"/>
    <p:sldId id="263" r:id="rId7"/>
    <p:sldId id="265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2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13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96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6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5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63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51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96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75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599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834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9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232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04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3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30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chemeClr val="tx1">
                <a:lumMod val="75000"/>
              </a:schemeClr>
            </a:gs>
            <a:gs pos="92032">
              <a:srgbClr val="3A464D"/>
            </a:gs>
            <a:gs pos="73000">
              <a:schemeClr val="tx2">
                <a:lumMod val="20000"/>
                <a:lumOff val="80000"/>
              </a:schemeClr>
            </a:gs>
            <a:gs pos="76000">
              <a:schemeClr val="accent3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B7CEA-EC3A-40B9-980D-3DC767E1473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EADFC-7158-44A8-93BA-6E0219DAC9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309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 descr="yfruyj" title="hgjk"/>
          <p:cNvSpPr/>
          <p:nvPr/>
        </p:nvSpPr>
        <p:spPr>
          <a:xfrm>
            <a:off x="1193487" y="650379"/>
            <a:ext cx="5641144" cy="2805204"/>
          </a:xfrm>
          <a:prstGeom prst="roundRect">
            <a:avLst/>
          </a:prstGeom>
          <a:gradFill>
            <a:gsLst>
              <a:gs pos="0">
                <a:schemeClr val="accent2">
                  <a:tint val="48000"/>
                  <a:satMod val="105000"/>
                  <a:lumMod val="110000"/>
                </a:schemeClr>
              </a:gs>
              <a:gs pos="100000">
                <a:schemeClr val="tx1">
                  <a:lumMod val="75000"/>
                </a:schemeClr>
              </a:gs>
            </a:gsLst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    SHERIN AKTER</a:t>
            </a:r>
          </a:p>
          <a:p>
            <a:r>
              <a:rPr lang="en-US" sz="2800" dirty="0"/>
              <a:t>    ID : 251311044</a:t>
            </a:r>
          </a:p>
          <a:p>
            <a:r>
              <a:rPr lang="en-US" sz="2800" dirty="0"/>
              <a:t>    SECTION : A</a:t>
            </a:r>
          </a:p>
          <a:p>
            <a:r>
              <a:rPr lang="en-US" sz="2800" dirty="0"/>
              <a:t>    COURSE CODE : CSE-1203</a:t>
            </a:r>
          </a:p>
          <a:p>
            <a:r>
              <a:rPr lang="en-US" sz="2800" dirty="0"/>
              <a:t>    DEPERTMENT OF CSE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731520" y="3962400"/>
            <a:ext cx="10472928" cy="1901952"/>
          </a:xfrm>
          <a:prstGeom prst="round2Diag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/>
              <a:t>Topic : Example of conversion sentence into logical expression and vice versa using predicate and quantifier.</a:t>
            </a:r>
          </a:p>
        </p:txBody>
      </p:sp>
    </p:spTree>
    <p:extLst>
      <p:ext uri="{BB962C8B-B14F-4D97-AF65-F5344CB8AC3E}">
        <p14:creationId xmlns:p14="http://schemas.microsoft.com/office/powerpoint/2010/main" val="231658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29000">
              <a:schemeClr val="tx1">
                <a:lumMod val="75000"/>
              </a:schemeClr>
            </a:gs>
            <a:gs pos="96000">
              <a:srgbClr val="3A464D"/>
            </a:gs>
            <a:gs pos="55000">
              <a:schemeClr val="tx2">
                <a:lumMod val="20000"/>
                <a:lumOff val="80000"/>
              </a:schemeClr>
            </a:gs>
            <a:gs pos="77000">
              <a:schemeClr val="accent3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251" y="665018"/>
            <a:ext cx="10666004" cy="4966855"/>
          </a:xfrm>
        </p:spPr>
        <p:txBody>
          <a:bodyPr>
            <a:normAutofit lnSpcReduction="10000"/>
          </a:bodyPr>
          <a:lstStyle/>
          <a:p>
            <a:r>
              <a:rPr lang="en-IN" sz="3900" b="1" dirty="0">
                <a:solidFill>
                  <a:schemeClr val="bg1"/>
                </a:solidFill>
              </a:rPr>
              <a:t>Introduction to Predicate Logic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2">
                    <a:lumMod val="10000"/>
                  </a:schemeClr>
                </a:solidFill>
              </a:rPr>
              <a:t>Predicate logic helps us express statements formally using symbols.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tx2">
                    <a:lumMod val="10000"/>
                  </a:schemeClr>
                </a:solidFill>
              </a:rPr>
              <a:t>Useful in mathematics, computer science, and philosophy.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Key components: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Predicates </a:t>
            </a:r>
            <a:r>
              <a:rPr lang="en-IN" sz="28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</a:t>
            </a:r>
            <a:r>
              <a:rPr lang="en-IN" sz="24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: </a:t>
            </a:r>
            <a:r>
              <a:rPr lang="en-IN" sz="2800" dirty="0"/>
              <a:t> </a:t>
            </a:r>
            <a:r>
              <a:rPr lang="en-IN" sz="2800" dirty="0">
                <a:solidFill>
                  <a:schemeClr val="tx2">
                    <a:lumMod val="10000"/>
                  </a:schemeClr>
                </a:solidFill>
              </a:rPr>
              <a:t>Properties or relationships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Quantifiers </a:t>
            </a:r>
            <a:r>
              <a:rPr lang="en-IN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3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en-IN" sz="3000" dirty="0"/>
              <a:t>  </a:t>
            </a:r>
            <a:r>
              <a:rPr lang="en-IN" sz="3000" dirty="0">
                <a:solidFill>
                  <a:schemeClr val="tx2">
                    <a:lumMod val="10000"/>
                  </a:schemeClr>
                </a:solidFill>
              </a:rPr>
              <a:t>Universal (∀) and Existential (∃)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5-Point Star 1"/>
          <p:cNvSpPr/>
          <p:nvPr/>
        </p:nvSpPr>
        <p:spPr>
          <a:xfrm>
            <a:off x="2264229" y="665018"/>
            <a:ext cx="87085" cy="10423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5-Point Star 3"/>
          <p:cNvSpPr/>
          <p:nvPr/>
        </p:nvSpPr>
        <p:spPr>
          <a:xfrm>
            <a:off x="2351314" y="972457"/>
            <a:ext cx="45719" cy="101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5-Point Star 4"/>
          <p:cNvSpPr/>
          <p:nvPr/>
        </p:nvSpPr>
        <p:spPr>
          <a:xfrm>
            <a:off x="2075544" y="827314"/>
            <a:ext cx="87085" cy="18868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5-Point Star 5"/>
          <p:cNvSpPr/>
          <p:nvPr/>
        </p:nvSpPr>
        <p:spPr>
          <a:xfrm>
            <a:off x="2061029" y="1074057"/>
            <a:ext cx="203200" cy="31931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5-Point Star 6"/>
          <p:cNvSpPr/>
          <p:nvPr/>
        </p:nvSpPr>
        <p:spPr>
          <a:xfrm>
            <a:off x="10143310" y="769257"/>
            <a:ext cx="45719" cy="457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5-Point Star 7"/>
          <p:cNvSpPr/>
          <p:nvPr/>
        </p:nvSpPr>
        <p:spPr>
          <a:xfrm>
            <a:off x="10433594" y="1000397"/>
            <a:ext cx="45719" cy="457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5-Point Star 8"/>
          <p:cNvSpPr/>
          <p:nvPr/>
        </p:nvSpPr>
        <p:spPr>
          <a:xfrm>
            <a:off x="10189029" y="972457"/>
            <a:ext cx="45719" cy="101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5-Point Star 9"/>
          <p:cNvSpPr/>
          <p:nvPr/>
        </p:nvSpPr>
        <p:spPr>
          <a:xfrm>
            <a:off x="10189029" y="1059543"/>
            <a:ext cx="246742" cy="33382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5-Point Star 10"/>
          <p:cNvSpPr/>
          <p:nvPr/>
        </p:nvSpPr>
        <p:spPr>
          <a:xfrm>
            <a:off x="10189029" y="781595"/>
            <a:ext cx="155304" cy="1473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triped Right Arrow 12"/>
          <p:cNvSpPr/>
          <p:nvPr/>
        </p:nvSpPr>
        <p:spPr>
          <a:xfrm>
            <a:off x="902559" y="4339770"/>
            <a:ext cx="506663" cy="14514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ed Right Arrow 13"/>
          <p:cNvSpPr/>
          <p:nvPr/>
        </p:nvSpPr>
        <p:spPr>
          <a:xfrm>
            <a:off x="886708" y="4913250"/>
            <a:ext cx="506663" cy="14514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74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253" y="798286"/>
            <a:ext cx="10508947" cy="5268685"/>
          </a:xfr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Predicate: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rgbClr val="C00000"/>
                </a:solidFill>
              </a:rPr>
              <a:t>  </a:t>
            </a:r>
            <a:r>
              <a:rPr lang="en-US" sz="2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Predicate means a statement about something. </a:t>
            </a:r>
            <a:r>
              <a:rPr lang="en-US" sz="2600" dirty="0">
                <a:solidFill>
                  <a:srgbClr val="C00000"/>
                </a:solidFill>
              </a:rPr>
              <a:t>   </a:t>
            </a:r>
            <a:endParaRPr lang="en-US" sz="1800" dirty="0">
              <a:solidFill>
                <a:srgbClr val="C00000"/>
              </a:solidFill>
            </a:endParaRPr>
          </a:p>
          <a:p>
            <a:r>
              <a:rPr lang="en-US" sz="3200" dirty="0">
                <a:solidFill>
                  <a:srgbClr val="C00000"/>
                </a:solidFill>
              </a:rPr>
              <a:t>Quantifier: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rgbClr val="C00000"/>
                </a:solidFill>
              </a:rPr>
              <a:t>    </a:t>
            </a:r>
            <a:r>
              <a:rPr lang="en-US" sz="26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There are two main quantifier we use</a:t>
            </a:r>
          </a:p>
          <a:p>
            <a:pPr marL="1943100" lvl="3" indent="-571500">
              <a:buFont typeface="+mj-lt"/>
              <a:buAutoNum type="romanUcPeriod"/>
            </a:pPr>
            <a:r>
              <a:rPr lang="en-US" sz="2800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Universal quantifier </a:t>
            </a:r>
            <a:r>
              <a:rPr lang="en-IN" sz="2800" dirty="0">
                <a:solidFill>
                  <a:schemeClr val="tx2">
                    <a:lumMod val="10000"/>
                  </a:schemeClr>
                </a:solidFill>
              </a:rPr>
              <a:t>(∀) </a:t>
            </a:r>
          </a:p>
          <a:p>
            <a:pPr marL="1943100" lvl="3" indent="-571500">
              <a:buFont typeface="+mj-lt"/>
              <a:buAutoNum type="romanUcPeriod"/>
            </a:pPr>
            <a:r>
              <a:rPr lang="en-IN" sz="2800" u="sng" dirty="0">
                <a:solidFill>
                  <a:schemeClr val="tx2">
                    <a:lumMod val="10000"/>
                  </a:schemeClr>
                </a:solidFill>
              </a:rPr>
              <a:t>Existential </a:t>
            </a:r>
            <a:r>
              <a:rPr lang="en-US" sz="2800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quantifier</a:t>
            </a:r>
            <a:r>
              <a:rPr lang="en-IN" sz="2800" u="sng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IN" sz="2800" dirty="0">
                <a:solidFill>
                  <a:schemeClr val="tx2">
                    <a:lumMod val="10000"/>
                  </a:schemeClr>
                </a:solidFill>
              </a:rPr>
              <a:t>(∃)</a:t>
            </a:r>
          </a:p>
          <a:p>
            <a:pPr marL="1943100" lvl="3" indent="-571500">
              <a:buFont typeface="+mj-lt"/>
              <a:buAutoNum type="romanUcPeriod"/>
            </a:pPr>
            <a:endParaRPr lang="en-IN" sz="2800" u="sng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11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1923" y="568181"/>
            <a:ext cx="10194950" cy="1316037"/>
          </a:xfrm>
          <a:noFill/>
        </p:spPr>
        <p:txBody>
          <a:bodyPr>
            <a:normAutofit fontScale="90000"/>
          </a:bodyPr>
          <a:lstStyle/>
          <a:p>
            <a:r>
              <a:rPr lang="en-IN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Key Symbols and Their Meaning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752057"/>
              </p:ext>
            </p:extLst>
          </p:nvPr>
        </p:nvGraphicFramePr>
        <p:xfrm>
          <a:off x="1151923" y="2050470"/>
          <a:ext cx="9780312" cy="3893128"/>
        </p:xfrm>
        <a:graphic>
          <a:graphicData uri="http://schemas.openxmlformats.org/drawingml/2006/table">
            <a:tbl>
              <a:tblPr/>
              <a:tblGrid>
                <a:gridCol w="2172448">
                  <a:extLst>
                    <a:ext uri="{9D8B030D-6E8A-4147-A177-3AD203B41FA5}">
                      <a16:colId xmlns:a16="http://schemas.microsoft.com/office/drawing/2014/main" val="1694546154"/>
                    </a:ext>
                  </a:extLst>
                </a:gridCol>
                <a:gridCol w="3140831">
                  <a:extLst>
                    <a:ext uri="{9D8B030D-6E8A-4147-A177-3AD203B41FA5}">
                      <a16:colId xmlns:a16="http://schemas.microsoft.com/office/drawing/2014/main" val="3139451063"/>
                    </a:ext>
                  </a:extLst>
                </a:gridCol>
                <a:gridCol w="4467033">
                  <a:extLst>
                    <a:ext uri="{9D8B030D-6E8A-4147-A177-3AD203B41FA5}">
                      <a16:colId xmlns:a16="http://schemas.microsoft.com/office/drawing/2014/main" val="1784684186"/>
                    </a:ext>
                  </a:extLst>
                </a:gridCol>
              </a:tblGrid>
              <a:tr h="50233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Example</a:t>
                      </a:r>
                      <a:endParaRPr lang="en-IN" sz="2000" baseline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175171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(1)   ∀</a:t>
                      </a:r>
                    </a:p>
                  </a:txBody>
                  <a:tcPr marT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For all (Universal)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∀x P(x): All x have property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07487"/>
                  </a:ext>
                </a:extLst>
              </a:tr>
              <a:tr h="879094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(2)   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There exists (Existential)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∃x P(x): Some x have property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017165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(3)   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Implies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P(x) → Q(x): If P then 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91572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(4)   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P(x) ∧ Q(x): Both P and 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63522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(5)   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P(x) ∨ Q(x): Either P or 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762121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(6)   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>
                          <a:solidFill>
                            <a:schemeClr val="bg1"/>
                          </a:solidFill>
                        </a:rPr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>
                          <a:solidFill>
                            <a:schemeClr val="bg1"/>
                          </a:solidFill>
                        </a:rPr>
                        <a:t>¬P(x): Not 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95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74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38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58000">
              <a:schemeClr val="tx1">
                <a:lumMod val="75000"/>
              </a:schemeClr>
            </a:gs>
            <a:gs pos="92032">
              <a:srgbClr val="3A464D"/>
            </a:gs>
            <a:gs pos="76000">
              <a:schemeClr val="tx2">
                <a:lumMod val="20000"/>
                <a:lumOff val="80000"/>
              </a:schemeClr>
            </a:gs>
            <a:gs pos="20000">
              <a:schemeClr val="bg2">
                <a:lumMod val="20000"/>
                <a:lumOff val="80000"/>
              </a:schemeClr>
            </a:gs>
            <a:gs pos="100000">
              <a:schemeClr val="bg1">
                <a:lumMod val="6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219" y="806659"/>
            <a:ext cx="9777047" cy="494713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✅ </a:t>
            </a:r>
            <a:r>
              <a:rPr lang="en-IN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Example 1: Natural Language → Logical Expression</a:t>
            </a:r>
          </a:p>
          <a:p>
            <a:endParaRPr lang="en-IN" b="1" dirty="0"/>
          </a:p>
          <a:p>
            <a:pPr algn="l"/>
            <a:r>
              <a:rPr lang="en-IN" b="1" dirty="0">
                <a:solidFill>
                  <a:schemeClr val="bg2"/>
                </a:solidFill>
              </a:rPr>
              <a:t>Sentence:</a:t>
            </a:r>
            <a:r>
              <a:rPr lang="en-IN" dirty="0">
                <a:solidFill>
                  <a:schemeClr val="bg2"/>
                </a:solidFill>
              </a:rPr>
              <a:t>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</a:rPr>
              <a:t>"All students in the class passed the exam."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  <a:p>
            <a:pPr algn="l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Let: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S(x)</a:t>
            </a:r>
            <a:r>
              <a:rPr lang="en-IN" dirty="0"/>
              <a:t>: </a:t>
            </a:r>
            <a:r>
              <a:rPr lang="en-IN" dirty="0">
                <a:solidFill>
                  <a:srgbClr val="C00000"/>
                </a:solidFill>
              </a:rPr>
              <a:t>x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is a student in the class</a:t>
            </a:r>
          </a:p>
          <a:p>
            <a:pPr algn="l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P(x)</a:t>
            </a:r>
            <a:r>
              <a:rPr lang="en-IN" dirty="0"/>
              <a:t>: </a:t>
            </a:r>
            <a:r>
              <a:rPr lang="en-IN" dirty="0">
                <a:solidFill>
                  <a:srgbClr val="C00000"/>
                </a:solidFill>
              </a:rPr>
              <a:t>x</a:t>
            </a:r>
            <a:r>
              <a:rPr lang="en-IN" dirty="0"/>
              <a:t>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passed the exam</a:t>
            </a:r>
          </a:p>
          <a:p>
            <a:pPr algn="l"/>
            <a:r>
              <a:rPr lang="en-IN" b="1" dirty="0">
                <a:solidFill>
                  <a:schemeClr val="bg2"/>
                </a:solidFill>
              </a:rPr>
              <a:t>Logical Expression</a:t>
            </a:r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2800" b="1" dirty="0">
                <a:solidFill>
                  <a:schemeClr val="tx2">
                    <a:lumMod val="10000"/>
                  </a:schemeClr>
                </a:solidFill>
              </a:rPr>
              <a:t>∀x (S(x) → P(x))</a:t>
            </a:r>
            <a:r>
              <a:rPr lang="en-IN" sz="2800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IN" sz="2800" i="1" dirty="0">
                <a:solidFill>
                  <a:schemeClr val="accent1">
                    <a:lumMod val="50000"/>
                  </a:schemeClr>
                </a:solidFill>
              </a:rPr>
              <a:t>"For every x, if x is a student in the class, then x passed the exam."</a:t>
            </a:r>
            <a:endParaRPr lang="en-IN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87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37000">
              <a:schemeClr val="tx1">
                <a:lumMod val="75000"/>
              </a:schemeClr>
            </a:gs>
            <a:gs pos="92032">
              <a:srgbClr val="3A464D"/>
            </a:gs>
            <a:gs pos="73000">
              <a:schemeClr val="tx2">
                <a:lumMod val="20000"/>
                <a:lumOff val="80000"/>
              </a:schemeClr>
            </a:gs>
            <a:gs pos="8000">
              <a:schemeClr val="accent3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7891" y="964210"/>
            <a:ext cx="9960487" cy="559190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✅</a:t>
            </a:r>
            <a:r>
              <a:rPr lang="en-IN" b="1" dirty="0"/>
              <a:t> </a:t>
            </a:r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Example 2: Logical Expression → Natural Language</a:t>
            </a:r>
          </a:p>
          <a:p>
            <a:endParaRPr lang="en-IN" b="1" dirty="0"/>
          </a:p>
          <a:p>
            <a:pPr algn="l"/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Sentence:</a:t>
            </a:r>
            <a:r>
              <a:rPr lang="en-IN" dirty="0"/>
              <a:t> 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"There exists a cat that is sleeping."</a:t>
            </a:r>
          </a:p>
          <a:p>
            <a:pPr algn="l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Let: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C(x): </a:t>
            </a:r>
            <a:r>
              <a:rPr lang="en-IN" dirty="0">
                <a:solidFill>
                  <a:srgbClr val="C00000"/>
                </a:solidFill>
              </a:rPr>
              <a:t>x</a:t>
            </a:r>
            <a:r>
              <a:rPr lang="en-IN" dirty="0"/>
              <a:t>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is a cat</a:t>
            </a:r>
          </a:p>
          <a:p>
            <a:pPr algn="l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D(x): </a:t>
            </a:r>
            <a:r>
              <a:rPr lang="en-IN" dirty="0">
                <a:solidFill>
                  <a:srgbClr val="C00000"/>
                </a:solidFill>
              </a:rPr>
              <a:t>x</a:t>
            </a:r>
            <a:r>
              <a:rPr lang="en-IN" dirty="0"/>
              <a:t>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</a:rPr>
              <a:t>is sleeping</a:t>
            </a:r>
          </a:p>
          <a:p>
            <a:pPr algn="l"/>
            <a:r>
              <a:rPr lang="en-IN" b="1" dirty="0">
                <a:solidFill>
                  <a:schemeClr val="tx2">
                    <a:lumMod val="50000"/>
                  </a:schemeClr>
                </a:solidFill>
              </a:rPr>
              <a:t>Expression:</a:t>
            </a:r>
            <a:r>
              <a:rPr lang="en-IN" dirty="0"/>
              <a:t> </a:t>
            </a: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∃x (C(x) ∧ D(x))</a:t>
            </a:r>
            <a:endParaRPr lang="en-IN" sz="28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15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169" y="738554"/>
            <a:ext cx="10460736" cy="5613478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Summary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800" dirty="0"/>
              <a:t>	</a:t>
            </a:r>
            <a:r>
              <a:rPr lang="en-IN" sz="2800" dirty="0">
                <a:solidFill>
                  <a:schemeClr val="tx2">
                    <a:lumMod val="25000"/>
                  </a:schemeClr>
                </a:solidFill>
              </a:rPr>
              <a:t>Use ∀ for universal statements</a:t>
            </a:r>
            <a:r>
              <a:rPr lang="en-IN" sz="2800" dirty="0">
                <a:solidFill>
                  <a:srgbClr val="C00000"/>
                </a:solidFill>
              </a:rPr>
              <a:t> →</a:t>
            </a:r>
            <a:r>
              <a:rPr lang="en-IN" sz="2800" dirty="0">
                <a:solidFill>
                  <a:schemeClr val="tx2">
                    <a:lumMod val="25000"/>
                  </a:schemeClr>
                </a:solidFill>
              </a:rPr>
              <a:t>  </a:t>
            </a:r>
            <a:r>
              <a:rPr lang="en-IN" sz="2800" dirty="0"/>
              <a:t>"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all</a:t>
            </a:r>
            <a:r>
              <a:rPr lang="en-IN" sz="2800" dirty="0"/>
              <a:t>", "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every</a:t>
            </a:r>
            <a:r>
              <a:rPr lang="en-IN" sz="2800" dirty="0"/>
              <a:t>“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800" dirty="0"/>
              <a:t>	</a:t>
            </a:r>
            <a:r>
              <a:rPr lang="en-IN" sz="2800" dirty="0">
                <a:solidFill>
                  <a:schemeClr val="tx2">
                    <a:lumMod val="25000"/>
                  </a:schemeClr>
                </a:solidFill>
              </a:rPr>
              <a:t>Use ∃ for existential statements </a:t>
            </a:r>
            <a:r>
              <a:rPr lang="en-IN" sz="2800" dirty="0">
                <a:solidFill>
                  <a:srgbClr val="C00000"/>
                </a:solidFill>
              </a:rPr>
              <a:t>→</a:t>
            </a:r>
            <a:r>
              <a:rPr lang="en-IN" sz="2800" dirty="0">
                <a:solidFill>
                  <a:schemeClr val="tx2">
                    <a:lumMod val="25000"/>
                  </a:schemeClr>
                </a:solidFill>
              </a:rPr>
              <a:t>  </a:t>
            </a:r>
            <a:r>
              <a:rPr lang="en-IN" sz="2800" dirty="0"/>
              <a:t>"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some</a:t>
            </a:r>
            <a:r>
              <a:rPr lang="en-IN" sz="2800" dirty="0"/>
              <a:t>", "</a:t>
            </a: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there exists </a:t>
            </a:r>
            <a:r>
              <a:rPr lang="en-IN" sz="2800" dirty="0"/>
              <a:t>’’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800" dirty="0"/>
              <a:t>	</a:t>
            </a:r>
            <a:r>
              <a:rPr lang="en-IN" sz="2800" dirty="0">
                <a:solidFill>
                  <a:schemeClr val="tx2">
                    <a:lumMod val="25000"/>
                  </a:schemeClr>
                </a:solidFill>
              </a:rPr>
              <a:t>Combine predicates with logical connectors</a:t>
            </a:r>
            <a:r>
              <a:rPr lang="en-IN" sz="2800" dirty="0">
                <a:solidFill>
                  <a:srgbClr val="C00000"/>
                </a:solidFill>
              </a:rPr>
              <a:t> →</a:t>
            </a:r>
            <a:endParaRPr lang="en-IN" sz="2800" dirty="0">
              <a:solidFill>
                <a:schemeClr val="tx2">
                  <a:lumMod val="25000"/>
                </a:schemeClr>
              </a:solidFill>
            </a:endParaRPr>
          </a:p>
          <a:p>
            <a:pPr algn="l"/>
            <a:r>
              <a:rPr lang="en-IN" dirty="0"/>
              <a:t>                           •             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∧</a:t>
            </a:r>
            <a:r>
              <a:rPr lang="en-IN" dirty="0"/>
              <a:t>   =    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and</a:t>
            </a:r>
          </a:p>
          <a:p>
            <a:pPr algn="l"/>
            <a:r>
              <a:rPr lang="en-IN" dirty="0"/>
              <a:t>                           •            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∨</a:t>
            </a:r>
            <a:r>
              <a:rPr lang="en-IN" dirty="0"/>
              <a:t>   =    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or</a:t>
            </a:r>
          </a:p>
          <a:p>
            <a:pPr algn="l"/>
            <a:r>
              <a:rPr lang="en-IN" dirty="0"/>
              <a:t>                           •           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→</a:t>
            </a:r>
            <a:r>
              <a:rPr lang="en-IN" dirty="0"/>
              <a:t>  =     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implies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917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22000">
              <a:schemeClr val="tx1">
                <a:lumMod val="75000"/>
              </a:schemeClr>
            </a:gs>
            <a:gs pos="84000">
              <a:srgbClr val="3A464D"/>
            </a:gs>
            <a:gs pos="66000">
              <a:schemeClr val="tx2">
                <a:lumMod val="20000"/>
                <a:lumOff val="80000"/>
              </a:schemeClr>
            </a:gs>
            <a:gs pos="41000">
              <a:schemeClr val="accent3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6723" y="2050330"/>
            <a:ext cx="9001462" cy="1655762"/>
          </a:xfrm>
        </p:spPr>
        <p:txBody>
          <a:bodyPr>
            <a:normAutofit/>
          </a:bodyPr>
          <a:lstStyle/>
          <a:p>
            <a:r>
              <a:rPr lang="en-US" sz="5400" dirty="0">
                <a:effectLst>
                  <a:glow rad="266700">
                    <a:schemeClr val="bg2">
                      <a:alpha val="40000"/>
                    </a:schemeClr>
                  </a:glow>
                  <a:outerShdw blurRad="50800" dist="38100" dir="2700000" algn="tl" rotWithShape="0">
                    <a:srgbClr val="000000">
                      <a:alpha val="50000"/>
                    </a:srgbClr>
                  </a:outerShdw>
                  <a:reflection blurRad="165100" stA="77000" endPos="74000" dist="25400" dir="5400000" sy="-100000" algn="bl" rotWithShape="0"/>
                </a:effectLst>
              </a:rPr>
              <a:t>WELLCOME</a:t>
            </a:r>
            <a:endParaRPr lang="en-IN" sz="5400" dirty="0">
              <a:effectLst>
                <a:glow rad="266700">
                  <a:schemeClr val="bg2">
                    <a:alpha val="40000"/>
                  </a:schemeClr>
                </a:glow>
                <a:outerShdw blurRad="50800" dist="38100" dir="2700000" algn="tl" rotWithShape="0">
                  <a:srgbClr val="000000">
                    <a:alpha val="50000"/>
                  </a:srgbClr>
                </a:outerShdw>
                <a:reflection blurRad="165100" stA="77000" endPos="74000" dist="254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805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4615</TotalTime>
  <Words>403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Rockwell</vt:lpstr>
      <vt:lpstr>Wingdings</vt:lpstr>
      <vt:lpstr>Damask</vt:lpstr>
      <vt:lpstr>PowerPoint Presentation</vt:lpstr>
      <vt:lpstr>PowerPoint Presentation</vt:lpstr>
      <vt:lpstr>PowerPoint Presentation</vt:lpstr>
      <vt:lpstr>Key Symbols and Their Meaning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rafig</dc:creator>
  <cp:lastModifiedBy>Preetthee Hasan</cp:lastModifiedBy>
  <cp:revision>39</cp:revision>
  <dcterms:created xsi:type="dcterms:W3CDTF">2025-08-27T14:41:27Z</dcterms:created>
  <dcterms:modified xsi:type="dcterms:W3CDTF">2025-11-21T06:51:16Z</dcterms:modified>
</cp:coreProperties>
</file>