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Wingdings 3" panose="05040102010807070707" pitchFamily="18" charset="2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rial Black" panose="020B0A04020102020204" pitchFamily="34" charset="0"/>
      <p:bold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Poppins" panose="020B0604020202020204" charset="0"/>
      <p:regular r:id="rId24"/>
    </p:embeddedFont>
    <p:embeddedFont>
      <p:font typeface="BatmanForeverAlternate" panose="00000400000000000000" pitchFamily="2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40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6385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6413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271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9028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0821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9729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2419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397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3305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9501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8997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1982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59235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868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242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105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627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777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150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043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705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461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0128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059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185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65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9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02688" y="1057632"/>
            <a:ext cx="7845743" cy="249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b="1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Predicates and Quantifiers: Foundations of Predicate Logic</a:t>
            </a:r>
            <a:endParaRPr lang="en-US" sz="5200" b="1" dirty="0"/>
          </a:p>
        </p:txBody>
      </p:sp>
      <p:sp>
        <p:nvSpPr>
          <p:cNvPr id="4" name="Text 1"/>
          <p:cNvSpPr/>
          <p:nvPr/>
        </p:nvSpPr>
        <p:spPr>
          <a:xfrm>
            <a:off x="3691874" y="3977249"/>
            <a:ext cx="8684057" cy="1855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Dive into the fundamental building blocks of predicate logic, a powerful system for precise reasoning in mathematics and computer science.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8" t="22689" r="32621" b="26000"/>
          <a:stretch/>
        </p:blipFill>
        <p:spPr>
          <a:xfrm>
            <a:off x="12375931" y="352507"/>
            <a:ext cx="1623849" cy="1954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5903" y="5186855"/>
            <a:ext cx="5502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rial Black" panose="020B0A04020102020204" pitchFamily="34" charset="0"/>
              </a:rPr>
              <a:t>Name: Fahim Foysal</a:t>
            </a:r>
          </a:p>
          <a:p>
            <a:endParaRPr lang="en-US" sz="3200" b="1" dirty="0">
              <a:latin typeface="Arial Black" panose="020B0A04020102020204" pitchFamily="34" charset="0"/>
            </a:endParaRPr>
          </a:p>
          <a:p>
            <a:r>
              <a:rPr lang="en-US" sz="3200" b="1" dirty="0" smtClean="0">
                <a:latin typeface="Arial Black" panose="020B0A04020102020204" pitchFamily="34" charset="0"/>
              </a:rPr>
              <a:t>ID :251311027</a:t>
            </a:r>
            <a:endParaRPr lang="en-US" sz="32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8663" y="460835"/>
            <a:ext cx="10617723" cy="63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Why Propositional Logic Falls Short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987919" y="1428519"/>
            <a:ext cx="7228136" cy="163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Propositional logic, while foundational, treats statements as indivisible units. This limitation prevents it from analyzing the internal structure of statements or expressing relationships between objects.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12864" y="2840796"/>
            <a:ext cx="664511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cannot deduce specific facts from general statements.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12864" y="3448859"/>
            <a:ext cx="8766145" cy="669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lacks the expressiveness to handle properties of individuals.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12864" y="4009897"/>
            <a:ext cx="8522088" cy="1207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6E6666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Consider the statement: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"Every computer on the network is functioning properly." In propositional </a:t>
            </a:r>
            <a:r>
              <a:rPr lang="en-US" b="1" dirty="0">
                <a:solidFill>
                  <a:srgbClr val="6E6666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logic, this is a single, unanalyzable proposition. We cannot infer anything about a specific computer like "MATH3" from it</a:t>
            </a:r>
            <a:r>
              <a:rPr lang="en-US" sz="20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000" b="1" dirty="0"/>
          </a:p>
        </p:txBody>
      </p:sp>
      <p:sp>
        <p:nvSpPr>
          <p:cNvPr id="8" name="Text 5"/>
          <p:cNvSpPr/>
          <p:nvPr/>
        </p:nvSpPr>
        <p:spPr>
          <a:xfrm>
            <a:off x="7495937" y="8205549"/>
            <a:ext cx="6645116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need a more expressive system to reason about properties of objects and their relationships, paving the way for more sophisticated logical deductions.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9885" y="1225091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is a Predicate?</a:t>
            </a:r>
            <a:endParaRPr lang="en-US" sz="52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626269" y="2885182"/>
            <a:ext cx="13893772" cy="5344418"/>
            <a:chOff x="626269" y="4527828"/>
            <a:chExt cx="13893772" cy="3701772"/>
          </a:xfrm>
        </p:grpSpPr>
        <p:sp>
          <p:nvSpPr>
            <p:cNvPr id="4" name="Shape 1"/>
            <p:cNvSpPr/>
            <p:nvPr/>
          </p:nvSpPr>
          <p:spPr>
            <a:xfrm>
              <a:off x="649129" y="4527828"/>
              <a:ext cx="4320421" cy="3701772"/>
            </a:xfrm>
            <a:prstGeom prst="roundRect">
              <a:avLst>
                <a:gd name="adj" fmla="val 4214"/>
              </a:avLst>
            </a:prstGeom>
            <a:solidFill>
              <a:srgbClr val="FFFFFF"/>
            </a:solidFill>
            <a:ln w="22860">
              <a:solidFill>
                <a:srgbClr val="D2C5C9"/>
              </a:solidFill>
              <a:prstDash val="solid"/>
            </a:ln>
          </p:spPr>
        </p:sp>
        <p:sp>
          <p:nvSpPr>
            <p:cNvPr id="5" name="Shape 2"/>
            <p:cNvSpPr/>
            <p:nvPr/>
          </p:nvSpPr>
          <p:spPr>
            <a:xfrm>
              <a:off x="626269" y="4527828"/>
              <a:ext cx="91440" cy="2603778"/>
            </a:xfrm>
            <a:prstGeom prst="roundRect">
              <a:avLst>
                <a:gd name="adj" fmla="val 304279"/>
              </a:avLst>
            </a:prstGeom>
            <a:solidFill>
              <a:srgbClr val="C7A2AC"/>
            </a:solidFill>
            <a:ln/>
          </p:spPr>
        </p:sp>
        <p:grpSp>
          <p:nvGrpSpPr>
            <p:cNvPr id="20" name="Group 19"/>
            <p:cNvGrpSpPr/>
            <p:nvPr/>
          </p:nvGrpSpPr>
          <p:grpSpPr>
            <a:xfrm>
              <a:off x="925949" y="4527828"/>
              <a:ext cx="13594092" cy="3701772"/>
              <a:chOff x="925949" y="4527828"/>
              <a:chExt cx="13594092" cy="3701772"/>
            </a:xfrm>
          </p:grpSpPr>
          <p:sp>
            <p:nvSpPr>
              <p:cNvPr id="6" name="Text 3"/>
              <p:cNvSpPr/>
              <p:nvPr/>
            </p:nvSpPr>
            <p:spPr>
              <a:xfrm>
                <a:off x="925949" y="4736068"/>
                <a:ext cx="3332917" cy="4164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250"/>
                  </a:lnSpc>
                  <a:buNone/>
                </a:pPr>
                <a:r>
                  <a:rPr lang="en-US" sz="26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Definition</a:t>
                </a:r>
                <a:endParaRPr lang="en-US" sz="2600" dirty="0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925949" y="5263753"/>
                <a:ext cx="3835360" cy="14835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A predicate is a statement involving one or more variables. It becomes a proposition (true or false) only when those variables are assigned specific values from a defined domain.</a:t>
                </a:r>
                <a:endParaRPr lang="en-US" sz="1450" dirty="0"/>
              </a:p>
            </p:txBody>
          </p:sp>
          <p:sp>
            <p:nvSpPr>
              <p:cNvPr id="8" name="Shape 5"/>
              <p:cNvSpPr/>
              <p:nvPr/>
            </p:nvSpPr>
            <p:spPr>
              <a:xfrm>
                <a:off x="5154930" y="4527828"/>
                <a:ext cx="4320421" cy="3701772"/>
              </a:xfrm>
              <a:prstGeom prst="roundRect">
                <a:avLst>
                  <a:gd name="adj" fmla="val 4214"/>
                </a:avLst>
              </a:prstGeom>
              <a:solidFill>
                <a:srgbClr val="FFFFFF"/>
              </a:solidFill>
              <a:ln w="22860">
                <a:solidFill>
                  <a:srgbClr val="D2C5C9"/>
                </a:solidFill>
                <a:prstDash val="solid"/>
              </a:ln>
            </p:spPr>
          </p:sp>
          <p:sp>
            <p:nvSpPr>
              <p:cNvPr id="9" name="Shape 6"/>
              <p:cNvSpPr/>
              <p:nvPr/>
            </p:nvSpPr>
            <p:spPr>
              <a:xfrm>
                <a:off x="5132070" y="4527828"/>
                <a:ext cx="91440" cy="2603778"/>
              </a:xfrm>
              <a:prstGeom prst="roundRect">
                <a:avLst>
                  <a:gd name="adj" fmla="val 304279"/>
                </a:avLst>
              </a:prstGeom>
              <a:solidFill>
                <a:srgbClr val="C7A2AC"/>
              </a:solidFill>
              <a:ln/>
            </p:spPr>
          </p:sp>
          <p:sp>
            <p:nvSpPr>
              <p:cNvPr id="10" name="Text 7"/>
              <p:cNvSpPr/>
              <p:nvPr/>
            </p:nvSpPr>
            <p:spPr>
              <a:xfrm>
                <a:off x="5431750" y="4736068"/>
                <a:ext cx="3358991" cy="4164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250"/>
                  </a:lnSpc>
                  <a:buNone/>
                </a:pPr>
                <a:r>
                  <a:rPr lang="en-US" sz="26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Example: P(x) = "x &gt; 3"</a:t>
                </a:r>
                <a:endParaRPr lang="en-US" sz="2600" dirty="0"/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5431750" y="5263753"/>
                <a:ext cx="3835360" cy="2967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300"/>
                  </a:lnSpc>
                  <a:buSzPct val="100000"/>
                  <a:buChar char="•"/>
                </a:pPr>
                <a:r>
                  <a:rPr lang="en-US" sz="1450" b="1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x:</a:t>
                </a: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 The subject variable.</a:t>
                </a:r>
                <a:endParaRPr lang="en-US" sz="1450" dirty="0"/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5431750" y="5625346"/>
                <a:ext cx="3835360" cy="5934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300"/>
                  </a:lnSpc>
                  <a:buSzPct val="100000"/>
                  <a:buChar char="•"/>
                </a:pPr>
                <a:r>
                  <a:rPr lang="en-US" sz="1450" b="1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"&gt; 3":</a:t>
                </a: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 The property or assertion about x.</a:t>
                </a:r>
                <a:endParaRPr lang="en-US" sz="1450" dirty="0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5431750" y="6329958"/>
                <a:ext cx="3835360" cy="5934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Without a value for x, P(x) is not true or false.</a:t>
                </a:r>
                <a:endParaRPr lang="en-US" sz="1450" dirty="0"/>
              </a:p>
            </p:txBody>
          </p:sp>
          <p:sp>
            <p:nvSpPr>
              <p:cNvPr id="14" name="Shape 11"/>
              <p:cNvSpPr/>
              <p:nvPr/>
            </p:nvSpPr>
            <p:spPr>
              <a:xfrm>
                <a:off x="9660731" y="4527828"/>
                <a:ext cx="4859310" cy="3701772"/>
              </a:xfrm>
              <a:prstGeom prst="roundRect">
                <a:avLst>
                  <a:gd name="adj" fmla="val 4214"/>
                </a:avLst>
              </a:prstGeom>
              <a:solidFill>
                <a:srgbClr val="FFFFFF"/>
              </a:solidFill>
              <a:ln w="22860">
                <a:solidFill>
                  <a:srgbClr val="D2C5C9"/>
                </a:solidFill>
                <a:prstDash val="solid"/>
              </a:ln>
            </p:spPr>
          </p:sp>
          <p:sp>
            <p:nvSpPr>
              <p:cNvPr id="15" name="Shape 12"/>
              <p:cNvSpPr/>
              <p:nvPr/>
            </p:nvSpPr>
            <p:spPr>
              <a:xfrm>
                <a:off x="9637871" y="4527828"/>
                <a:ext cx="91440" cy="2603778"/>
              </a:xfrm>
              <a:prstGeom prst="roundRect">
                <a:avLst>
                  <a:gd name="adj" fmla="val 304279"/>
                </a:avLst>
              </a:prstGeom>
              <a:solidFill>
                <a:srgbClr val="C7A2AC"/>
              </a:solidFill>
              <a:ln/>
            </p:spPr>
          </p:sp>
          <p:sp>
            <p:nvSpPr>
              <p:cNvPr id="16" name="Text 13"/>
              <p:cNvSpPr/>
              <p:nvPr/>
            </p:nvSpPr>
            <p:spPr>
              <a:xfrm>
                <a:off x="9937552" y="4736068"/>
                <a:ext cx="3574852" cy="4164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250"/>
                  </a:lnSpc>
                  <a:buNone/>
                </a:pPr>
                <a:r>
                  <a:rPr lang="en-US" sz="26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Truth Value Assignment</a:t>
                </a:r>
                <a:endParaRPr lang="en-US" sz="2600" dirty="0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9937552" y="5263753"/>
                <a:ext cx="3835360" cy="2967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300"/>
                  </a:lnSpc>
                  <a:buSzPct val="100000"/>
                  <a:buChar char="•"/>
                </a:pPr>
                <a:r>
                  <a:rPr lang="en-US" sz="1450" b="1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P(4):</a:t>
                </a: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 "4 &gt; 3" is </a:t>
                </a:r>
                <a:r>
                  <a:rPr lang="en-US" sz="1450" dirty="0">
                    <a:solidFill>
                      <a:srgbClr val="C7A2AC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true</a:t>
                </a: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.</a:t>
                </a:r>
                <a:endParaRPr lang="en-US" sz="1450" dirty="0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9937552" y="5625346"/>
                <a:ext cx="3835360" cy="2967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300"/>
                  </a:lnSpc>
                  <a:buSzPct val="100000"/>
                  <a:buChar char="•"/>
                </a:pPr>
                <a:r>
                  <a:rPr lang="en-US" sz="1450" b="1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P(2):</a:t>
                </a: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 "2 &gt; 3" is </a:t>
                </a:r>
                <a:r>
                  <a:rPr lang="en-US" sz="1450" dirty="0">
                    <a:solidFill>
                      <a:srgbClr val="824E5C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false</a:t>
                </a: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.</a:t>
                </a:r>
                <a:endParaRPr lang="en-US" sz="1450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9937552" y="6033254"/>
                <a:ext cx="3835360" cy="5934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450" dirty="0">
                    <a:solidFill>
                      <a:srgbClr val="6E6666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Assigning a value converts the predicate into a testable proposition.</a:t>
                </a:r>
                <a:endParaRPr lang="en-US" sz="1450" dirty="0"/>
              </a:p>
            </p:txBody>
          </p:sp>
        </p:grp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835" y="722615"/>
            <a:ext cx="14141379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6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Predicates in Action: Real-World Examples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298257" y="2030642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Predicates provide the granularity needed to discuss specific elements within a set.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84247" y="2821639"/>
            <a:ext cx="4794171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Scenario: Network Security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84247" y="3506844"/>
            <a:ext cx="781823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 </a:t>
            </a:r>
            <a:r>
              <a:rPr lang="en-US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A(x)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represent the predicate: </a:t>
            </a:r>
            <a:r>
              <a:rPr lang="en-US" dirty="0">
                <a:solidFill>
                  <a:srgbClr val="6E6666"/>
                </a:solidFill>
                <a:highlight>
                  <a:srgbClr val="D7EEFE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"Computer x is under attack by an intruder."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84247" y="3829835"/>
            <a:ext cx="7818239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Suppose we have computers named CS1, CS2, MATH1, and MATH2 on a network. If only CS2 and MATH1 are currently compromised: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84247" y="4730806"/>
            <a:ext cx="781823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A(CS1)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evaluates to </a:t>
            </a:r>
            <a:r>
              <a:rPr lang="en-US" dirty="0">
                <a:solidFill>
                  <a:srgbClr val="824E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false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4247" y="5092399"/>
            <a:ext cx="781823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A(CS2)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evaluates to </a:t>
            </a:r>
            <a:r>
              <a:rPr lang="en-US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84247" y="5453992"/>
            <a:ext cx="781823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A(MATH1)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evaluates to </a:t>
            </a:r>
            <a:r>
              <a:rPr lang="en-US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84247" y="5815585"/>
            <a:ext cx="781823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A(MATH2)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evaluates to </a:t>
            </a:r>
            <a:r>
              <a:rPr lang="en-US" dirty="0">
                <a:solidFill>
                  <a:srgbClr val="824E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false</a:t>
            </a:r>
            <a:r>
              <a:rPr lang="en-US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84247" y="6279214"/>
            <a:ext cx="7818239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A062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illustrates how predicates allow us to reason about individual objects and their properties within a defined domain.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9129" y="1366123"/>
            <a:ext cx="13332143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Introducing Quantifiers: Expressing Extent of Truth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1238822" y="3469869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Quantifiers tell us "how many" elements in a domain satisfy a predicate, transforming open statements into closed propositions.</a:t>
            </a:r>
            <a:endParaRPr lang="en-US" sz="145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122975" y="4416802"/>
            <a:ext cx="12636698" cy="1121093"/>
            <a:chOff x="1344573" y="5592485"/>
            <a:chExt cx="12636698" cy="1121093"/>
          </a:xfrm>
        </p:grpSpPr>
        <p:sp>
          <p:nvSpPr>
            <p:cNvPr id="6" name="Text 2"/>
            <p:cNvSpPr/>
            <p:nvPr/>
          </p:nvSpPr>
          <p:spPr>
            <a:xfrm>
              <a:off x="1344573" y="5592485"/>
              <a:ext cx="3650218" cy="4164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26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Universal Quantifier (∀)</a:t>
              </a:r>
              <a:endParaRPr lang="en-US" sz="26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1344573" y="6120170"/>
              <a:ext cx="5854660" cy="5934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45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"For all x, P(x) is true." This asserts a property holds for every single element in the domain.</a:t>
              </a:r>
              <a:endParaRPr lang="en-US" sz="145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8126492" y="5592485"/>
              <a:ext cx="3819168" cy="4164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26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Existential Quantifier (∃)</a:t>
              </a:r>
              <a:endParaRPr lang="en-US" sz="26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8126492" y="6120170"/>
              <a:ext cx="5854779" cy="5934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45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"There exists at least one x such that P(x) is true." This asserts that the property holds for at least one element.</a:t>
              </a:r>
              <a:endParaRPr lang="en-US" sz="1450" dirty="0"/>
            </a:p>
          </p:txBody>
        </p:sp>
      </p:grpSp>
      <p:sp>
        <p:nvSpPr>
          <p:cNvPr id="11" name="Text 6"/>
          <p:cNvSpPr/>
          <p:nvPr/>
        </p:nvSpPr>
        <p:spPr>
          <a:xfrm>
            <a:off x="1298257" y="6217563"/>
            <a:ext cx="133321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using quantifiers, we can express complex logical statements about entire sets without needing to assign values to each variable individually.</a:t>
            </a:r>
            <a:endParaRPr lang="en-US" sz="145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819864"/>
            <a:ext cx="10411658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Universal Quantifier (∀) Explained</a:t>
            </a:r>
            <a:endParaRPr lang="en-US" sz="52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679582" y="2305760"/>
            <a:ext cx="9926059" cy="5032058"/>
            <a:chOff x="6170533" y="2116574"/>
            <a:chExt cx="7818239" cy="5032058"/>
          </a:xfrm>
        </p:grpSpPr>
        <p:sp>
          <p:nvSpPr>
            <p:cNvPr id="4" name="Text 1"/>
            <p:cNvSpPr/>
            <p:nvPr/>
          </p:nvSpPr>
          <p:spPr>
            <a:xfrm>
              <a:off x="6170533" y="2116574"/>
              <a:ext cx="3999548" cy="4998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900"/>
                </a:lnSpc>
                <a:buNone/>
              </a:pPr>
              <a:r>
                <a:rPr lang="en-US" sz="36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Statement: </a:t>
              </a:r>
              <a:r>
                <a:rPr lang="en-US" sz="3600" dirty="0">
                  <a:solidFill>
                    <a:srgbClr val="6E6666"/>
                  </a:solidFill>
                  <a:highlight>
                    <a:srgbClr val="F9EDC0"/>
                  </a:highlight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∀x P(x)</a:t>
              </a:r>
              <a:endParaRPr lang="en-US" sz="3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170533" y="2801779"/>
              <a:ext cx="7818239" cy="2967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This reads as "For all x, P(x) is true," or "P(x) holds for every x in the domain."</a:t>
              </a:r>
              <a:endParaRPr lang="en-US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170533" y="3283863"/>
              <a:ext cx="3332917" cy="4164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32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Example</a:t>
              </a:r>
              <a:endParaRPr lang="en-US" sz="3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170533" y="3885724"/>
              <a:ext cx="7818239" cy="2967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300"/>
                </a:lnSpc>
                <a:buSzPct val="100000"/>
                <a:buChar char="•"/>
              </a:pP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Let </a:t>
              </a:r>
              <a:r>
                <a:rPr lang="en-US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P(x)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be the predicate </a:t>
              </a:r>
              <a:r>
                <a:rPr lang="en-US" dirty="0">
                  <a:solidFill>
                    <a:srgbClr val="6E6666"/>
                  </a:solidFill>
                  <a:highlight>
                    <a:srgbClr val="D7EEFE"/>
                  </a:highlight>
                  <a:latin typeface="Poppins" pitchFamily="34" charset="0"/>
                  <a:ea typeface="Poppins" pitchFamily="34" charset="-122"/>
                  <a:cs typeface="Poppins" pitchFamily="34" charset="-120"/>
                </a:rPr>
                <a:t>"x + 1 &gt; x"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.</a:t>
              </a:r>
              <a:endParaRPr lang="en-US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170533" y="4247317"/>
              <a:ext cx="7818239" cy="2967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300"/>
                </a:lnSpc>
                <a:buSzPct val="100000"/>
                <a:buChar char="•"/>
              </a:pP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Domain: All </a:t>
              </a:r>
              <a:r>
                <a:rPr lang="en-US" dirty="0">
                  <a:solidFill>
                    <a:srgbClr val="C7A2AC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real numbers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.</a:t>
              </a:r>
              <a:endParaRPr lang="en-US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170533" y="4710946"/>
              <a:ext cx="7818239" cy="5934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The statement </a:t>
              </a:r>
              <a:r>
                <a:rPr lang="en-US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∀x (x + 1 &gt; x)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is </a:t>
              </a:r>
              <a:r>
                <a:rPr lang="en-US" dirty="0">
                  <a:solidFill>
                    <a:srgbClr val="C7A2AC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true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, because for any real number you choose, adding 1 to it will always result in a larger number.</a:t>
              </a: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170533" y="5489734"/>
              <a:ext cx="4808934" cy="4164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32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Disproving Universal Statements</a:t>
              </a:r>
              <a:endParaRPr lang="en-US" sz="3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170533" y="6091595"/>
              <a:ext cx="7818239" cy="2967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A universal statement is proven false by finding even </a:t>
              </a:r>
              <a:r>
                <a:rPr lang="en-US" dirty="0">
                  <a:solidFill>
                    <a:srgbClr val="824E5C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one counterexample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.</a:t>
              </a:r>
              <a:endParaRPr lang="en-US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170533" y="6555224"/>
              <a:ext cx="7818239" cy="5934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If the domain was </a:t>
              </a:r>
              <a:r>
                <a:rPr lang="en-US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integers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and </a:t>
              </a:r>
              <a:r>
                <a:rPr lang="en-US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P(x) = "x is even"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, then </a:t>
              </a:r>
              <a:r>
                <a:rPr lang="en-US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∀x P(x)</a:t>
              </a:r>
              <a:r>
                <a:rPr lang="en-US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would be false because 3 is an odd integer (a counterexample).</a:t>
              </a:r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78988" y="758666"/>
            <a:ext cx="13641944" cy="6351582"/>
            <a:chOff x="494228" y="2220754"/>
            <a:chExt cx="13641944" cy="5607606"/>
          </a:xfrm>
        </p:grpSpPr>
        <p:sp>
          <p:nvSpPr>
            <p:cNvPr id="3" name="Text 0"/>
            <p:cNvSpPr/>
            <p:nvPr/>
          </p:nvSpPr>
          <p:spPr>
            <a:xfrm>
              <a:off x="509468" y="2220754"/>
              <a:ext cx="8435697" cy="6538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100"/>
                </a:lnSpc>
                <a:buNone/>
              </a:pPr>
              <a:r>
                <a:rPr lang="en-US" sz="48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Existential Quantifier (∃) Explained</a:t>
              </a:r>
              <a:endParaRPr lang="en-US" sz="4800" dirty="0"/>
            </a:p>
          </p:txBody>
        </p:sp>
        <p:sp>
          <p:nvSpPr>
            <p:cNvPr id="4" name="Shape 1"/>
            <p:cNvSpPr/>
            <p:nvPr/>
          </p:nvSpPr>
          <p:spPr>
            <a:xfrm>
              <a:off x="7307580" y="3092887"/>
              <a:ext cx="15240" cy="4735473"/>
            </a:xfrm>
            <a:prstGeom prst="roundRect">
              <a:avLst>
                <a:gd name="adj" fmla="val 1432722"/>
              </a:avLst>
            </a:prstGeom>
            <a:solidFill>
              <a:srgbClr val="D2C5C9"/>
            </a:solidFill>
            <a:ln/>
          </p:spPr>
        </p:sp>
        <p:sp>
          <p:nvSpPr>
            <p:cNvPr id="5" name="Shape 2"/>
            <p:cNvSpPr/>
            <p:nvPr/>
          </p:nvSpPr>
          <p:spPr>
            <a:xfrm>
              <a:off x="494228" y="3092887"/>
              <a:ext cx="6805732" cy="1170980"/>
            </a:xfrm>
            <a:prstGeom prst="roundRect">
              <a:avLst>
                <a:gd name="adj" fmla="val 18647"/>
              </a:avLst>
            </a:prstGeom>
            <a:solidFill>
              <a:srgbClr val="ECDFE3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4100513" y="3238381"/>
              <a:ext cx="3053953" cy="2687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550"/>
                </a:lnSpc>
                <a:buNone/>
              </a:pPr>
              <a:r>
                <a:rPr lang="en-US" sz="2800" dirty="0">
                  <a:solidFill>
                    <a:srgbClr val="000000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Statement: </a:t>
              </a:r>
              <a:r>
                <a:rPr lang="en-US" sz="2800" dirty="0">
                  <a:solidFill>
                    <a:srgbClr val="6E6666"/>
                  </a:solidFill>
                  <a:highlight>
                    <a:srgbClr val="F9EDC0"/>
                  </a:highlight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∃x P(x)</a:t>
              </a:r>
              <a:endParaRPr lang="en-US" sz="28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39723" y="3652599"/>
              <a:ext cx="6514743" cy="465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This means "There exists at least one x in the domain for which P(x) is true." It requires only a single instance to be true.</a:t>
              </a:r>
              <a:endParaRPr lang="en-US" sz="14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7330440" y="4554974"/>
              <a:ext cx="6805732" cy="1811298"/>
            </a:xfrm>
            <a:prstGeom prst="rect">
              <a:avLst/>
            </a:prstGeom>
            <a:solidFill>
              <a:srgbClr val="ECDFE3"/>
            </a:solidFill>
            <a:ln/>
          </p:spPr>
        </p:sp>
        <p:sp>
          <p:nvSpPr>
            <p:cNvPr id="9" name="Text 6"/>
            <p:cNvSpPr/>
            <p:nvPr/>
          </p:nvSpPr>
          <p:spPr>
            <a:xfrm>
              <a:off x="7475934" y="4700468"/>
              <a:ext cx="2635329" cy="3269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800" dirty="0">
                  <a:solidFill>
                    <a:srgbClr val="000000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Example: P(x) = "x &gt; 3"</a:t>
              </a:r>
              <a:endParaRPr lang="en-US" sz="28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475934" y="5114687"/>
              <a:ext cx="6514743" cy="2328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Domain: All </a:t>
              </a:r>
              <a:r>
                <a:rPr lang="en-US" sz="1400" dirty="0">
                  <a:solidFill>
                    <a:srgbClr val="C7A2AC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real numbers</a:t>
              </a: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475934" y="5434846"/>
              <a:ext cx="6514743" cy="2328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The statement </a:t>
              </a:r>
              <a:r>
                <a:rPr lang="en-US" sz="1400" b="1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∃x (x &gt; 3)</a:t>
              </a: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is </a:t>
              </a:r>
              <a:r>
                <a:rPr lang="en-US" sz="1400" dirty="0">
                  <a:solidFill>
                    <a:srgbClr val="C7A2AC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true</a:t>
              </a: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475934" y="5755005"/>
              <a:ext cx="6514743" cy="465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We can find multiple examples: x=4, x=5.5, x=100. Any one of these is sufficient to make the statement true.</a:t>
              </a:r>
              <a:endParaRPr lang="en-US" sz="14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94228" y="6657380"/>
              <a:ext cx="6805732" cy="1170980"/>
            </a:xfrm>
            <a:prstGeom prst="roundRect">
              <a:avLst>
                <a:gd name="adj" fmla="val 18647"/>
              </a:avLst>
            </a:prstGeom>
            <a:solidFill>
              <a:srgbClr val="ECDFE3"/>
            </a:solidFill>
            <a:ln/>
          </p:spPr>
        </p:sp>
        <p:sp>
          <p:nvSpPr>
            <p:cNvPr id="14" name="Text 11"/>
            <p:cNvSpPr/>
            <p:nvPr/>
          </p:nvSpPr>
          <p:spPr>
            <a:xfrm>
              <a:off x="4100513" y="6802874"/>
              <a:ext cx="3053953" cy="3269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550"/>
                </a:lnSpc>
                <a:buNone/>
              </a:pPr>
              <a:r>
                <a:rPr lang="en-US" sz="2800" dirty="0">
                  <a:solidFill>
                    <a:srgbClr val="000000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Existence, Not Uniqueness</a:t>
              </a:r>
              <a:endParaRPr lang="en-US" sz="2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39723" y="7217092"/>
              <a:ext cx="6514743" cy="465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The existential quantifier implies the existence of at least one such element, but not necessarily that it is unique. There could be many such elements.</a:t>
              </a:r>
              <a:endParaRPr lang="en-US" sz="1400" dirty="0"/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255" y="405527"/>
            <a:ext cx="8764905" cy="66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Quantifiers with Domain Restrictions</a:t>
            </a:r>
            <a:endParaRPr lang="en-US" sz="4150" b="1" dirty="0"/>
          </a:p>
        </p:txBody>
      </p:sp>
      <p:sp>
        <p:nvSpPr>
          <p:cNvPr id="3" name="Text 1"/>
          <p:cNvSpPr/>
          <p:nvPr/>
        </p:nvSpPr>
        <p:spPr>
          <a:xfrm>
            <a:off x="516255" y="1363028"/>
            <a:ext cx="1359789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avoid ambiguity and ensure precise meaning, it's often necessary to restrict the domain of a quantified statement.</a:t>
            </a:r>
            <a:endParaRPr lang="en-US" sz="16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2910720" y="2443067"/>
            <a:ext cx="9354852" cy="4807518"/>
            <a:chOff x="7502723" y="1912263"/>
            <a:chExt cx="6619042" cy="3536990"/>
          </a:xfrm>
        </p:grpSpPr>
        <p:sp>
          <p:nvSpPr>
            <p:cNvPr id="5" name="Text 2"/>
            <p:cNvSpPr/>
            <p:nvPr/>
          </p:nvSpPr>
          <p:spPr>
            <a:xfrm>
              <a:off x="7502723" y="1912263"/>
              <a:ext cx="6619042" cy="794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100"/>
                </a:lnSpc>
                <a:buNone/>
              </a:pPr>
              <a:r>
                <a:rPr lang="en-US" sz="36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Example</a:t>
              </a:r>
              <a:r>
                <a:rPr lang="en-US" sz="32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: "For every cat x, if x is fat then x is happy."</a:t>
              </a:r>
              <a:endParaRPr lang="en-US" sz="3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502723" y="2854523"/>
              <a:ext cx="6619042" cy="4719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85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Without restriction, </a:t>
              </a:r>
              <a:r>
                <a:rPr lang="en-US" sz="1400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∀x (Fat(x) → Happy(x))</a:t>
              </a:r>
              <a:r>
                <a:rPr lang="en-US" sz="140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might imply that if a rock is fat, it's happy (which is nonsensical if rocks are in the domain).</a:t>
              </a:r>
              <a:endParaRPr lang="en-US" sz="14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502723" y="3378041"/>
              <a:ext cx="6619042" cy="2359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85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By specifying </a:t>
              </a:r>
              <a:r>
                <a:rPr lang="en-US" sz="1400" b="1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Cat(x)</a:t>
              </a:r>
              <a:r>
                <a:rPr lang="en-US" sz="140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, we ensure the implication only applies to actual cats.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502723" y="3761423"/>
              <a:ext cx="2650450" cy="3312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8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Formalized Statement:</a:t>
              </a:r>
              <a:endParaRPr lang="en-US" sz="28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502723" y="4240054"/>
              <a:ext cx="6619042" cy="2359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b="1" dirty="0">
                  <a:solidFill>
                    <a:srgbClr val="6E6666"/>
                  </a:solidFill>
                  <a:highlight>
                    <a:srgbClr val="D7EEFE"/>
                  </a:highlight>
                  <a:latin typeface="Poppins" pitchFamily="34" charset="0"/>
                  <a:ea typeface="Poppins" pitchFamily="34" charset="-122"/>
                  <a:cs typeface="Poppins" pitchFamily="34" charset="-120"/>
                </a:rPr>
                <a:t>∀x [(Cat(x) ∧ Fat(x)) → Happy(x)]</a:t>
              </a:r>
              <a:endParaRPr lang="en-US" sz="14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502723" y="4608671"/>
              <a:ext cx="6619042" cy="2359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This reads: "For all x, if x is a cat AND x is fat, then x is happy."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502723" y="4977289"/>
              <a:ext cx="6619042" cy="4719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dirty="0">
                  <a:solidFill>
                    <a:srgbClr val="6E6666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This structure helps in constructing logically sound and interpretable statements in predicate logic.</a:t>
              </a:r>
              <a:endParaRPr lang="en-US" sz="1400" dirty="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2546" y="603885"/>
            <a:ext cx="7951708" cy="15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Logical Equivalences and Negations of Quantifiers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082546" y="2389823"/>
            <a:ext cx="7951708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how to negate quantified statements is crucial for proofs and deriving logical conclusions.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546" y="3126462"/>
            <a:ext cx="851654" cy="20175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4459" y="3296722"/>
            <a:ext cx="3060859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Negating Universal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104459" y="3781425"/>
            <a:ext cx="692979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negation of a universal statement is an existential statement. </a:t>
            </a:r>
            <a:r>
              <a:rPr lang="en-US" sz="1300" dirty="0">
                <a:solidFill>
                  <a:srgbClr val="6E6666"/>
                </a:solidFill>
                <a:highlight>
                  <a:srgbClr val="D7EEFE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¬∀x P(x) ≡ ∃x ¬P(x)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104459" y="4428649"/>
            <a:ext cx="692979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"Not all students passed" is equivalent to "At least one student did not pass."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546" y="5143976"/>
            <a:ext cx="851654" cy="17449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04459" y="5314236"/>
            <a:ext cx="3060859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Negating Existential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104459" y="5798939"/>
            <a:ext cx="6929795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negation of an existential statement is a universal statement. </a:t>
            </a:r>
            <a:r>
              <a:rPr lang="en-US" sz="1300" dirty="0">
                <a:solidFill>
                  <a:srgbClr val="6E6666"/>
                </a:solidFill>
                <a:highlight>
                  <a:srgbClr val="D7EEFE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¬∃x P(x) ≡ ∀x ¬P(x)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104459" y="6446163"/>
            <a:ext cx="6929795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"There is no perfect crime" is equivalent to "Every crime is not perfect."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82546" y="7080528"/>
            <a:ext cx="7951708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These equivalences are fundamental for transforming logical expressions and are direct parallels to De Morgan's laws from propositional logic.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596" y="828675"/>
            <a:ext cx="13116639" cy="743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Summary: Why Predicates and Quantifiers Matter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941252" y="1890081"/>
            <a:ext cx="10614872" cy="600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Predicates and quantifiers elevate logic beyond simple true/false statements</a:t>
            </a:r>
            <a:r>
              <a:rPr lang="en-US" sz="1600" dirty="0" smtClean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600" dirty="0" smtClean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6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enabling a more profound analysis of properties and relationships.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48520" y="2469297"/>
            <a:ext cx="3379314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Expressive Power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99629" y="2923580"/>
            <a:ext cx="9998941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Predicates describe properties of objects, while quantifiers define the scope of those properties (all, some).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99629" y="3313006"/>
            <a:ext cx="12448354" cy="45719"/>
          </a:xfrm>
          <a:prstGeom prst="roundRect">
            <a:avLst>
              <a:gd name="adj" fmla="val 2173216"/>
            </a:avLst>
          </a:prstGeom>
          <a:solidFill>
            <a:srgbClr val="D2C5C9"/>
          </a:solidFill>
          <a:ln/>
        </p:spPr>
      </p:sp>
      <p:sp>
        <p:nvSpPr>
          <p:cNvPr id="11" name="Text 7"/>
          <p:cNvSpPr/>
          <p:nvPr/>
        </p:nvSpPr>
        <p:spPr>
          <a:xfrm>
            <a:off x="1748520" y="3588603"/>
            <a:ext cx="3379314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Foundational Role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940453" y="4061200"/>
            <a:ext cx="11098245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form the backbone of predicate logic, a system vital for discrete mathematics and theoretical computer science.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940797" y="4743796"/>
            <a:ext cx="11286195" cy="11430"/>
          </a:xfrm>
          <a:prstGeom prst="roundRect">
            <a:avLst>
              <a:gd name="adj" fmla="val 2173216"/>
            </a:avLst>
          </a:prstGeom>
          <a:solidFill>
            <a:srgbClr val="D2C5C9"/>
          </a:solidFill>
          <a:ln/>
        </p:spPr>
      </p:sp>
      <p:sp>
        <p:nvSpPr>
          <p:cNvPr id="16" name="Text 11"/>
          <p:cNvSpPr/>
          <p:nvPr/>
        </p:nvSpPr>
        <p:spPr>
          <a:xfrm>
            <a:off x="1711606" y="4943416"/>
            <a:ext cx="3416228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Precision in Reasoning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940797" y="5505511"/>
            <a:ext cx="895886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Enable precise, unambiguous statements necessary for formal proofs, algorithm design, and AI.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748520" y="5925800"/>
            <a:ext cx="9373838" cy="11430"/>
          </a:xfrm>
          <a:prstGeom prst="roundRect">
            <a:avLst>
              <a:gd name="adj" fmla="val 2173216"/>
            </a:avLst>
          </a:prstGeom>
          <a:solidFill>
            <a:srgbClr val="D2C5C9"/>
          </a:solidFill>
          <a:ln/>
        </p:spPr>
      </p:sp>
      <p:sp>
        <p:nvSpPr>
          <p:cNvPr id="21" name="Text 15"/>
          <p:cNvSpPr/>
          <p:nvPr/>
        </p:nvSpPr>
        <p:spPr>
          <a:xfrm>
            <a:off x="1748520" y="6195826"/>
            <a:ext cx="3379314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Essential Mastery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1899629" y="6746302"/>
            <a:ext cx="7273530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Mastery of these concepts is indispensable for anyone delving into advanced logical reasoning and computation.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73820" y="2720543"/>
            <a:ext cx="90494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BatmanForeverAlternate" panose="00000400000000000000" pitchFamily="2" charset="0"/>
              </a:rPr>
              <a:t>Thank you</a:t>
            </a:r>
            <a:endParaRPr lang="en-US" sz="9600" dirty="0">
              <a:latin typeface="BatmanForeverAlternate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139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</TotalTime>
  <Words>1138</Words>
  <Application>Microsoft Office PowerPoint</Application>
  <PresentationFormat>Custom</PresentationFormat>
  <Paragraphs>98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Wingdings 3</vt:lpstr>
      <vt:lpstr>Baskervville</vt:lpstr>
      <vt:lpstr>Calibri</vt:lpstr>
      <vt:lpstr>Times New Roman</vt:lpstr>
      <vt:lpstr>Arial Black</vt:lpstr>
      <vt:lpstr>Century Gothic</vt:lpstr>
      <vt:lpstr>Arial</vt:lpstr>
      <vt:lpstr>Poppins</vt:lpstr>
      <vt:lpstr>BatmanForeverAlternate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Foysal</dc:creator>
  <cp:lastModifiedBy>Foysal</cp:lastModifiedBy>
  <cp:revision>6</cp:revision>
  <dcterms:created xsi:type="dcterms:W3CDTF">2025-11-21T06:48:22Z</dcterms:created>
  <dcterms:modified xsi:type="dcterms:W3CDTF">2025-11-21T07:24:12Z</dcterms:modified>
</cp:coreProperties>
</file>