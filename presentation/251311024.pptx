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JetBrains Mono" charset="1" panose="02010509020102050004"/>
      <p:regular r:id="rId12"/>
    </p:embeddedFont>
    <p:embeddedFont>
      <p:font typeface="Intro" charset="1" panose="02000000000000000000"/>
      <p:regular r:id="rId13"/>
    </p:embeddedFont>
    <p:embeddedFont>
      <p:font typeface="JetBrains Mono Bold" charset="1" panose="02010809030102050004"/>
      <p:regular r:id="rId14"/>
    </p:embeddedFont>
    <p:embeddedFont>
      <p:font typeface="Canva Sans Bold" charset="1" panose="020B0803030501040103"/>
      <p:regular r:id="rId15"/>
    </p:embeddedFont>
    <p:embeddedFont>
      <p:font typeface="Canva Sans" charset="1" panose="020B0503030501040103"/>
      <p:regular r:id="rId16"/>
    </p:embeddedFont>
    <p:embeddedFont>
      <p:font typeface="Glacial Indifference Bold" charset="1" panose="00000800000000000000"/>
      <p:regular r:id="rId17"/>
    </p:embeddedFont>
    <p:embeddedFont>
      <p:font typeface="Glacial Indifference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18" Target="../media/image23.png" Type="http://schemas.openxmlformats.org/officeDocument/2006/relationships/image"/><Relationship Id="rId19" Target="../media/image24.svg" Type="http://schemas.openxmlformats.org/officeDocument/2006/relationships/image"/><Relationship Id="rId2" Target="../media/image3.png" Type="http://schemas.openxmlformats.org/officeDocument/2006/relationships/image"/><Relationship Id="rId20" Target="../media/image25.png" Type="http://schemas.openxmlformats.org/officeDocument/2006/relationships/image"/><Relationship Id="rId21" Target="../media/image26.svg" Type="http://schemas.openxmlformats.org/officeDocument/2006/relationships/image"/><Relationship Id="rId22" Target="../media/image27.png" Type="http://schemas.openxmlformats.org/officeDocument/2006/relationships/image"/><Relationship Id="rId23" Target="../media/image28.sv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02072"/>
            <a:ext cx="14442620" cy="13182173"/>
          </a:xfrm>
          <a:custGeom>
            <a:avLst/>
            <a:gdLst/>
            <a:ahLst/>
            <a:cxnLst/>
            <a:rect r="r" b="b" t="t" l="l"/>
            <a:pathLst>
              <a:path h="13182173" w="14442620">
                <a:moveTo>
                  <a:pt x="0" y="0"/>
                </a:moveTo>
                <a:lnTo>
                  <a:pt x="14442620" y="0"/>
                </a:lnTo>
                <a:lnTo>
                  <a:pt x="14442620" y="13182173"/>
                </a:lnTo>
                <a:lnTo>
                  <a:pt x="0" y="13182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5865" y="7715250"/>
            <a:ext cx="15025455" cy="3086100"/>
            <a:chOff x="0" y="0"/>
            <a:chExt cx="3957321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57321" cy="812800"/>
            </a:xfrm>
            <a:custGeom>
              <a:avLst/>
              <a:gdLst/>
              <a:ahLst/>
              <a:cxnLst/>
              <a:rect r="r" b="b" t="t" l="l"/>
              <a:pathLst>
                <a:path h="812800" w="3957321">
                  <a:moveTo>
                    <a:pt x="0" y="0"/>
                  </a:moveTo>
                  <a:lnTo>
                    <a:pt x="3957321" y="0"/>
                  </a:lnTo>
                  <a:lnTo>
                    <a:pt x="395732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6E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95732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46902" y="2532643"/>
            <a:ext cx="19581804" cy="5857284"/>
            <a:chOff x="0" y="0"/>
            <a:chExt cx="5157348" cy="15426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57348" cy="1542659"/>
            </a:xfrm>
            <a:custGeom>
              <a:avLst/>
              <a:gdLst/>
              <a:ahLst/>
              <a:cxnLst/>
              <a:rect r="r" b="b" t="t" l="l"/>
              <a:pathLst>
                <a:path h="1542659" w="5157348">
                  <a:moveTo>
                    <a:pt x="0" y="0"/>
                  </a:moveTo>
                  <a:lnTo>
                    <a:pt x="5157348" y="0"/>
                  </a:lnTo>
                  <a:lnTo>
                    <a:pt x="5157348" y="1542659"/>
                  </a:lnTo>
                  <a:lnTo>
                    <a:pt x="0" y="1542659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383E4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157348" cy="1580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23349">
            <a:off x="-1505583" y="4964887"/>
            <a:ext cx="3902895" cy="4856544"/>
          </a:xfrm>
          <a:custGeom>
            <a:avLst/>
            <a:gdLst/>
            <a:ahLst/>
            <a:cxnLst/>
            <a:rect r="r" b="b" t="t" l="l"/>
            <a:pathLst>
              <a:path h="4856544" w="3902895">
                <a:moveTo>
                  <a:pt x="0" y="0"/>
                </a:moveTo>
                <a:lnTo>
                  <a:pt x="3902895" y="0"/>
                </a:lnTo>
                <a:lnTo>
                  <a:pt x="3902895" y="4856544"/>
                </a:lnTo>
                <a:lnTo>
                  <a:pt x="0" y="48565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4244569">
            <a:off x="15467281" y="1013610"/>
            <a:ext cx="3584039" cy="5093595"/>
          </a:xfrm>
          <a:custGeom>
            <a:avLst/>
            <a:gdLst/>
            <a:ahLst/>
            <a:cxnLst/>
            <a:rect r="r" b="b" t="t" l="l"/>
            <a:pathLst>
              <a:path h="5093595" w="3584039">
                <a:moveTo>
                  <a:pt x="0" y="0"/>
                </a:moveTo>
                <a:lnTo>
                  <a:pt x="3584038" y="0"/>
                </a:lnTo>
                <a:lnTo>
                  <a:pt x="3584038" y="5093596"/>
                </a:lnTo>
                <a:lnTo>
                  <a:pt x="0" y="50935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100467" y="2981033"/>
            <a:ext cx="10163511" cy="3036570"/>
            <a:chOff x="0" y="0"/>
            <a:chExt cx="13551348" cy="404876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161925"/>
              <a:ext cx="13551348" cy="1990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99"/>
                </a:lnSpc>
              </a:pPr>
              <a:r>
                <a:rPr lang="en-US" sz="9000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Equivalence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781175"/>
              <a:ext cx="13551348" cy="2267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279"/>
                </a:lnSpc>
              </a:pPr>
              <a:r>
                <a:rPr lang="en-US" sz="10200">
                  <a:solidFill>
                    <a:srgbClr val="000000"/>
                  </a:solidFill>
                  <a:latin typeface="Intro"/>
                  <a:ea typeface="Intro"/>
                  <a:cs typeface="Intro"/>
                  <a:sym typeface="Intro"/>
                </a:rPr>
                <a:t>Identity 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566829" y="1233576"/>
            <a:ext cx="11781848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Intro"/>
                <a:ea typeface="Intro"/>
                <a:cs typeface="Intro"/>
                <a:sym typeface="Intro"/>
              </a:rPr>
              <a:t>DISCRETE MATHEMATICS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23707" y="7107409"/>
            <a:ext cx="441152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Name: Prethvi Hasan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23707" y="7564609"/>
            <a:ext cx="441152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ID  : 251311024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52455" y="7107409"/>
            <a:ext cx="441152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Section: 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52455" y="7564609"/>
            <a:ext cx="441152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Batch  : 36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73618" y="7489636"/>
            <a:ext cx="380193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0"/>
              </a:lnSpc>
              <a:spcBef>
                <a:spcPct val="0"/>
              </a:spcBef>
            </a:pPr>
            <a:r>
              <a:rPr lang="en-US" b="true" sz="1900" strike="noStrike" u="non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741942"/>
            <a:ext cx="14684952" cy="13403356"/>
          </a:xfrm>
          <a:custGeom>
            <a:avLst/>
            <a:gdLst/>
            <a:ahLst/>
            <a:cxnLst/>
            <a:rect r="r" b="b" t="t" l="l"/>
            <a:pathLst>
              <a:path h="13403356" w="14684952">
                <a:moveTo>
                  <a:pt x="0" y="0"/>
                </a:moveTo>
                <a:lnTo>
                  <a:pt x="14684952" y="0"/>
                </a:lnTo>
                <a:lnTo>
                  <a:pt x="14684952" y="13403356"/>
                </a:lnTo>
                <a:lnTo>
                  <a:pt x="0" y="13403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5865" y="7715250"/>
            <a:ext cx="15429973" cy="3086100"/>
            <a:chOff x="0" y="0"/>
            <a:chExt cx="4063861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3861" cy="812800"/>
            </a:xfrm>
            <a:custGeom>
              <a:avLst/>
              <a:gdLst/>
              <a:ahLst/>
              <a:cxnLst/>
              <a:rect r="r" b="b" t="t" l="l"/>
              <a:pathLst>
                <a:path h="812800" w="4063861">
                  <a:moveTo>
                    <a:pt x="0" y="0"/>
                  </a:moveTo>
                  <a:lnTo>
                    <a:pt x="4063861" y="0"/>
                  </a:lnTo>
                  <a:lnTo>
                    <a:pt x="406386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6E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6386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46902" y="2532643"/>
            <a:ext cx="19581804" cy="6725657"/>
            <a:chOff x="0" y="0"/>
            <a:chExt cx="5157348" cy="17713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57348" cy="1771366"/>
            </a:xfrm>
            <a:custGeom>
              <a:avLst/>
              <a:gdLst/>
              <a:ahLst/>
              <a:cxnLst/>
              <a:rect r="r" b="b" t="t" l="l"/>
              <a:pathLst>
                <a:path h="1771366" w="5157348">
                  <a:moveTo>
                    <a:pt x="0" y="0"/>
                  </a:moveTo>
                  <a:lnTo>
                    <a:pt x="5157348" y="0"/>
                  </a:lnTo>
                  <a:lnTo>
                    <a:pt x="5157348" y="1771366"/>
                  </a:lnTo>
                  <a:lnTo>
                    <a:pt x="0" y="1771366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383E4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157348" cy="1809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817228" y="1386234"/>
            <a:ext cx="11410476" cy="78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Intro"/>
                <a:ea typeface="Intro"/>
                <a:cs typeface="Intro"/>
                <a:sym typeface="Intro"/>
              </a:rPr>
              <a:t>CONCEPT OF EQUIVALENCE IDENTITY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77794" y="3627074"/>
            <a:ext cx="1256045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Two propositions are equivalent if they always have the same truth value.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83458" y="3659916"/>
            <a:ext cx="776578" cy="1039216"/>
          </a:xfrm>
          <a:custGeom>
            <a:avLst/>
            <a:gdLst/>
            <a:ahLst/>
            <a:cxnLst/>
            <a:rect r="r" b="b" t="t" l="l"/>
            <a:pathLst>
              <a:path h="1039216" w="776578">
                <a:moveTo>
                  <a:pt x="0" y="0"/>
                </a:moveTo>
                <a:lnTo>
                  <a:pt x="776578" y="0"/>
                </a:lnTo>
                <a:lnTo>
                  <a:pt x="776578" y="1039216"/>
                </a:lnTo>
                <a:lnTo>
                  <a:pt x="0" y="1039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1530765">
            <a:off x="15608331" y="362074"/>
            <a:ext cx="2151102" cy="5945256"/>
          </a:xfrm>
          <a:custGeom>
            <a:avLst/>
            <a:gdLst/>
            <a:ahLst/>
            <a:cxnLst/>
            <a:rect r="r" b="b" t="t" l="l"/>
            <a:pathLst>
              <a:path h="5945256" w="2151102">
                <a:moveTo>
                  <a:pt x="2151102" y="0"/>
                </a:moveTo>
                <a:lnTo>
                  <a:pt x="0" y="0"/>
                </a:lnTo>
                <a:lnTo>
                  <a:pt x="0" y="5945256"/>
                </a:lnTo>
                <a:lnTo>
                  <a:pt x="2151102" y="5945256"/>
                </a:lnTo>
                <a:lnTo>
                  <a:pt x="215110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74850" y="4884036"/>
            <a:ext cx="776578" cy="1039216"/>
          </a:xfrm>
          <a:custGeom>
            <a:avLst/>
            <a:gdLst/>
            <a:ahLst/>
            <a:cxnLst/>
            <a:rect r="r" b="b" t="t" l="l"/>
            <a:pathLst>
              <a:path h="1039216" w="776578">
                <a:moveTo>
                  <a:pt x="0" y="0"/>
                </a:moveTo>
                <a:lnTo>
                  <a:pt x="776578" y="0"/>
                </a:lnTo>
                <a:lnTo>
                  <a:pt x="776578" y="1039217"/>
                </a:lnTo>
                <a:lnTo>
                  <a:pt x="0" y="1039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4850" y="6108157"/>
            <a:ext cx="776578" cy="1039216"/>
          </a:xfrm>
          <a:custGeom>
            <a:avLst/>
            <a:gdLst/>
            <a:ahLst/>
            <a:cxnLst/>
            <a:rect r="r" b="b" t="t" l="l"/>
            <a:pathLst>
              <a:path h="1039216" w="776578">
                <a:moveTo>
                  <a:pt x="0" y="0"/>
                </a:moveTo>
                <a:lnTo>
                  <a:pt x="776578" y="0"/>
                </a:lnTo>
                <a:lnTo>
                  <a:pt x="776578" y="1039216"/>
                </a:lnTo>
                <a:lnTo>
                  <a:pt x="0" y="1039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69186" y="5117895"/>
            <a:ext cx="1175752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Denoted as: P≡Q.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69186" y="6342015"/>
            <a:ext cx="990315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Example: ¬(P∧Q)≡¬P∨¬Q (De Morgan’s Law).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4850" y="7725046"/>
            <a:ext cx="14144026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Glowing Idea: Equivalenc</a:t>
            </a:r>
            <a:r>
              <a:rPr lang="en-US" sz="27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r>
              <a:rPr lang="en-US" sz="27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7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</a:t>
            </a:r>
            <a:r>
              <a:rPr lang="en-US" sz="27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</a:t>
            </a:r>
            <a:r>
              <a:rPr lang="en-US" sz="27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ike </a:t>
            </a:r>
            <a:r>
              <a:rPr lang="en-US" sz="27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“di</a:t>
            </a:r>
            <a:r>
              <a:rPr lang="en-US" sz="27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</a:t>
            </a:r>
            <a:r>
              <a:rPr lang="en-US" sz="27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fer</a:t>
            </a:r>
            <a:r>
              <a:rPr lang="en-US" sz="27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</a:t>
            </a:r>
            <a:r>
              <a:rPr lang="en-US" sz="27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 expressions, same meaning.”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20637"/>
            <a:ext cx="11558623" cy="10549871"/>
          </a:xfrm>
          <a:custGeom>
            <a:avLst/>
            <a:gdLst/>
            <a:ahLst/>
            <a:cxnLst/>
            <a:rect r="r" b="b" t="t" l="l"/>
            <a:pathLst>
              <a:path h="10549871" w="11558623">
                <a:moveTo>
                  <a:pt x="0" y="0"/>
                </a:moveTo>
                <a:lnTo>
                  <a:pt x="11558623" y="0"/>
                </a:lnTo>
                <a:lnTo>
                  <a:pt x="11558623" y="10549871"/>
                </a:lnTo>
                <a:lnTo>
                  <a:pt x="0" y="105498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5865" y="7715250"/>
            <a:ext cx="13193259" cy="3086100"/>
            <a:chOff x="0" y="0"/>
            <a:chExt cx="3474768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74768" cy="812800"/>
            </a:xfrm>
            <a:custGeom>
              <a:avLst/>
              <a:gdLst/>
              <a:ahLst/>
              <a:cxnLst/>
              <a:rect r="r" b="b" t="t" l="l"/>
              <a:pathLst>
                <a:path h="812800" w="3474768">
                  <a:moveTo>
                    <a:pt x="0" y="0"/>
                  </a:moveTo>
                  <a:lnTo>
                    <a:pt x="3474768" y="0"/>
                  </a:lnTo>
                  <a:lnTo>
                    <a:pt x="34747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6E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74768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46902" y="1657880"/>
            <a:ext cx="19581804" cy="8168170"/>
            <a:chOff x="0" y="0"/>
            <a:chExt cx="5157348" cy="21512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57348" cy="2151288"/>
            </a:xfrm>
            <a:custGeom>
              <a:avLst/>
              <a:gdLst/>
              <a:ahLst/>
              <a:cxnLst/>
              <a:rect r="r" b="b" t="t" l="l"/>
              <a:pathLst>
                <a:path h="2151288" w="5157348">
                  <a:moveTo>
                    <a:pt x="0" y="0"/>
                  </a:moveTo>
                  <a:lnTo>
                    <a:pt x="5157348" y="0"/>
                  </a:lnTo>
                  <a:lnTo>
                    <a:pt x="5157348" y="2151288"/>
                  </a:lnTo>
                  <a:lnTo>
                    <a:pt x="0" y="2151288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383E4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157348" cy="2189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721304">
            <a:off x="15513882" y="346505"/>
            <a:ext cx="3490836" cy="5714166"/>
          </a:xfrm>
          <a:custGeom>
            <a:avLst/>
            <a:gdLst/>
            <a:ahLst/>
            <a:cxnLst/>
            <a:rect r="r" b="b" t="t" l="l"/>
            <a:pathLst>
              <a:path h="5714166" w="3490836">
                <a:moveTo>
                  <a:pt x="0" y="0"/>
                </a:moveTo>
                <a:lnTo>
                  <a:pt x="3490836" y="0"/>
                </a:lnTo>
                <a:lnTo>
                  <a:pt x="3490836" y="5714166"/>
                </a:lnTo>
                <a:lnTo>
                  <a:pt x="0" y="57141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509423" y="2055826"/>
          <a:ext cx="3295144" cy="2295525"/>
        </p:xfrm>
        <a:graphic>
          <a:graphicData uri="http://schemas.openxmlformats.org/drawingml/2006/table">
            <a:tbl>
              <a:tblPr/>
              <a:tblGrid>
                <a:gridCol w="1098381"/>
                <a:gridCol w="1098381"/>
                <a:gridCol w="1098381"/>
              </a:tblGrid>
              <a:tr h="7651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 ∨ 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 ∧ 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1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1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3277690" y="869845"/>
            <a:ext cx="7529609" cy="78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Intro"/>
                <a:ea typeface="Intro"/>
                <a:cs typeface="Intro"/>
                <a:sym typeface="Intro"/>
              </a:rPr>
              <a:t>KEY EQUIVALENCE LAWS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2006818"/>
            <a:ext cx="5005639" cy="2344533"/>
            <a:chOff x="0" y="0"/>
            <a:chExt cx="1318358" cy="6174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8358" cy="617490"/>
            </a:xfrm>
            <a:custGeom>
              <a:avLst/>
              <a:gdLst/>
              <a:ahLst/>
              <a:cxnLst/>
              <a:rect r="r" b="b" t="t" l="l"/>
              <a:pathLst>
                <a:path h="617490" w="1318358">
                  <a:moveTo>
                    <a:pt x="0" y="0"/>
                  </a:moveTo>
                  <a:lnTo>
                    <a:pt x="1318358" y="0"/>
                  </a:lnTo>
                  <a:lnTo>
                    <a:pt x="1318358" y="617490"/>
                  </a:lnTo>
                  <a:lnTo>
                    <a:pt x="0" y="61749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18358" cy="655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13965" y="2951224"/>
            <a:ext cx="6324262" cy="1051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3490" indent="-326745" lvl="1">
              <a:lnSpc>
                <a:spcPts val="4237"/>
              </a:lnSpc>
              <a:buFont typeface="Arial"/>
              <a:buChar char="•"/>
            </a:pPr>
            <a:r>
              <a:rPr lang="en-US" sz="3026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P∨F≡P</a:t>
            </a:r>
          </a:p>
          <a:p>
            <a:pPr algn="l" marL="653490" indent="-326745" lvl="1">
              <a:lnSpc>
                <a:spcPts val="4237"/>
              </a:lnSpc>
              <a:buFont typeface="Arial"/>
              <a:buChar char="•"/>
            </a:pPr>
            <a:r>
              <a:rPr lang="en-US" sz="3026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P∧T≡P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3965" y="2178343"/>
            <a:ext cx="3565352" cy="628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1"/>
              </a:lnSpc>
            </a:pPr>
            <a:r>
              <a:rPr lang="en-US" sz="3644">
                <a:solidFill>
                  <a:srgbClr val="000000"/>
                </a:solidFill>
                <a:latin typeface="Intro"/>
                <a:ea typeface="Intro"/>
                <a:cs typeface="Intro"/>
                <a:sym typeface="Intro"/>
              </a:rPr>
              <a:t>IDENTITY LAW: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4703776"/>
            <a:ext cx="5005639" cy="2437405"/>
            <a:chOff x="0" y="0"/>
            <a:chExt cx="1318358" cy="6419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8358" cy="641950"/>
            </a:xfrm>
            <a:custGeom>
              <a:avLst/>
              <a:gdLst/>
              <a:ahLst/>
              <a:cxnLst/>
              <a:rect r="r" b="b" t="t" l="l"/>
              <a:pathLst>
                <a:path h="641950" w="1318358">
                  <a:moveTo>
                    <a:pt x="0" y="0"/>
                  </a:moveTo>
                  <a:lnTo>
                    <a:pt x="1318358" y="0"/>
                  </a:lnTo>
                  <a:lnTo>
                    <a:pt x="1318358" y="641950"/>
                  </a:lnTo>
                  <a:lnTo>
                    <a:pt x="0" y="64195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18358" cy="68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13965" y="5684333"/>
            <a:ext cx="13042647" cy="1051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3490" indent="-326745" lvl="1">
              <a:lnSpc>
                <a:spcPts val="4237"/>
              </a:lnSpc>
              <a:buFont typeface="Arial"/>
              <a:buChar char="•"/>
            </a:pPr>
            <a:r>
              <a:rPr lang="en-US" sz="3026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P∨T≡T</a:t>
            </a:r>
          </a:p>
          <a:p>
            <a:pPr algn="l" marL="653490" indent="-326745" lvl="1">
              <a:lnSpc>
                <a:spcPts val="4237"/>
              </a:lnSpc>
              <a:buFont typeface="Arial"/>
              <a:buChar char="•"/>
            </a:pPr>
            <a:r>
              <a:rPr lang="en-US" sz="3026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P∧F≡F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3965" y="4911453"/>
            <a:ext cx="5494046" cy="628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1"/>
              </a:lnSpc>
            </a:pPr>
            <a:r>
              <a:rPr lang="en-US" sz="3644">
                <a:solidFill>
                  <a:srgbClr val="000000"/>
                </a:solidFill>
                <a:latin typeface="Intro"/>
                <a:ea typeface="Intro"/>
                <a:cs typeface="Intro"/>
                <a:sym typeface="Intro"/>
              </a:rPr>
              <a:t>DOMINATION LAW: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8700" y="7493606"/>
            <a:ext cx="5005639" cy="1764694"/>
            <a:chOff x="0" y="0"/>
            <a:chExt cx="1318358" cy="4647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18358" cy="464775"/>
            </a:xfrm>
            <a:custGeom>
              <a:avLst/>
              <a:gdLst/>
              <a:ahLst/>
              <a:cxnLst/>
              <a:rect r="r" b="b" t="t" l="l"/>
              <a:pathLst>
                <a:path h="464775" w="1318358">
                  <a:moveTo>
                    <a:pt x="0" y="0"/>
                  </a:moveTo>
                  <a:lnTo>
                    <a:pt x="1318358" y="0"/>
                  </a:lnTo>
                  <a:lnTo>
                    <a:pt x="1318358" y="464775"/>
                  </a:lnTo>
                  <a:lnTo>
                    <a:pt x="0" y="464775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18358" cy="502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13965" y="8450443"/>
            <a:ext cx="13042647" cy="515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3490" indent="-326745" lvl="1">
              <a:lnSpc>
                <a:spcPts val="4237"/>
              </a:lnSpc>
              <a:buFont typeface="Arial"/>
              <a:buChar char="•"/>
            </a:pPr>
            <a:r>
              <a:rPr lang="en-US" sz="3026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P∨P≡P, P∧P≡P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3965" y="7677562"/>
            <a:ext cx="5494046" cy="628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1"/>
              </a:lnSpc>
            </a:pPr>
            <a:r>
              <a:rPr lang="en-US" sz="3644">
                <a:solidFill>
                  <a:srgbClr val="000000"/>
                </a:solidFill>
                <a:latin typeface="Intro"/>
                <a:ea typeface="Intro"/>
                <a:cs typeface="Intro"/>
                <a:sym typeface="Intro"/>
              </a:rPr>
              <a:t>IDEMPOTENT LAW:</a:t>
            </a:r>
          </a:p>
        </p:txBody>
      </p:sp>
      <p:graphicFrame>
        <p:nvGraphicFramePr>
          <p:cNvPr name="Table 27" id="27"/>
          <p:cNvGraphicFramePr>
            <a:graphicFrameLocks noGrp="true"/>
          </p:cNvGraphicFramePr>
          <p:nvPr/>
        </p:nvGraphicFramePr>
        <p:xfrm>
          <a:off x="9509423" y="4594203"/>
          <a:ext cx="3295144" cy="2295525"/>
        </p:xfrm>
        <a:graphic>
          <a:graphicData uri="http://schemas.openxmlformats.org/drawingml/2006/table">
            <a:tbl>
              <a:tblPr/>
              <a:tblGrid>
                <a:gridCol w="1098381"/>
                <a:gridCol w="1098381"/>
                <a:gridCol w="1098381"/>
              </a:tblGrid>
              <a:tr h="7651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 ∨ 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 ∧ 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1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1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8" id="28"/>
          <p:cNvGraphicFramePr>
            <a:graphicFrameLocks noGrp="true"/>
          </p:cNvGraphicFramePr>
          <p:nvPr/>
        </p:nvGraphicFramePr>
        <p:xfrm>
          <a:off x="9509423" y="7141181"/>
          <a:ext cx="3295144" cy="2329307"/>
        </p:xfrm>
        <a:graphic>
          <a:graphicData uri="http://schemas.openxmlformats.org/drawingml/2006/table">
            <a:tbl>
              <a:tblPr/>
              <a:tblGrid>
                <a:gridCol w="1098381"/>
                <a:gridCol w="1098381"/>
                <a:gridCol w="1098381"/>
              </a:tblGrid>
              <a:tr h="7993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 ∨ 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 ∧ 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49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49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29" id="29"/>
          <p:cNvSpPr/>
          <p:nvPr/>
        </p:nvSpPr>
        <p:spPr>
          <a:xfrm>
            <a:off x="6034339" y="6052556"/>
            <a:ext cx="3109661" cy="0"/>
          </a:xfrm>
          <a:prstGeom prst="line">
            <a:avLst/>
          </a:prstGeom>
          <a:ln cap="flat" w="1428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0" id="30"/>
          <p:cNvSpPr/>
          <p:nvPr/>
        </p:nvSpPr>
        <p:spPr>
          <a:xfrm>
            <a:off x="6034339" y="3179084"/>
            <a:ext cx="3109661" cy="0"/>
          </a:xfrm>
          <a:prstGeom prst="line">
            <a:avLst/>
          </a:prstGeom>
          <a:ln cap="flat" w="1428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1" id="31"/>
          <p:cNvSpPr/>
          <p:nvPr/>
        </p:nvSpPr>
        <p:spPr>
          <a:xfrm>
            <a:off x="6034339" y="8305835"/>
            <a:ext cx="3109661" cy="0"/>
          </a:xfrm>
          <a:prstGeom prst="line">
            <a:avLst/>
          </a:prstGeom>
          <a:ln cap="flat" w="1428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  <p:transition spd="slow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02953"/>
            <a:ext cx="13751283" cy="12551171"/>
          </a:xfrm>
          <a:custGeom>
            <a:avLst/>
            <a:gdLst/>
            <a:ahLst/>
            <a:cxnLst/>
            <a:rect r="r" b="b" t="t" l="l"/>
            <a:pathLst>
              <a:path h="12551171" w="13751283">
                <a:moveTo>
                  <a:pt x="0" y="0"/>
                </a:moveTo>
                <a:lnTo>
                  <a:pt x="13751283" y="0"/>
                </a:lnTo>
                <a:lnTo>
                  <a:pt x="13751283" y="12551172"/>
                </a:lnTo>
                <a:lnTo>
                  <a:pt x="0" y="12551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5865" y="7715250"/>
            <a:ext cx="14334119" cy="3086100"/>
            <a:chOff x="0" y="0"/>
            <a:chExt cx="3775241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75241" cy="812800"/>
            </a:xfrm>
            <a:custGeom>
              <a:avLst/>
              <a:gdLst/>
              <a:ahLst/>
              <a:cxnLst/>
              <a:rect r="r" b="b" t="t" l="l"/>
              <a:pathLst>
                <a:path h="812800" w="3775241">
                  <a:moveTo>
                    <a:pt x="0" y="0"/>
                  </a:moveTo>
                  <a:lnTo>
                    <a:pt x="3775241" y="0"/>
                  </a:lnTo>
                  <a:lnTo>
                    <a:pt x="377524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6E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7524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27852" y="2532643"/>
            <a:ext cx="19581804" cy="7184470"/>
            <a:chOff x="0" y="0"/>
            <a:chExt cx="5157348" cy="18922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57348" cy="1892206"/>
            </a:xfrm>
            <a:custGeom>
              <a:avLst/>
              <a:gdLst/>
              <a:ahLst/>
              <a:cxnLst/>
              <a:rect r="r" b="b" t="t" l="l"/>
              <a:pathLst>
                <a:path h="1892206" w="5157348">
                  <a:moveTo>
                    <a:pt x="0" y="0"/>
                  </a:moveTo>
                  <a:lnTo>
                    <a:pt x="5157348" y="0"/>
                  </a:lnTo>
                  <a:lnTo>
                    <a:pt x="5157348" y="1892206"/>
                  </a:lnTo>
                  <a:lnTo>
                    <a:pt x="0" y="1892206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383E4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157348" cy="1930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609306" y="1352767"/>
            <a:ext cx="10781554" cy="78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>
                <a:solidFill>
                  <a:srgbClr val="383E48"/>
                </a:solidFill>
                <a:latin typeface="Intro"/>
                <a:ea typeface="Intro"/>
                <a:cs typeface="Intro"/>
                <a:sym typeface="Intro"/>
              </a:rPr>
              <a:t>PROVING A TAUTOLOGY (EXAMPLE)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3965" y="2900166"/>
            <a:ext cx="1508161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Prove: (P∨¬P)≡T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4244569">
            <a:off x="16131428" y="794979"/>
            <a:ext cx="1893940" cy="2691645"/>
          </a:xfrm>
          <a:custGeom>
            <a:avLst/>
            <a:gdLst/>
            <a:ahLst/>
            <a:cxnLst/>
            <a:rect r="r" b="b" t="t" l="l"/>
            <a:pathLst>
              <a:path h="2691645" w="1893940">
                <a:moveTo>
                  <a:pt x="0" y="0"/>
                </a:moveTo>
                <a:lnTo>
                  <a:pt x="1893940" y="0"/>
                </a:lnTo>
                <a:lnTo>
                  <a:pt x="1893940" y="2691646"/>
                </a:lnTo>
                <a:lnTo>
                  <a:pt x="0" y="26916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3746557"/>
            <a:ext cx="7173181" cy="2670659"/>
            <a:chOff x="0" y="0"/>
            <a:chExt cx="2238027" cy="8332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8027" cy="833244"/>
            </a:xfrm>
            <a:custGeom>
              <a:avLst/>
              <a:gdLst/>
              <a:ahLst/>
              <a:cxnLst/>
              <a:rect r="r" b="b" t="t" l="l"/>
              <a:pathLst>
                <a:path h="833244" w="2238027">
                  <a:moveTo>
                    <a:pt x="55044" y="0"/>
                  </a:moveTo>
                  <a:lnTo>
                    <a:pt x="2182984" y="0"/>
                  </a:lnTo>
                  <a:cubicBezTo>
                    <a:pt x="2213383" y="0"/>
                    <a:pt x="2238027" y="24644"/>
                    <a:pt x="2238027" y="55044"/>
                  </a:cubicBezTo>
                  <a:lnTo>
                    <a:pt x="2238027" y="778200"/>
                  </a:lnTo>
                  <a:cubicBezTo>
                    <a:pt x="2238027" y="808600"/>
                    <a:pt x="2213383" y="833244"/>
                    <a:pt x="2182984" y="833244"/>
                  </a:cubicBezTo>
                  <a:lnTo>
                    <a:pt x="55044" y="833244"/>
                  </a:lnTo>
                  <a:cubicBezTo>
                    <a:pt x="24644" y="833244"/>
                    <a:pt x="0" y="808600"/>
                    <a:pt x="0" y="778200"/>
                  </a:cubicBezTo>
                  <a:lnTo>
                    <a:pt x="0" y="55044"/>
                  </a:lnTo>
                  <a:cubicBezTo>
                    <a:pt x="0" y="24644"/>
                    <a:pt x="24644" y="0"/>
                    <a:pt x="55044" y="0"/>
                  </a:cubicBezTo>
                  <a:close/>
                </a:path>
              </a:pathLst>
            </a:custGeom>
            <a:solidFill>
              <a:srgbClr val="FFFFFF"/>
            </a:solidFill>
            <a:ln w="190500" cap="rnd">
              <a:solidFill>
                <a:srgbClr val="383E48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38027" cy="871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342330" y="4117136"/>
            <a:ext cx="2545920" cy="56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51"/>
              </a:lnSpc>
              <a:spcBef>
                <a:spcPct val="0"/>
              </a:spcBef>
            </a:pPr>
            <a:r>
              <a:rPr lang="en-US" b="true" sz="3322" strike="noStrike" u="none">
                <a:solidFill>
                  <a:srgbClr val="383E4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1: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0545" y="4897248"/>
            <a:ext cx="6092773" cy="1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  <a:spcBef>
                <a:spcPct val="0"/>
              </a:spcBef>
            </a:pPr>
            <a:r>
              <a:rPr lang="en-US" sz="357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Apply Law of Excluded Middle → Always true.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05217" y="3746557"/>
            <a:ext cx="7173181" cy="2670659"/>
            <a:chOff x="0" y="0"/>
            <a:chExt cx="2238027" cy="8332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38027" cy="833244"/>
            </a:xfrm>
            <a:custGeom>
              <a:avLst/>
              <a:gdLst/>
              <a:ahLst/>
              <a:cxnLst/>
              <a:rect r="r" b="b" t="t" l="l"/>
              <a:pathLst>
                <a:path h="833244" w="2238027">
                  <a:moveTo>
                    <a:pt x="55044" y="0"/>
                  </a:moveTo>
                  <a:lnTo>
                    <a:pt x="2182984" y="0"/>
                  </a:lnTo>
                  <a:cubicBezTo>
                    <a:pt x="2213383" y="0"/>
                    <a:pt x="2238027" y="24644"/>
                    <a:pt x="2238027" y="55044"/>
                  </a:cubicBezTo>
                  <a:lnTo>
                    <a:pt x="2238027" y="778200"/>
                  </a:lnTo>
                  <a:cubicBezTo>
                    <a:pt x="2238027" y="808600"/>
                    <a:pt x="2213383" y="833244"/>
                    <a:pt x="2182984" y="833244"/>
                  </a:cubicBezTo>
                  <a:lnTo>
                    <a:pt x="55044" y="833244"/>
                  </a:lnTo>
                  <a:cubicBezTo>
                    <a:pt x="24644" y="833244"/>
                    <a:pt x="0" y="808600"/>
                    <a:pt x="0" y="778200"/>
                  </a:cubicBezTo>
                  <a:lnTo>
                    <a:pt x="0" y="55044"/>
                  </a:lnTo>
                  <a:cubicBezTo>
                    <a:pt x="0" y="24644"/>
                    <a:pt x="24644" y="0"/>
                    <a:pt x="55044" y="0"/>
                  </a:cubicBezTo>
                  <a:close/>
                </a:path>
              </a:pathLst>
            </a:custGeom>
            <a:solidFill>
              <a:srgbClr val="FFFFFF"/>
            </a:solidFill>
            <a:ln w="190500" cap="rnd">
              <a:solidFill>
                <a:srgbClr val="383E48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38027" cy="871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022855" y="4219137"/>
            <a:ext cx="2545920" cy="56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51"/>
              </a:lnSpc>
              <a:spcBef>
                <a:spcPct val="0"/>
              </a:spcBef>
            </a:pPr>
            <a:r>
              <a:rPr lang="en-US" b="true" sz="3322" strike="noStrike" u="none">
                <a:solidFill>
                  <a:srgbClr val="383E4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2: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52565" y="4996161"/>
            <a:ext cx="6014337" cy="1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  <a:spcBef>
                <a:spcPct val="0"/>
              </a:spcBef>
            </a:pPr>
            <a:r>
              <a:rPr lang="en-US" sz="357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Construct Truth Table → All rows show “T”.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082963" y="6724753"/>
            <a:ext cx="5834242" cy="2576034"/>
            <a:chOff x="0" y="0"/>
            <a:chExt cx="1820279" cy="80372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0279" cy="803721"/>
            </a:xfrm>
            <a:custGeom>
              <a:avLst/>
              <a:gdLst/>
              <a:ahLst/>
              <a:cxnLst/>
              <a:rect r="r" b="b" t="t" l="l"/>
              <a:pathLst>
                <a:path h="803721" w="1820279">
                  <a:moveTo>
                    <a:pt x="67676" y="0"/>
                  </a:moveTo>
                  <a:lnTo>
                    <a:pt x="1752603" y="0"/>
                  </a:lnTo>
                  <a:cubicBezTo>
                    <a:pt x="1770552" y="0"/>
                    <a:pt x="1787765" y="7130"/>
                    <a:pt x="1800457" y="19822"/>
                  </a:cubicBezTo>
                  <a:cubicBezTo>
                    <a:pt x="1813149" y="32514"/>
                    <a:pt x="1820279" y="49727"/>
                    <a:pt x="1820279" y="67676"/>
                  </a:cubicBezTo>
                  <a:lnTo>
                    <a:pt x="1820279" y="736045"/>
                  </a:lnTo>
                  <a:cubicBezTo>
                    <a:pt x="1820279" y="773421"/>
                    <a:pt x="1789980" y="803721"/>
                    <a:pt x="1752603" y="803721"/>
                  </a:cubicBezTo>
                  <a:lnTo>
                    <a:pt x="67676" y="803721"/>
                  </a:lnTo>
                  <a:cubicBezTo>
                    <a:pt x="30300" y="803721"/>
                    <a:pt x="0" y="773421"/>
                    <a:pt x="0" y="736045"/>
                  </a:cubicBezTo>
                  <a:lnTo>
                    <a:pt x="0" y="67676"/>
                  </a:lnTo>
                  <a:cubicBezTo>
                    <a:pt x="0" y="30300"/>
                    <a:pt x="30300" y="0"/>
                    <a:pt x="67676" y="0"/>
                  </a:cubicBezTo>
                  <a:close/>
                </a:path>
              </a:pathLst>
            </a:custGeom>
            <a:solidFill>
              <a:srgbClr val="FFFFFF"/>
            </a:solidFill>
            <a:ln w="190500" cap="rnd">
              <a:solidFill>
                <a:srgbClr val="383E48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820279" cy="841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684603" y="7098420"/>
            <a:ext cx="2630961" cy="56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1"/>
              </a:lnSpc>
              <a:spcBef>
                <a:spcPct val="0"/>
              </a:spcBef>
            </a:pPr>
            <a:r>
              <a:rPr lang="en-US" b="true" sz="3322">
                <a:solidFill>
                  <a:srgbClr val="383E4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3: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55762" y="7764968"/>
            <a:ext cx="5130092" cy="2522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sz="357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Conclude → It’s a Tautology.</a:t>
            </a:r>
          </a:p>
          <a:p>
            <a:pPr algn="ctr">
              <a:lnSpc>
                <a:spcPts val="5007"/>
              </a:lnSpc>
            </a:pPr>
          </a:p>
          <a:p>
            <a:pPr algn="ctr">
              <a:lnSpc>
                <a:spcPts val="5007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r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79942"/>
            <a:ext cx="11558623" cy="10549871"/>
          </a:xfrm>
          <a:custGeom>
            <a:avLst/>
            <a:gdLst/>
            <a:ahLst/>
            <a:cxnLst/>
            <a:rect r="r" b="b" t="t" l="l"/>
            <a:pathLst>
              <a:path h="10549871" w="11558623">
                <a:moveTo>
                  <a:pt x="0" y="0"/>
                </a:moveTo>
                <a:lnTo>
                  <a:pt x="11558623" y="0"/>
                </a:lnTo>
                <a:lnTo>
                  <a:pt x="11558623" y="10549871"/>
                </a:lnTo>
                <a:lnTo>
                  <a:pt x="0" y="105498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5865" y="7715250"/>
            <a:ext cx="13193259" cy="3086100"/>
            <a:chOff x="0" y="0"/>
            <a:chExt cx="3474768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74768" cy="812800"/>
            </a:xfrm>
            <a:custGeom>
              <a:avLst/>
              <a:gdLst/>
              <a:ahLst/>
              <a:cxnLst/>
              <a:rect r="r" b="b" t="t" l="l"/>
              <a:pathLst>
                <a:path h="812800" w="3474768">
                  <a:moveTo>
                    <a:pt x="0" y="0"/>
                  </a:moveTo>
                  <a:lnTo>
                    <a:pt x="3474768" y="0"/>
                  </a:lnTo>
                  <a:lnTo>
                    <a:pt x="34747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6E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74768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46902" y="2043291"/>
            <a:ext cx="19581804" cy="6725657"/>
            <a:chOff x="0" y="0"/>
            <a:chExt cx="5157348" cy="17713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57348" cy="1771366"/>
            </a:xfrm>
            <a:custGeom>
              <a:avLst/>
              <a:gdLst/>
              <a:ahLst/>
              <a:cxnLst/>
              <a:rect r="r" b="b" t="t" l="l"/>
              <a:pathLst>
                <a:path h="1771366" w="5157348">
                  <a:moveTo>
                    <a:pt x="0" y="0"/>
                  </a:moveTo>
                  <a:lnTo>
                    <a:pt x="5157348" y="0"/>
                  </a:lnTo>
                  <a:lnTo>
                    <a:pt x="5157348" y="1771366"/>
                  </a:lnTo>
                  <a:lnTo>
                    <a:pt x="0" y="1771366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383E4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157348" cy="1809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4434961" y="774943"/>
            <a:ext cx="2824339" cy="3779530"/>
          </a:xfrm>
          <a:custGeom>
            <a:avLst/>
            <a:gdLst/>
            <a:ahLst/>
            <a:cxnLst/>
            <a:rect r="r" b="b" t="t" l="l"/>
            <a:pathLst>
              <a:path h="3779530" w="2824339">
                <a:moveTo>
                  <a:pt x="2824339" y="0"/>
                </a:moveTo>
                <a:lnTo>
                  <a:pt x="0" y="0"/>
                </a:lnTo>
                <a:lnTo>
                  <a:pt x="0" y="3779529"/>
                </a:lnTo>
                <a:lnTo>
                  <a:pt x="2824339" y="3779529"/>
                </a:lnTo>
                <a:lnTo>
                  <a:pt x="28243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39298" y="994828"/>
            <a:ext cx="8577725" cy="78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Intro"/>
                <a:ea typeface="Intro"/>
                <a:cs typeface="Intro"/>
                <a:sym typeface="Intro"/>
              </a:rPr>
              <a:t>APPLICATIONS IN REAL LIFE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0903" y="4039116"/>
            <a:ext cx="13344058" cy="173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are the real life applications for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71756" y="4963684"/>
            <a:ext cx="9991938" cy="1021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sz="5914">
                <a:solidFill>
                  <a:srgbClr val="000000"/>
                </a:solidFill>
                <a:latin typeface="Intro"/>
                <a:ea typeface="Intro"/>
                <a:cs typeface="Intro"/>
                <a:sym typeface="Intro"/>
              </a:rPr>
              <a:t>EQUIVALENCE IDENTITY?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0">
            <a:off x="892054" y="7292919"/>
            <a:ext cx="3714145" cy="3160399"/>
          </a:xfrm>
          <a:custGeom>
            <a:avLst/>
            <a:gdLst/>
            <a:ahLst/>
            <a:cxnLst/>
            <a:rect r="r" b="b" t="t" l="l"/>
            <a:pathLst>
              <a:path h="3160399" w="3714145">
                <a:moveTo>
                  <a:pt x="3714145" y="0"/>
                </a:moveTo>
                <a:lnTo>
                  <a:pt x="0" y="0"/>
                </a:lnTo>
                <a:lnTo>
                  <a:pt x="0" y="3160400"/>
                </a:lnTo>
                <a:lnTo>
                  <a:pt x="3714145" y="3160400"/>
                </a:lnTo>
                <a:lnTo>
                  <a:pt x="371414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2707" y="7918657"/>
            <a:ext cx="3632840" cy="1339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6"/>
              </a:lnSpc>
            </a:pPr>
            <a:r>
              <a:rPr lang="en-US" sz="3883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COMPUTER SCIENCE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5078717" y="7292919"/>
            <a:ext cx="3714145" cy="3160399"/>
          </a:xfrm>
          <a:custGeom>
            <a:avLst/>
            <a:gdLst/>
            <a:ahLst/>
            <a:cxnLst/>
            <a:rect r="r" b="b" t="t" l="l"/>
            <a:pathLst>
              <a:path h="3160399" w="3714145">
                <a:moveTo>
                  <a:pt x="3714144" y="0"/>
                </a:moveTo>
                <a:lnTo>
                  <a:pt x="0" y="0"/>
                </a:lnTo>
                <a:lnTo>
                  <a:pt x="0" y="3160400"/>
                </a:lnTo>
                <a:lnTo>
                  <a:pt x="3714144" y="3160400"/>
                </a:lnTo>
                <a:lnTo>
                  <a:pt x="371414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259282" y="8279377"/>
            <a:ext cx="3353014" cy="57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0"/>
              </a:lnSpc>
            </a:pPr>
            <a:r>
              <a:rPr lang="en-US" sz="3386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MATHEMATICS</a:t>
            </a:r>
          </a:p>
        </p:txBody>
      </p:sp>
      <p:sp>
        <p:nvSpPr>
          <p:cNvPr name="Freeform 17" id="17"/>
          <p:cNvSpPr/>
          <p:nvPr/>
        </p:nvSpPr>
        <p:spPr>
          <a:xfrm flipH="true" flipV="false" rot="0">
            <a:off x="9265379" y="7292919"/>
            <a:ext cx="3714145" cy="3160399"/>
          </a:xfrm>
          <a:custGeom>
            <a:avLst/>
            <a:gdLst/>
            <a:ahLst/>
            <a:cxnLst/>
            <a:rect r="r" b="b" t="t" l="l"/>
            <a:pathLst>
              <a:path h="3160399" w="3714145">
                <a:moveTo>
                  <a:pt x="3714145" y="0"/>
                </a:moveTo>
                <a:lnTo>
                  <a:pt x="0" y="0"/>
                </a:lnTo>
                <a:lnTo>
                  <a:pt x="0" y="3160400"/>
                </a:lnTo>
                <a:lnTo>
                  <a:pt x="3714145" y="3160400"/>
                </a:lnTo>
                <a:lnTo>
                  <a:pt x="371414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719688" y="7918657"/>
            <a:ext cx="2805527" cy="1339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6"/>
              </a:lnSpc>
            </a:pPr>
            <a:r>
              <a:rPr lang="en-US" sz="3883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CRITICAL THINKING</a:t>
            </a:r>
          </a:p>
        </p:txBody>
      </p:sp>
      <p:sp>
        <p:nvSpPr>
          <p:cNvPr name="Freeform 19" id="19"/>
          <p:cNvSpPr/>
          <p:nvPr/>
        </p:nvSpPr>
        <p:spPr>
          <a:xfrm flipH="true" flipV="false" rot="0">
            <a:off x="13452042" y="7292919"/>
            <a:ext cx="3714145" cy="3160399"/>
          </a:xfrm>
          <a:custGeom>
            <a:avLst/>
            <a:gdLst/>
            <a:ahLst/>
            <a:cxnLst/>
            <a:rect r="r" b="b" t="t" l="l"/>
            <a:pathLst>
              <a:path h="3160399" w="3714145">
                <a:moveTo>
                  <a:pt x="3714144" y="0"/>
                </a:moveTo>
                <a:lnTo>
                  <a:pt x="0" y="0"/>
                </a:lnTo>
                <a:lnTo>
                  <a:pt x="0" y="3160400"/>
                </a:lnTo>
                <a:lnTo>
                  <a:pt x="3714144" y="3160400"/>
                </a:lnTo>
                <a:lnTo>
                  <a:pt x="371414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636749" y="7899925"/>
            <a:ext cx="3396255" cy="1171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383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&amp; PROGRAMMING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5865" y="7200900"/>
            <a:ext cx="13193259" cy="3086100"/>
            <a:chOff x="0" y="0"/>
            <a:chExt cx="347476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4768" cy="812800"/>
            </a:xfrm>
            <a:custGeom>
              <a:avLst/>
              <a:gdLst/>
              <a:ahLst/>
              <a:cxnLst/>
              <a:rect r="r" b="b" t="t" l="l"/>
              <a:pathLst>
                <a:path h="812800" w="3474768">
                  <a:moveTo>
                    <a:pt x="0" y="0"/>
                  </a:moveTo>
                  <a:lnTo>
                    <a:pt x="3474768" y="0"/>
                  </a:lnTo>
                  <a:lnTo>
                    <a:pt x="34747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6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74768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46902" y="2018293"/>
            <a:ext cx="19581804" cy="6627803"/>
            <a:chOff x="0" y="0"/>
            <a:chExt cx="5157348" cy="17455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57348" cy="1745594"/>
            </a:xfrm>
            <a:custGeom>
              <a:avLst/>
              <a:gdLst/>
              <a:ahLst/>
              <a:cxnLst/>
              <a:rect r="r" b="b" t="t" l="l"/>
              <a:pathLst>
                <a:path h="1745594" w="5157348">
                  <a:moveTo>
                    <a:pt x="0" y="0"/>
                  </a:moveTo>
                  <a:lnTo>
                    <a:pt x="5157348" y="0"/>
                  </a:lnTo>
                  <a:lnTo>
                    <a:pt x="5157348" y="1745594"/>
                  </a:lnTo>
                  <a:lnTo>
                    <a:pt x="0" y="1745594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383E4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157348" cy="1783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378833" y="6273912"/>
            <a:ext cx="1538109" cy="1913936"/>
          </a:xfrm>
          <a:custGeom>
            <a:avLst/>
            <a:gdLst/>
            <a:ahLst/>
            <a:cxnLst/>
            <a:rect r="r" b="b" t="t" l="l"/>
            <a:pathLst>
              <a:path h="1913936" w="1538109">
                <a:moveTo>
                  <a:pt x="0" y="0"/>
                </a:moveTo>
                <a:lnTo>
                  <a:pt x="1538108" y="0"/>
                </a:lnTo>
                <a:lnTo>
                  <a:pt x="1538108" y="1913936"/>
                </a:lnTo>
                <a:lnTo>
                  <a:pt x="0" y="1913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4244569">
            <a:off x="13326130" y="6135945"/>
            <a:ext cx="1490398" cy="2118137"/>
          </a:xfrm>
          <a:custGeom>
            <a:avLst/>
            <a:gdLst/>
            <a:ahLst/>
            <a:cxnLst/>
            <a:rect r="r" b="b" t="t" l="l"/>
            <a:pathLst>
              <a:path h="2118137" w="1490398">
                <a:moveTo>
                  <a:pt x="0" y="0"/>
                </a:moveTo>
                <a:lnTo>
                  <a:pt x="1490399" y="0"/>
                </a:lnTo>
                <a:lnTo>
                  <a:pt x="1490399" y="2118138"/>
                </a:lnTo>
                <a:lnTo>
                  <a:pt x="0" y="21181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213796" y="6273912"/>
            <a:ext cx="1398913" cy="1913936"/>
          </a:xfrm>
          <a:custGeom>
            <a:avLst/>
            <a:gdLst/>
            <a:ahLst/>
            <a:cxnLst/>
            <a:rect r="r" b="b" t="t" l="l"/>
            <a:pathLst>
              <a:path h="1913936" w="1398913">
                <a:moveTo>
                  <a:pt x="0" y="0"/>
                </a:moveTo>
                <a:lnTo>
                  <a:pt x="1398913" y="0"/>
                </a:lnTo>
                <a:lnTo>
                  <a:pt x="1398913" y="1913936"/>
                </a:lnTo>
                <a:lnTo>
                  <a:pt x="0" y="1913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88934" y="6202180"/>
            <a:ext cx="1411629" cy="1985668"/>
          </a:xfrm>
          <a:custGeom>
            <a:avLst/>
            <a:gdLst/>
            <a:ahLst/>
            <a:cxnLst/>
            <a:rect r="r" b="b" t="t" l="l"/>
            <a:pathLst>
              <a:path h="1985668" w="1411629">
                <a:moveTo>
                  <a:pt x="0" y="0"/>
                </a:moveTo>
                <a:lnTo>
                  <a:pt x="1411630" y="0"/>
                </a:lnTo>
                <a:lnTo>
                  <a:pt x="1411630" y="1985668"/>
                </a:lnTo>
                <a:lnTo>
                  <a:pt x="0" y="19856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45723" y="6202180"/>
            <a:ext cx="1256884" cy="2057400"/>
          </a:xfrm>
          <a:custGeom>
            <a:avLst/>
            <a:gdLst/>
            <a:ahLst/>
            <a:cxnLst/>
            <a:rect r="r" b="b" t="t" l="l"/>
            <a:pathLst>
              <a:path h="2057400" w="1256884">
                <a:moveTo>
                  <a:pt x="0" y="0"/>
                </a:moveTo>
                <a:lnTo>
                  <a:pt x="1256885" y="0"/>
                </a:lnTo>
                <a:lnTo>
                  <a:pt x="1256885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193166" y="6202180"/>
            <a:ext cx="744405" cy="2057400"/>
          </a:xfrm>
          <a:custGeom>
            <a:avLst/>
            <a:gdLst/>
            <a:ahLst/>
            <a:cxnLst/>
            <a:rect r="r" b="b" t="t" l="l"/>
            <a:pathLst>
              <a:path h="2057400" w="744405">
                <a:moveTo>
                  <a:pt x="0" y="0"/>
                </a:moveTo>
                <a:lnTo>
                  <a:pt x="744405" y="0"/>
                </a:lnTo>
                <a:lnTo>
                  <a:pt x="744405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8700" y="6202180"/>
            <a:ext cx="1537439" cy="2057400"/>
          </a:xfrm>
          <a:custGeom>
            <a:avLst/>
            <a:gdLst/>
            <a:ahLst/>
            <a:cxnLst/>
            <a:rect r="r" b="b" t="t" l="l"/>
            <a:pathLst>
              <a:path h="2057400" w="1537439">
                <a:moveTo>
                  <a:pt x="0" y="0"/>
                </a:moveTo>
                <a:lnTo>
                  <a:pt x="1537439" y="0"/>
                </a:lnTo>
                <a:lnTo>
                  <a:pt x="153743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871338" y="6142220"/>
            <a:ext cx="1996509" cy="1996509"/>
          </a:xfrm>
          <a:custGeom>
            <a:avLst/>
            <a:gdLst/>
            <a:ahLst/>
            <a:cxnLst/>
            <a:rect r="r" b="b" t="t" l="l"/>
            <a:pathLst>
              <a:path h="1996509" w="1996509">
                <a:moveTo>
                  <a:pt x="0" y="0"/>
                </a:moveTo>
                <a:lnTo>
                  <a:pt x="1996509" y="0"/>
                </a:lnTo>
                <a:lnTo>
                  <a:pt x="1996509" y="1996509"/>
                </a:lnTo>
                <a:lnTo>
                  <a:pt x="0" y="19965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646532" y="6238046"/>
            <a:ext cx="1684264" cy="1913936"/>
          </a:xfrm>
          <a:custGeom>
            <a:avLst/>
            <a:gdLst/>
            <a:ahLst/>
            <a:cxnLst/>
            <a:rect r="r" b="b" t="t" l="l"/>
            <a:pathLst>
              <a:path h="1913936" w="1684264">
                <a:moveTo>
                  <a:pt x="0" y="0"/>
                </a:moveTo>
                <a:lnTo>
                  <a:pt x="1684263" y="0"/>
                </a:lnTo>
                <a:lnTo>
                  <a:pt x="1684263" y="1913936"/>
                </a:lnTo>
                <a:lnTo>
                  <a:pt x="0" y="191393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400420" y="6273912"/>
            <a:ext cx="969887" cy="1865166"/>
          </a:xfrm>
          <a:custGeom>
            <a:avLst/>
            <a:gdLst/>
            <a:ahLst/>
            <a:cxnLst/>
            <a:rect r="r" b="b" t="t" l="l"/>
            <a:pathLst>
              <a:path h="1865166" w="969887">
                <a:moveTo>
                  <a:pt x="0" y="0"/>
                </a:moveTo>
                <a:lnTo>
                  <a:pt x="969887" y="0"/>
                </a:lnTo>
                <a:lnTo>
                  <a:pt x="969887" y="1865166"/>
                </a:lnTo>
                <a:lnTo>
                  <a:pt x="0" y="186516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987257" y="2159112"/>
            <a:ext cx="5250905" cy="4114800"/>
          </a:xfrm>
          <a:custGeom>
            <a:avLst/>
            <a:gdLst/>
            <a:ahLst/>
            <a:cxnLst/>
            <a:rect r="r" b="b" t="t" l="l"/>
            <a:pathLst>
              <a:path h="4114800" w="5250905">
                <a:moveTo>
                  <a:pt x="0" y="0"/>
                </a:moveTo>
                <a:lnTo>
                  <a:pt x="5250905" y="0"/>
                </a:lnTo>
                <a:lnTo>
                  <a:pt x="52509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DAGwbCqy2zU</dc:identifier>
  <dcterms:modified xsi:type="dcterms:W3CDTF">2011-08-01T06:04:30Z</dcterms:modified>
  <cp:revision>1</cp:revision>
  <dc:title>Discrete Mathematics</dc:title>
</cp:coreProperties>
</file>